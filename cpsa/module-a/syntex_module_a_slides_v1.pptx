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c2ca0af4-4969-54d2-8017-5908e9076723}">
          <p14:sldIdLst>
            <p14:sldId id="256"/>
            <p14:sldId id="257"/>
            <p14:sldId id="258"/>
          </p14:sldIdLst>
        </p14:section>
        <p14:section name="A1 - PT Lifecycle" id="{69a6fe39-9abe-8062-d141-1077d10e3081}">
          <p14:sldIdLst>
            <p14:sldId id="259"/>
            <p14:sldId id="260"/>
            <p14:sldId id="261"/>
          </p14:sldIdLst>
        </p14:section>
        <p14:section name="A2 - Engagement Packs" id="{d52bf48a-87a0-c70d-dced-238c0ec1a18d}">
          <p14:sldIdLst>
            <p14:sldId id="262"/>
            <p14:sldId id="263"/>
            <p14:sldId id="264"/>
          </p14:sldIdLst>
        </p14:section>
        <p14:section name="A3 - Report Writing" id="{dceb9a5a-d628-f372-28f0-f506c12073a5}">
          <p14:sldIdLst>
            <p14:sldId id="265"/>
            <p14:sldId id="266"/>
            <p14:sldId id="267"/>
            <p14:sldId id="268"/>
          </p14:sldIdLst>
        </p14:section>
        <p14:section name="A4 - CVSS Scoring" id="{e7835998-a9a1-c1e7-6370-69176e4af134}">
          <p14:sldIdLst>
            <p14:sldId id="269"/>
            <p14:sldId id="270"/>
            <p14:sldId id="271"/>
            <p14:sldId id="272"/>
          </p14:sldIdLst>
        </p14:section>
        <p14:section name="A5 - Compliance Mapping" id="{e5f93f9c-eea7-2a5b-51a1-eee12e27e6e8}">
          <p14:sldIdLst>
            <p14:sldId id="273"/>
            <p14:sldId id="274"/>
            <p14:sldId id="275"/>
          </p14:sldIdLst>
        </p14:section>
        <p14:section name="Summary" id="{e9dbc3dd-5145-f3aa-6ea0-223bad47e7fb}">
          <p14:sldIdLst>
            <p14:sldId id="276"/>
            <p14:sldId id="277"/>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Module A: Soft Skills. This module covers the professional and analytical skills that underpin all effective penetration testing engagements. All scenarios and examples throughout this module are drawn from the fictional Syntex Solutions Ltd assessment that you have been working with in the labs.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module maps directly to Objective Area A of the CREST CPSA syllabus. The five labs align with these five competency areas - by the end of the module you should be comfortable applying each in a professional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Throughout this module all examples, documents and lab exercises use the Syntex Solutions Ltd scenario. This is a realistic fintech company built specifically for the course. You have already received the engagement pack documents and your lab machines are SYNTEX-DC01 and SYNTEX-LNX01.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penetration testing lifecycle provides a structured approach that ensures nothing is missed and all activity is legally authorised. Note that each phase feeds directly into the next - evidence gathered during reconnaissance informs exploitation; exploitation evidence populates the report. For the Syntex engagement, the engagement pack was provided before any technical work began.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Computer Misuse Act 1990 (CMA) makes unauthorised access to computer systems a criminal offence. The Permission to Test Letter is not just a formality - it is your legal protection. In the Syntex scenario the letter is signed before testing begins and explicitly covers the IP ranges in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engagement pack is the foundation of every professional penetration test. Without these documents you cannot legally or professionally proceed. The Permission to Test Letter is the single most important document - it must be signed before any scanning or testing begins.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A1 asks you to read the Syntex engagement pack and answer questions about scope, rules of engagement and legal authorisation. The key skills here are identifying what IS and IS NOT in scope, and recognising the regulatory drivers that make this assessment necessary.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professional pentest report must serve two audiences: executives who need to understand business risk, and technical staff who need to understand and remediate findings. The structure separates these - the executive summary and risk table for leadership, the technical findings section for the IT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real finding from the Syntex model answer report. Notice how every element is present: a unique ID, severity, CVSS score and vector, plain-language description, command output as evidence, and a specific actionable remediation. The model report you have access to contains 18 findings in this format.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common report writing failure is pitching the whole document at one audience. The executive summary should be readable by a non-technical CEO; the technical findings section needs enough detail for a systems administrator to reproduce and fix each issue. The Syntex model report demonstrates this split - read both sections and notice how the language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CVSS v3.1 is the industry standard for scoring vulnerability severity. The score is calculated from these 8 base metrics. The important thing to remember is that Scope (S) affects how Privileges Required is weighted - when Scope is Changed, a Low privilege requirement gets a higher weight than when Scope is Unchanged.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Scope Changed is the trickiest metric. The key question is: does the vulnerability allow an attacker to impact systems or components beyond the one being exploited? Kerberoasting is S:C because cracking AD service account hashes allows privilege escalation across the entire domain - the impact extends far beyond the system where the attack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six scenarios from the CVSS worksheet lab. Note how the Attack Vector changes the score significantly: F-03 with AV:L (Local) scores 7.8 despite C:H/I:H/A:H because the attacker must first have local access. Compare with F-01 and F-04 which score 9.8 because they are network-exploitable with no authentication.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Syntex engagement, findings must be mapped against all four of these frameworks. PCI DSS is the primary driver since Syntex processes card payments. UK GDPR applies because they hold customer personal data. FCA SYSC because they are a regulated financial firm. CMA 1990 provides the legal basis for the test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mapping table shows how each finding links to specific regulatory requirements. In the full Syntex model report this mapping covers all 18 findings. The key insight is that a single critical finding can create obligations under multiple frameworks simultaneously - for example Apache Struts RCE triggers PCI DSS Requirement 6.3 (patch management), UK GDPR Article 32 (security measures) and Article 33 (breach notification), and FCA SYSC 8 (third-party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summarises what a real Syntex executive summary would present. The headline is three Critical findings that need immediate remediation before the next PCI DSS assessment cycle. The CISO brief: card data is at risk of unauthorised access and the domain is fully compromised through Kerberoasting.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five topic areas tested in the Module A assessment. Make sure you can explain each one in context - the CPSA exam will test your practical application through scenario-based questions similar to the Syntex engagement.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four labs use the Syntex Solutions scenario. They build on each other - complete Lab A1 (engagement pack review) before Lab A3 (student report), since understanding the scope document is essential before writing a report. Lab A4 CVSS scoring can be done independently at any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A provides the professional foundation for everything that follows. The technical skills in Module B onwards are only valuable if you can document them properly, operate within legal boundaries, and communicate risk to stakeholders. Good luck with the labs.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A2744"/>
          </a:solidFill>
          <a:ln w="12700">
            <a:solidFill>
              <a:srgbClr val="1A2744"/>
            </a:solidFill>
            <a:prstDash val="solid"/>
          </a:ln>
        </p:spPr>
      </p:sp>
      <p:sp>
        <p:nvSpPr>
          <p:cNvPr id="3" name="Shape 1"/>
          <p:cNvSpPr/>
          <p:nvPr/>
        </p:nvSpPr>
        <p:spPr>
          <a:xfrm>
            <a:off x="0" y="0"/>
            <a:ext cx="228600" cy="5143500"/>
          </a:xfrm>
          <a:prstGeom prst="rect">
            <a:avLst/>
          </a:prstGeom>
          <a:solidFill>
            <a:srgbClr val="00B4C8"/>
          </a:solidFill>
          <a:ln w="12700">
            <a:solidFill>
              <a:srgbClr val="00B4C8"/>
            </a:solidFill>
            <a:prstDash val="solid"/>
          </a:ln>
        </p:spPr>
      </p:sp>
      <p:sp>
        <p:nvSpPr>
          <p:cNvPr id="4" name="Text 2"/>
          <p:cNvSpPr txBox="1"/>
          <p:nvPr/>
        </p:nvSpPr>
        <p:spPr>
          <a:xfrm>
            <a:off x="548640" y="411480"/>
            <a:ext cx="8229600" cy="320040"/>
          </a:xfrm>
          <a:prstGeom prst="rect">
            <a:avLst/>
          </a:prstGeom>
          <a:noFill/>
          <a:ln/>
        </p:spPr>
        <p:txBody>
          <a:bodyPr wrap="square" lIns="0" tIns="0" rIns="0" bIns="0" rtlCol="0" anchor="ctr"/>
          <a:lstStyle/>
          <a:p>
            <a:pPr algn="l" indent="0" marL="0">
              <a:buNone/>
            </a:pPr>
            <a:r>
              <a:rPr lang="en-US" sz="1300" b="1" spc="300" kern="0" dirty="0">
                <a:solidFill>
                  <a:srgbClr val="00B4C8"/>
                </a:solidFill>
              </a:rPr>
              <a:t>MY CYBER ACADEMY</a:t>
            </a:r>
            <a:endParaRPr lang="en-US" sz="1300" dirty="0"/>
          </a:p>
        </p:txBody>
      </p:sp>
      <p:sp>
        <p:nvSpPr>
          <p:cNvPr id="5" name="Text 3"/>
          <p:cNvSpPr txBox="1"/>
          <p:nvPr/>
        </p:nvSpPr>
        <p:spPr>
          <a:xfrm>
            <a:off x="548640" y="777240"/>
            <a:ext cx="8229600" cy="274320"/>
          </a:xfrm>
          <a:prstGeom prst="rect">
            <a:avLst/>
          </a:prstGeom>
          <a:noFill/>
          <a:ln/>
        </p:spPr>
        <p:txBody>
          <a:bodyPr wrap="square" lIns="0" tIns="0" rIns="0" bIns="0" rtlCol="0" anchor="ctr"/>
          <a:lstStyle/>
          <a:p>
            <a:pPr algn="l" indent="0" marL="0">
              <a:buNone/>
            </a:pPr>
            <a:r>
              <a:rPr lang="en-US" sz="1300" dirty="0">
                <a:solidFill>
                  <a:srgbClr val="5A7FAA"/>
                </a:solidFill>
              </a:rPr>
              <a:t>CREST CPSA - Resolution</a:t>
            </a:r>
            <a:endParaRPr lang="en-US" sz="1300" dirty="0"/>
          </a:p>
        </p:txBody>
      </p:sp>
      <p:sp>
        <p:nvSpPr>
          <p:cNvPr id="6" name="Text 4"/>
          <p:cNvSpPr txBox="1"/>
          <p:nvPr/>
        </p:nvSpPr>
        <p:spPr>
          <a:xfrm>
            <a:off x="548640" y="1371600"/>
            <a:ext cx="8229600" cy="822960"/>
          </a:xfrm>
          <a:prstGeom prst="rect">
            <a:avLst/>
          </a:prstGeom>
          <a:noFill/>
          <a:ln/>
        </p:spPr>
        <p:txBody>
          <a:bodyPr wrap="square" lIns="0" tIns="0" rIns="0" bIns="0" rtlCol="0" anchor="ctr"/>
          <a:lstStyle/>
          <a:p>
            <a:pPr algn="l" indent="0" marL="0">
              <a:buNone/>
            </a:pPr>
            <a:r>
              <a:rPr lang="en-US" sz="5200" b="1" dirty="0">
                <a:solidFill>
                  <a:srgbClr val="FFFFFF"/>
                </a:solidFill>
              </a:rPr>
              <a:t>Module A</a:t>
            </a:r>
            <a:endParaRPr lang="en-US" sz="5200" dirty="0"/>
          </a:p>
        </p:txBody>
      </p:sp>
      <p:sp>
        <p:nvSpPr>
          <p:cNvPr id="7" name="Text 5"/>
          <p:cNvSpPr txBox="1"/>
          <p:nvPr/>
        </p:nvSpPr>
        <p:spPr>
          <a:xfrm>
            <a:off x="548640" y="2148840"/>
            <a:ext cx="8229600" cy="640080"/>
          </a:xfrm>
          <a:prstGeom prst="rect">
            <a:avLst/>
          </a:prstGeom>
          <a:noFill/>
          <a:ln/>
        </p:spPr>
        <p:txBody>
          <a:bodyPr wrap="square" lIns="0" tIns="0" rIns="0" bIns="0" rtlCol="0" anchor="ctr"/>
          <a:lstStyle/>
          <a:p>
            <a:pPr algn="l" indent="0" marL="0">
              <a:buNone/>
            </a:pPr>
            <a:r>
              <a:rPr lang="en-US" sz="3600" dirty="0">
                <a:solidFill>
                  <a:srgbClr val="00B4C8"/>
                </a:solidFill>
              </a:rPr>
              <a:t>Soft Skills</a:t>
            </a:r>
            <a:endParaRPr lang="en-US" sz="3600" dirty="0"/>
          </a:p>
        </p:txBody>
      </p:sp>
      <p:sp>
        <p:nvSpPr>
          <p:cNvPr id="8" name="Text 6"/>
          <p:cNvSpPr txBox="1"/>
          <p:nvPr/>
        </p:nvSpPr>
        <p:spPr>
          <a:xfrm>
            <a:off x="548640" y="2834640"/>
            <a:ext cx="7772400" cy="731520"/>
          </a:xfrm>
          <a:prstGeom prst="rect">
            <a:avLst/>
          </a:prstGeom>
          <a:noFill/>
          <a:ln/>
        </p:spPr>
        <p:txBody>
          <a:bodyPr wrap="square" lIns="0" tIns="0" rIns="0" bIns="0" rtlCol="0" anchor="ctr"/>
          <a:lstStyle/>
          <a:p>
            <a:pPr algn="l" indent="0" marL="0">
              <a:buNone/>
            </a:pPr>
            <a:r>
              <a:rPr lang="en-US" sz="1400" dirty="0">
                <a:solidFill>
                  <a:srgbClr val="A0BAD4"/>
                </a:solidFill>
              </a:rPr>
              <a:t>Penetration Testing Lifecycle, Engagement Management,</a:t>
            </a:r>
            <a:endParaRPr lang="en-US" sz="1400" dirty="0"/>
          </a:p>
          <a:p>
            <a:pPr algn="l" indent="0" marL="0">
              <a:buNone/>
            </a:pPr>
            <a:r>
              <a:rPr lang="en-US" sz="1400" dirty="0">
                <a:solidFill>
                  <a:srgbClr val="A0BAD4"/>
                </a:solidFill>
              </a:rPr>
              <a:t>Report Writing, CVSS Scoring &amp; Compliance</a:t>
            </a:r>
            <a:endParaRPr lang="en-US" sz="1400" dirty="0"/>
          </a:p>
        </p:txBody>
      </p:sp>
      <p:sp>
        <p:nvSpPr>
          <p:cNvPr id="9" name="Shape 7"/>
          <p:cNvSpPr/>
          <p:nvPr/>
        </p:nvSpPr>
        <p:spPr>
          <a:xfrm>
            <a:off x="548640" y="3703320"/>
            <a:ext cx="4389120" cy="457200"/>
          </a:xfrm>
          <a:prstGeom prst="rect">
            <a:avLst/>
          </a:prstGeom>
          <a:solidFill>
            <a:srgbClr val="0D3B5E"/>
          </a:solidFill>
          <a:ln w="12700">
            <a:solidFill>
              <a:srgbClr val="00B4C8"/>
            </a:solidFill>
            <a:prstDash val="solid"/>
          </a:ln>
        </p:spPr>
      </p:sp>
      <p:sp>
        <p:nvSpPr>
          <p:cNvPr id="10" name="Text 8"/>
          <p:cNvSpPr txBox="1"/>
          <p:nvPr/>
        </p:nvSpPr>
        <p:spPr>
          <a:xfrm>
            <a:off x="548640" y="3703320"/>
            <a:ext cx="4389120" cy="457200"/>
          </a:xfrm>
          <a:prstGeom prst="rect">
            <a:avLst/>
          </a:prstGeom>
          <a:noFill/>
          <a:ln/>
        </p:spPr>
        <p:txBody>
          <a:bodyPr wrap="square" lIns="0" tIns="0" rIns="0" bIns="0" rtlCol="0" anchor="ctr"/>
          <a:lstStyle/>
          <a:p>
            <a:pPr algn="ctr" indent="0" marL="0">
              <a:buNone/>
            </a:pPr>
            <a:r>
              <a:rPr lang="en-US" sz="1100" dirty="0">
                <a:solidFill>
                  <a:srgbClr val="00B4C8"/>
                </a:solidFill>
              </a:rPr>
              <a:t>Scenario: Syntex Solutions Ltd  |  Grey Box Assessment</a:t>
            </a:r>
            <a:endParaRPr lang="en-US" sz="1100" dirty="0"/>
          </a:p>
        </p:txBody>
      </p:sp>
      <p:sp>
        <p:nvSpPr>
          <p:cNvPr id="11" name="Text 9"/>
          <p:cNvSpPr txBox="1"/>
          <p:nvPr/>
        </p:nvSpPr>
        <p:spPr>
          <a:xfrm>
            <a:off x="0" y="4892040"/>
            <a:ext cx="9144000" cy="256032"/>
          </a:xfrm>
          <a:prstGeom prst="rect">
            <a:avLst/>
          </a:prstGeom>
          <a:noFill/>
          <a:ln/>
        </p:spPr>
        <p:txBody>
          <a:bodyPr wrap="square" lIns="0" tIns="0" rIns="0" bIns="0" rtlCol="0" anchor="ctr"/>
          <a:lstStyle/>
          <a:p>
            <a:pPr algn="ctr" indent="0" marL="0">
              <a:buNone/>
            </a:pPr>
            <a:r>
              <a:rPr lang="en-US" sz="900" dirty="0">
                <a:solidFill>
                  <a:srgbClr val="5A7FAA"/>
                </a:solidFill>
              </a:rPr>
              <a:t>My Cyber Academy | MCA CREST CPSA - Module A: Soft Skills</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A2744"/>
          </a:solidFill>
          <a:ln w="12700">
            <a:solidFill>
              <a:srgbClr val="1A2744"/>
            </a:solidFill>
            <a:prstDash val="solid"/>
          </a:ln>
        </p:spPr>
      </p:sp>
      <p:sp>
        <p:nvSpPr>
          <p:cNvPr id="3" name="Shape 1"/>
          <p:cNvSpPr/>
          <p:nvPr/>
        </p:nvSpPr>
        <p:spPr>
          <a:xfrm>
            <a:off x="0" y="0"/>
            <a:ext cx="228600" cy="5143500"/>
          </a:xfrm>
          <a:prstGeom prst="rect">
            <a:avLst/>
          </a:prstGeom>
          <a:solidFill>
            <a:srgbClr val="00B4C8"/>
          </a:solidFill>
          <a:ln w="12700">
            <a:solidFill>
              <a:srgbClr val="00B4C8"/>
            </a:solidFill>
            <a:prstDash val="solid"/>
          </a:ln>
        </p:spPr>
      </p:sp>
      <p:sp>
        <p:nvSpPr>
          <p:cNvPr id="4" name="Text 2"/>
          <p:cNvSpPr txBox="1"/>
          <p:nvPr/>
        </p:nvSpPr>
        <p:spPr>
          <a:xfrm>
            <a:off x="548640" y="320040"/>
            <a:ext cx="8229600" cy="548640"/>
          </a:xfrm>
          <a:prstGeom prst="rect">
            <a:avLst/>
          </a:prstGeom>
          <a:noFill/>
          <a:ln/>
        </p:spPr>
        <p:txBody>
          <a:bodyPr wrap="square" lIns="0" tIns="0" rIns="0" bIns="0" rtlCol="0" anchor="ctr"/>
          <a:lstStyle/>
          <a:p>
            <a:pPr algn="l" indent="0" marL="0">
              <a:buNone/>
            </a:pPr>
            <a:r>
              <a:rPr lang="en-US" sz="2800" b="1" dirty="0">
                <a:solidFill>
                  <a:srgbClr val="FFFFFF"/>
                </a:solidFill>
              </a:rPr>
              <a:t>Module A - What You Will Learn</a:t>
            </a:r>
            <a:endParaRPr lang="en-US" sz="2800" dirty="0"/>
          </a:p>
        </p:txBody>
      </p:sp>
      <p:sp>
        <p:nvSpPr>
          <p:cNvPr id="5" name="Shape 3"/>
          <p:cNvSpPr/>
          <p:nvPr/>
        </p:nvSpPr>
        <p:spPr>
          <a:xfrm>
            <a:off x="548640" y="1051560"/>
            <a:ext cx="1572768" cy="3474720"/>
          </a:xfrm>
          <a:prstGeom prst="rect">
            <a:avLst/>
          </a:prstGeom>
          <a:solidFill>
            <a:srgbClr val="0D3B5E"/>
          </a:solidFill>
          <a:ln w="12700">
            <a:solidFill>
              <a:srgbClr val="00B4C8"/>
            </a:solidFill>
            <a:prstDash val="solid"/>
          </a:ln>
        </p:spPr>
      </p:sp>
      <p:sp>
        <p:nvSpPr>
          <p:cNvPr id="6" name="Shape 4"/>
          <p:cNvSpPr/>
          <p:nvPr/>
        </p:nvSpPr>
        <p:spPr>
          <a:xfrm>
            <a:off x="548640" y="1051560"/>
            <a:ext cx="1572768" cy="502920"/>
          </a:xfrm>
          <a:prstGeom prst="rect">
            <a:avLst/>
          </a:prstGeom>
          <a:solidFill>
            <a:srgbClr val="00B4C8"/>
          </a:solidFill>
          <a:ln w="12700">
            <a:solidFill>
              <a:srgbClr val="00B4C8"/>
            </a:solidFill>
            <a:prstDash val="solid"/>
          </a:ln>
        </p:spPr>
      </p:sp>
      <p:sp>
        <p:nvSpPr>
          <p:cNvPr id="7" name="Text 5"/>
          <p:cNvSpPr txBox="1"/>
          <p:nvPr/>
        </p:nvSpPr>
        <p:spPr>
          <a:xfrm>
            <a:off x="548640" y="1051560"/>
            <a:ext cx="1572768" cy="502920"/>
          </a:xfrm>
          <a:prstGeom prst="rect">
            <a:avLst/>
          </a:prstGeom>
          <a:noFill/>
          <a:ln/>
        </p:spPr>
        <p:txBody>
          <a:bodyPr wrap="square" lIns="0" tIns="0" rIns="0" bIns="0" rtlCol="0" anchor="ctr"/>
          <a:lstStyle/>
          <a:p>
            <a:pPr algn="ctr" indent="0" marL="0">
              <a:buNone/>
            </a:pPr>
            <a:r>
              <a:rPr lang="en-US" sz="1800" b="1" dirty="0">
                <a:solidFill>
                  <a:srgbClr val="FFFFFF"/>
                </a:solidFill>
              </a:rPr>
              <a:t>A1</a:t>
            </a:r>
            <a:endParaRPr lang="en-US" sz="1800" dirty="0"/>
          </a:p>
        </p:txBody>
      </p:sp>
      <p:sp>
        <p:nvSpPr>
          <p:cNvPr id="8" name="Text 6"/>
          <p:cNvSpPr txBox="1"/>
          <p:nvPr/>
        </p:nvSpPr>
        <p:spPr>
          <a:xfrm>
            <a:off x="548640" y="1600200"/>
            <a:ext cx="1572768" cy="457200"/>
          </a:xfrm>
          <a:prstGeom prst="rect">
            <a:avLst/>
          </a:prstGeom>
          <a:noFill/>
          <a:ln/>
        </p:spPr>
        <p:txBody>
          <a:bodyPr wrap="square" lIns="50800" tIns="50800" rIns="50800" bIns="50800" rtlCol="0" anchor="ctr"/>
          <a:lstStyle/>
          <a:p>
            <a:pPr algn="ctr" indent="0" marL="0">
              <a:buNone/>
            </a:pPr>
            <a:r>
              <a:rPr lang="en-US" sz="1200" b="1" dirty="0">
                <a:solidFill>
                  <a:srgbClr val="00B4C8"/>
                </a:solidFill>
              </a:rPr>
              <a:t>PT Lifecycle</a:t>
            </a:r>
            <a:endParaRPr lang="en-US" sz="1200" dirty="0"/>
          </a:p>
        </p:txBody>
      </p:sp>
      <p:sp>
        <p:nvSpPr>
          <p:cNvPr id="9" name="Text 7"/>
          <p:cNvSpPr txBox="1"/>
          <p:nvPr/>
        </p:nvSpPr>
        <p:spPr>
          <a:xfrm>
            <a:off x="548640" y="2103120"/>
            <a:ext cx="1572768" cy="2286000"/>
          </a:xfrm>
          <a:prstGeom prst="rect">
            <a:avLst/>
          </a:prstGeom>
          <a:noFill/>
          <a:ln/>
        </p:spPr>
        <p:txBody>
          <a:bodyPr wrap="square" lIns="76200" tIns="76200" rIns="76200" bIns="76200" rtlCol="0" anchor="t"/>
          <a:lstStyle/>
          <a:p>
            <a:pPr algn="ctr" indent="0" marL="0">
              <a:buNone/>
            </a:pPr>
            <a:r>
              <a:rPr lang="en-US" sz="1000" dirty="0">
                <a:solidFill>
                  <a:srgbClr val="A0BAD4"/>
                </a:solidFill>
              </a:rPr>
              <a:t>Understand the end-to-end phases of a professional engagement from scoping to closure</a:t>
            </a:r>
            <a:endParaRPr lang="en-US" sz="1000" dirty="0"/>
          </a:p>
        </p:txBody>
      </p:sp>
      <p:sp>
        <p:nvSpPr>
          <p:cNvPr id="10" name="Shape 8"/>
          <p:cNvSpPr/>
          <p:nvPr/>
        </p:nvSpPr>
        <p:spPr>
          <a:xfrm>
            <a:off x="2267712" y="1051560"/>
            <a:ext cx="1572768" cy="3474720"/>
          </a:xfrm>
          <a:prstGeom prst="rect">
            <a:avLst/>
          </a:prstGeom>
          <a:solidFill>
            <a:srgbClr val="0D3B5E"/>
          </a:solidFill>
          <a:ln w="12700">
            <a:solidFill>
              <a:srgbClr val="00B4C8"/>
            </a:solidFill>
            <a:prstDash val="solid"/>
          </a:ln>
        </p:spPr>
      </p:sp>
      <p:sp>
        <p:nvSpPr>
          <p:cNvPr id="11" name="Shape 9"/>
          <p:cNvSpPr/>
          <p:nvPr/>
        </p:nvSpPr>
        <p:spPr>
          <a:xfrm>
            <a:off x="2267712" y="1051560"/>
            <a:ext cx="1572768" cy="502920"/>
          </a:xfrm>
          <a:prstGeom prst="rect">
            <a:avLst/>
          </a:prstGeom>
          <a:solidFill>
            <a:srgbClr val="00B4C8"/>
          </a:solidFill>
          <a:ln w="12700">
            <a:solidFill>
              <a:srgbClr val="00B4C8"/>
            </a:solidFill>
            <a:prstDash val="solid"/>
          </a:ln>
        </p:spPr>
      </p:sp>
      <p:sp>
        <p:nvSpPr>
          <p:cNvPr id="12" name="Text 10"/>
          <p:cNvSpPr txBox="1"/>
          <p:nvPr/>
        </p:nvSpPr>
        <p:spPr>
          <a:xfrm>
            <a:off x="2267712" y="1051560"/>
            <a:ext cx="1572768" cy="502920"/>
          </a:xfrm>
          <a:prstGeom prst="rect">
            <a:avLst/>
          </a:prstGeom>
          <a:noFill/>
          <a:ln/>
        </p:spPr>
        <p:txBody>
          <a:bodyPr wrap="square" lIns="0" tIns="0" rIns="0" bIns="0" rtlCol="0" anchor="ctr"/>
          <a:lstStyle/>
          <a:p>
            <a:pPr algn="ctr" indent="0" marL="0">
              <a:buNone/>
            </a:pPr>
            <a:r>
              <a:rPr lang="en-US" sz="1800" b="1" dirty="0">
                <a:solidFill>
                  <a:srgbClr val="FFFFFF"/>
                </a:solidFill>
              </a:rPr>
              <a:t>A2</a:t>
            </a:r>
            <a:endParaRPr lang="en-US" sz="1800" dirty="0"/>
          </a:p>
        </p:txBody>
      </p:sp>
      <p:sp>
        <p:nvSpPr>
          <p:cNvPr id="13" name="Text 11"/>
          <p:cNvSpPr txBox="1"/>
          <p:nvPr/>
        </p:nvSpPr>
        <p:spPr>
          <a:xfrm>
            <a:off x="2267712" y="1600200"/>
            <a:ext cx="1572768" cy="457200"/>
          </a:xfrm>
          <a:prstGeom prst="rect">
            <a:avLst/>
          </a:prstGeom>
          <a:noFill/>
          <a:ln/>
        </p:spPr>
        <p:txBody>
          <a:bodyPr wrap="square" lIns="50800" tIns="50800" rIns="50800" bIns="50800" rtlCol="0" anchor="ctr"/>
          <a:lstStyle/>
          <a:p>
            <a:pPr algn="ctr" indent="0" marL="0">
              <a:buNone/>
            </a:pPr>
            <a:r>
              <a:rPr lang="en-US" sz="1200" b="1" dirty="0">
                <a:solidFill>
                  <a:srgbClr val="00B4C8"/>
                </a:solidFill>
              </a:rPr>
              <a:t>Engagement Packs</a:t>
            </a:r>
            <a:endParaRPr lang="en-US" sz="1200" dirty="0"/>
          </a:p>
        </p:txBody>
      </p:sp>
      <p:sp>
        <p:nvSpPr>
          <p:cNvPr id="14" name="Text 12"/>
          <p:cNvSpPr txBox="1"/>
          <p:nvPr/>
        </p:nvSpPr>
        <p:spPr>
          <a:xfrm>
            <a:off x="2267712" y="2103120"/>
            <a:ext cx="1572768" cy="2286000"/>
          </a:xfrm>
          <a:prstGeom prst="rect">
            <a:avLst/>
          </a:prstGeom>
          <a:noFill/>
          <a:ln/>
        </p:spPr>
        <p:txBody>
          <a:bodyPr wrap="square" lIns="76200" tIns="76200" rIns="76200" bIns="76200" rtlCol="0" anchor="t"/>
          <a:lstStyle/>
          <a:p>
            <a:pPr algn="ctr" indent="0" marL="0">
              <a:buNone/>
            </a:pPr>
            <a:r>
              <a:rPr lang="en-US" sz="1000" dirty="0">
                <a:solidFill>
                  <a:srgbClr val="A0BAD4"/>
                </a:solidFill>
              </a:rPr>
              <a:t>Interpret and apply client briefs, scope documents, rules of engagement and permission letters</a:t>
            </a:r>
            <a:endParaRPr lang="en-US" sz="1000" dirty="0"/>
          </a:p>
        </p:txBody>
      </p:sp>
      <p:sp>
        <p:nvSpPr>
          <p:cNvPr id="15" name="Shape 13"/>
          <p:cNvSpPr/>
          <p:nvPr/>
        </p:nvSpPr>
        <p:spPr>
          <a:xfrm>
            <a:off x="3986784" y="1051560"/>
            <a:ext cx="1572768" cy="3474720"/>
          </a:xfrm>
          <a:prstGeom prst="rect">
            <a:avLst/>
          </a:prstGeom>
          <a:solidFill>
            <a:srgbClr val="0D3B5E"/>
          </a:solidFill>
          <a:ln w="12700">
            <a:solidFill>
              <a:srgbClr val="00B4C8"/>
            </a:solidFill>
            <a:prstDash val="solid"/>
          </a:ln>
        </p:spPr>
      </p:sp>
      <p:sp>
        <p:nvSpPr>
          <p:cNvPr id="16" name="Shape 14"/>
          <p:cNvSpPr/>
          <p:nvPr/>
        </p:nvSpPr>
        <p:spPr>
          <a:xfrm>
            <a:off x="3986784" y="1051560"/>
            <a:ext cx="1572768" cy="502920"/>
          </a:xfrm>
          <a:prstGeom prst="rect">
            <a:avLst/>
          </a:prstGeom>
          <a:solidFill>
            <a:srgbClr val="00B4C8"/>
          </a:solidFill>
          <a:ln w="12700">
            <a:solidFill>
              <a:srgbClr val="00B4C8"/>
            </a:solidFill>
            <a:prstDash val="solid"/>
          </a:ln>
        </p:spPr>
      </p:sp>
      <p:sp>
        <p:nvSpPr>
          <p:cNvPr id="17" name="Text 15"/>
          <p:cNvSpPr txBox="1"/>
          <p:nvPr/>
        </p:nvSpPr>
        <p:spPr>
          <a:xfrm>
            <a:off x="3986784" y="1051560"/>
            <a:ext cx="1572768" cy="502920"/>
          </a:xfrm>
          <a:prstGeom prst="rect">
            <a:avLst/>
          </a:prstGeom>
          <a:noFill/>
          <a:ln/>
        </p:spPr>
        <p:txBody>
          <a:bodyPr wrap="square" lIns="0" tIns="0" rIns="0" bIns="0" rtlCol="0" anchor="ctr"/>
          <a:lstStyle/>
          <a:p>
            <a:pPr algn="ctr" indent="0" marL="0">
              <a:buNone/>
            </a:pPr>
            <a:r>
              <a:rPr lang="en-US" sz="1800" b="1" dirty="0">
                <a:solidFill>
                  <a:srgbClr val="FFFFFF"/>
                </a:solidFill>
              </a:rPr>
              <a:t>A3</a:t>
            </a:r>
            <a:endParaRPr lang="en-US" sz="1800" dirty="0"/>
          </a:p>
        </p:txBody>
      </p:sp>
      <p:sp>
        <p:nvSpPr>
          <p:cNvPr id="18" name="Text 16"/>
          <p:cNvSpPr txBox="1"/>
          <p:nvPr/>
        </p:nvSpPr>
        <p:spPr>
          <a:xfrm>
            <a:off x="3986784" y="1600200"/>
            <a:ext cx="1572768" cy="457200"/>
          </a:xfrm>
          <a:prstGeom prst="rect">
            <a:avLst/>
          </a:prstGeom>
          <a:noFill/>
          <a:ln/>
        </p:spPr>
        <p:txBody>
          <a:bodyPr wrap="square" lIns="50800" tIns="50800" rIns="50800" bIns="50800" rtlCol="0" anchor="ctr"/>
          <a:lstStyle/>
          <a:p>
            <a:pPr algn="ctr" indent="0" marL="0">
              <a:buNone/>
            </a:pPr>
            <a:r>
              <a:rPr lang="en-US" sz="1200" b="1" dirty="0">
                <a:solidFill>
                  <a:srgbClr val="00B4C8"/>
                </a:solidFill>
              </a:rPr>
              <a:t>Report Writing</a:t>
            </a:r>
            <a:endParaRPr lang="en-US" sz="1200" dirty="0"/>
          </a:p>
        </p:txBody>
      </p:sp>
      <p:sp>
        <p:nvSpPr>
          <p:cNvPr id="19" name="Text 17"/>
          <p:cNvSpPr txBox="1"/>
          <p:nvPr/>
        </p:nvSpPr>
        <p:spPr>
          <a:xfrm>
            <a:off x="3986784" y="2103120"/>
            <a:ext cx="1572768" cy="2286000"/>
          </a:xfrm>
          <a:prstGeom prst="rect">
            <a:avLst/>
          </a:prstGeom>
          <a:noFill/>
          <a:ln/>
        </p:spPr>
        <p:txBody>
          <a:bodyPr wrap="square" lIns="76200" tIns="76200" rIns="76200" bIns="76200" rtlCol="0" anchor="t"/>
          <a:lstStyle/>
          <a:p>
            <a:pPr algn="ctr" indent="0" marL="0">
              <a:buNone/>
            </a:pPr>
            <a:r>
              <a:rPr lang="en-US" sz="1000" dirty="0">
                <a:solidFill>
                  <a:srgbClr val="A0BAD4"/>
                </a:solidFill>
              </a:rPr>
              <a:t>Produce structured pentest reports with findings, evidence, CVSS scores and remediation advice</a:t>
            </a:r>
            <a:endParaRPr lang="en-US" sz="1000" dirty="0"/>
          </a:p>
        </p:txBody>
      </p:sp>
      <p:sp>
        <p:nvSpPr>
          <p:cNvPr id="20" name="Shape 18"/>
          <p:cNvSpPr/>
          <p:nvPr/>
        </p:nvSpPr>
        <p:spPr>
          <a:xfrm>
            <a:off x="5705856" y="1051560"/>
            <a:ext cx="1572768" cy="3474720"/>
          </a:xfrm>
          <a:prstGeom prst="rect">
            <a:avLst/>
          </a:prstGeom>
          <a:solidFill>
            <a:srgbClr val="0D3B5E"/>
          </a:solidFill>
          <a:ln w="12700">
            <a:solidFill>
              <a:srgbClr val="00B4C8"/>
            </a:solidFill>
            <a:prstDash val="solid"/>
          </a:ln>
        </p:spPr>
      </p:sp>
      <p:sp>
        <p:nvSpPr>
          <p:cNvPr id="21" name="Shape 19"/>
          <p:cNvSpPr/>
          <p:nvPr/>
        </p:nvSpPr>
        <p:spPr>
          <a:xfrm>
            <a:off x="5705856" y="1051560"/>
            <a:ext cx="1572768" cy="502920"/>
          </a:xfrm>
          <a:prstGeom prst="rect">
            <a:avLst/>
          </a:prstGeom>
          <a:solidFill>
            <a:srgbClr val="00B4C8"/>
          </a:solidFill>
          <a:ln w="12700">
            <a:solidFill>
              <a:srgbClr val="00B4C8"/>
            </a:solidFill>
            <a:prstDash val="solid"/>
          </a:ln>
        </p:spPr>
      </p:sp>
      <p:sp>
        <p:nvSpPr>
          <p:cNvPr id="22" name="Text 20"/>
          <p:cNvSpPr txBox="1"/>
          <p:nvPr/>
        </p:nvSpPr>
        <p:spPr>
          <a:xfrm>
            <a:off x="5705856" y="1051560"/>
            <a:ext cx="1572768" cy="502920"/>
          </a:xfrm>
          <a:prstGeom prst="rect">
            <a:avLst/>
          </a:prstGeom>
          <a:noFill/>
          <a:ln/>
        </p:spPr>
        <p:txBody>
          <a:bodyPr wrap="square" lIns="0" tIns="0" rIns="0" bIns="0" rtlCol="0" anchor="ctr"/>
          <a:lstStyle/>
          <a:p>
            <a:pPr algn="ctr" indent="0" marL="0">
              <a:buNone/>
            </a:pPr>
            <a:r>
              <a:rPr lang="en-US" sz="1800" b="1" dirty="0">
                <a:solidFill>
                  <a:srgbClr val="FFFFFF"/>
                </a:solidFill>
              </a:rPr>
              <a:t>A4</a:t>
            </a:r>
            <a:endParaRPr lang="en-US" sz="1800" dirty="0"/>
          </a:p>
        </p:txBody>
      </p:sp>
      <p:sp>
        <p:nvSpPr>
          <p:cNvPr id="23" name="Text 21"/>
          <p:cNvSpPr txBox="1"/>
          <p:nvPr/>
        </p:nvSpPr>
        <p:spPr>
          <a:xfrm>
            <a:off x="5705856" y="1600200"/>
            <a:ext cx="1572768" cy="457200"/>
          </a:xfrm>
          <a:prstGeom prst="rect">
            <a:avLst/>
          </a:prstGeom>
          <a:noFill/>
          <a:ln/>
        </p:spPr>
        <p:txBody>
          <a:bodyPr wrap="square" lIns="50800" tIns="50800" rIns="50800" bIns="50800" rtlCol="0" anchor="ctr"/>
          <a:lstStyle/>
          <a:p>
            <a:pPr algn="ctr" indent="0" marL="0">
              <a:buNone/>
            </a:pPr>
            <a:r>
              <a:rPr lang="en-US" sz="1200" b="1" dirty="0">
                <a:solidFill>
                  <a:srgbClr val="00B4C8"/>
                </a:solidFill>
              </a:rPr>
              <a:t>CVSS Scoring</a:t>
            </a:r>
            <a:endParaRPr lang="en-US" sz="1200" dirty="0"/>
          </a:p>
        </p:txBody>
      </p:sp>
      <p:sp>
        <p:nvSpPr>
          <p:cNvPr id="24" name="Text 22"/>
          <p:cNvSpPr txBox="1"/>
          <p:nvPr/>
        </p:nvSpPr>
        <p:spPr>
          <a:xfrm>
            <a:off x="5705856" y="2103120"/>
            <a:ext cx="1572768" cy="2286000"/>
          </a:xfrm>
          <a:prstGeom prst="rect">
            <a:avLst/>
          </a:prstGeom>
          <a:noFill/>
          <a:ln/>
        </p:spPr>
        <p:txBody>
          <a:bodyPr wrap="square" lIns="76200" tIns="76200" rIns="76200" bIns="76200" rtlCol="0" anchor="t"/>
          <a:lstStyle/>
          <a:p>
            <a:pPr algn="ctr" indent="0" marL="0">
              <a:buNone/>
            </a:pPr>
            <a:r>
              <a:rPr lang="en-US" sz="1000" dirty="0">
                <a:solidFill>
                  <a:srgbClr val="A0BAD4"/>
                </a:solidFill>
              </a:rPr>
              <a:t>Calculate CVSS v3.1 Base Scores using the eight-metric methodology for real-world findings</a:t>
            </a:r>
            <a:endParaRPr lang="en-US" sz="1000" dirty="0"/>
          </a:p>
        </p:txBody>
      </p:sp>
      <p:sp>
        <p:nvSpPr>
          <p:cNvPr id="25" name="Shape 23"/>
          <p:cNvSpPr/>
          <p:nvPr/>
        </p:nvSpPr>
        <p:spPr>
          <a:xfrm>
            <a:off x="7424928" y="1051560"/>
            <a:ext cx="1572768" cy="3474720"/>
          </a:xfrm>
          <a:prstGeom prst="rect">
            <a:avLst/>
          </a:prstGeom>
          <a:solidFill>
            <a:srgbClr val="0D3B5E"/>
          </a:solidFill>
          <a:ln w="12700">
            <a:solidFill>
              <a:srgbClr val="00B4C8"/>
            </a:solidFill>
            <a:prstDash val="solid"/>
          </a:ln>
        </p:spPr>
      </p:sp>
      <p:sp>
        <p:nvSpPr>
          <p:cNvPr id="26" name="Shape 24"/>
          <p:cNvSpPr/>
          <p:nvPr/>
        </p:nvSpPr>
        <p:spPr>
          <a:xfrm>
            <a:off x="7424928" y="1051560"/>
            <a:ext cx="1572768" cy="502920"/>
          </a:xfrm>
          <a:prstGeom prst="rect">
            <a:avLst/>
          </a:prstGeom>
          <a:solidFill>
            <a:srgbClr val="00B4C8"/>
          </a:solidFill>
          <a:ln w="12700">
            <a:solidFill>
              <a:srgbClr val="00B4C8"/>
            </a:solidFill>
            <a:prstDash val="solid"/>
          </a:ln>
        </p:spPr>
      </p:sp>
      <p:sp>
        <p:nvSpPr>
          <p:cNvPr id="27" name="Text 25"/>
          <p:cNvSpPr txBox="1"/>
          <p:nvPr/>
        </p:nvSpPr>
        <p:spPr>
          <a:xfrm>
            <a:off x="7424928" y="1051560"/>
            <a:ext cx="1572768" cy="502920"/>
          </a:xfrm>
          <a:prstGeom prst="rect">
            <a:avLst/>
          </a:prstGeom>
          <a:noFill/>
          <a:ln/>
        </p:spPr>
        <p:txBody>
          <a:bodyPr wrap="square" lIns="0" tIns="0" rIns="0" bIns="0" rtlCol="0" anchor="ctr"/>
          <a:lstStyle/>
          <a:p>
            <a:pPr algn="ctr" indent="0" marL="0">
              <a:buNone/>
            </a:pPr>
            <a:r>
              <a:rPr lang="en-US" sz="1800" b="1" dirty="0">
                <a:solidFill>
                  <a:srgbClr val="FFFFFF"/>
                </a:solidFill>
              </a:rPr>
              <a:t>A5</a:t>
            </a:r>
            <a:endParaRPr lang="en-US" sz="1800" dirty="0"/>
          </a:p>
        </p:txBody>
      </p:sp>
      <p:sp>
        <p:nvSpPr>
          <p:cNvPr id="28" name="Text 26"/>
          <p:cNvSpPr txBox="1"/>
          <p:nvPr/>
        </p:nvSpPr>
        <p:spPr>
          <a:xfrm>
            <a:off x="7424928" y="1600200"/>
            <a:ext cx="1572768" cy="457200"/>
          </a:xfrm>
          <a:prstGeom prst="rect">
            <a:avLst/>
          </a:prstGeom>
          <a:noFill/>
          <a:ln/>
        </p:spPr>
        <p:txBody>
          <a:bodyPr wrap="square" lIns="50800" tIns="50800" rIns="50800" bIns="50800" rtlCol="0" anchor="ctr"/>
          <a:lstStyle/>
          <a:p>
            <a:pPr algn="ctr" indent="0" marL="0">
              <a:buNone/>
            </a:pPr>
            <a:r>
              <a:rPr lang="en-US" sz="1200" b="1" dirty="0">
                <a:solidFill>
                  <a:srgbClr val="00B4C8"/>
                </a:solidFill>
              </a:rPr>
              <a:t>Compliance Mapping</a:t>
            </a:r>
            <a:endParaRPr lang="en-US" sz="1200" dirty="0"/>
          </a:p>
        </p:txBody>
      </p:sp>
      <p:sp>
        <p:nvSpPr>
          <p:cNvPr id="29" name="Text 27"/>
          <p:cNvSpPr txBox="1"/>
          <p:nvPr/>
        </p:nvSpPr>
        <p:spPr>
          <a:xfrm>
            <a:off x="7424928" y="2103120"/>
            <a:ext cx="1572768" cy="2286000"/>
          </a:xfrm>
          <a:prstGeom prst="rect">
            <a:avLst/>
          </a:prstGeom>
          <a:noFill/>
          <a:ln/>
        </p:spPr>
        <p:txBody>
          <a:bodyPr wrap="square" lIns="76200" tIns="76200" rIns="76200" bIns="76200" rtlCol="0" anchor="t"/>
          <a:lstStyle/>
          <a:p>
            <a:pPr algn="ctr" indent="0" marL="0">
              <a:buNone/>
            </a:pPr>
            <a:r>
              <a:rPr lang="en-US" sz="1000" dirty="0">
                <a:solidFill>
                  <a:srgbClr val="A0BAD4"/>
                </a:solidFill>
              </a:rPr>
              <a:t>Map technical findings to PCI DSS v4.0, UK GDPR, FCA and CMA regulatory frameworks</a:t>
            </a:r>
            <a:endParaRPr lang="en-US" sz="1000" dirty="0"/>
          </a:p>
        </p:txBody>
      </p:sp>
      <p:sp>
        <p:nvSpPr>
          <p:cNvPr id="30" name="Text 28"/>
          <p:cNvSpPr txBox="1"/>
          <p:nvPr/>
        </p:nvSpPr>
        <p:spPr>
          <a:xfrm>
            <a:off x="0" y="4892040"/>
            <a:ext cx="9144000" cy="256032"/>
          </a:xfrm>
          <a:prstGeom prst="rect">
            <a:avLst/>
          </a:prstGeom>
          <a:noFill/>
          <a:ln/>
        </p:spPr>
        <p:txBody>
          <a:bodyPr wrap="square" lIns="0" tIns="0" rIns="0" bIns="0" rtlCol="0" anchor="ctr"/>
          <a:lstStyle/>
          <a:p>
            <a:pPr algn="ctr" indent="0" marL="0">
              <a:buNone/>
            </a:pPr>
            <a:r>
              <a:rPr lang="en-US" sz="900" dirty="0">
                <a:solidFill>
                  <a:srgbClr val="5A7FAA"/>
                </a:solidFill>
              </a:rPr>
              <a:t>My Cyber Academy | MCA CREST CPSA - Module A: Soft Skills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w="12700">
            <a:solidFill>
              <a:srgbClr val="FFFFFF"/>
            </a:solidFill>
            <a:prstDash val="solid"/>
          </a:ln>
        </p:spPr>
      </p:sp>
      <p:sp>
        <p:nvSpPr>
          <p:cNvPr id="3" name="Shape 1"/>
          <p:cNvSpPr/>
          <p:nvPr/>
        </p:nvSpPr>
        <p:spPr>
          <a:xfrm>
            <a:off x="0" y="0"/>
            <a:ext cx="9144000" cy="73152"/>
          </a:xfrm>
          <a:prstGeom prst="rect">
            <a:avLst/>
          </a:prstGeom>
          <a:solidFill>
            <a:srgbClr val="00B4C8"/>
          </a:solidFill>
          <a:ln w="12700">
            <a:solidFill>
              <a:srgbClr val="00B4C8"/>
            </a:solidFill>
            <a:prstDash val="solid"/>
          </a:ln>
        </p:spPr>
      </p:sp>
      <p:sp>
        <p:nvSpPr>
          <p:cNvPr id="4" name="Text 2"/>
          <p:cNvSpPr txBox="1"/>
          <p:nvPr/>
        </p:nvSpPr>
        <p:spPr>
          <a:xfrm>
            <a:off x="365760" y="137160"/>
            <a:ext cx="8412480" cy="548640"/>
          </a:xfrm>
          <a:prstGeom prst="rect">
            <a:avLst/>
          </a:prstGeom>
          <a:noFill/>
          <a:ln/>
        </p:spPr>
        <p:txBody>
          <a:bodyPr wrap="square" lIns="0" tIns="0" rIns="0" bIns="0" rtlCol="0" anchor="ctr"/>
          <a:lstStyle/>
          <a:p>
            <a:pPr algn="l" indent="0" marL="0">
              <a:buNone/>
            </a:pPr>
            <a:r>
              <a:rPr lang="en-US" sz="2800" b="1" dirty="0">
                <a:solidFill>
                  <a:srgbClr val="1A2744"/>
                </a:solidFill>
              </a:rPr>
              <a:t>Scenario: Syntex Solutions Ltd</a:t>
            </a:r>
            <a:endParaRPr lang="en-US" sz="2800" dirty="0"/>
          </a:p>
        </p:txBody>
      </p:sp>
      <p:sp>
        <p:nvSpPr>
          <p:cNvPr id="5" name="Shape 3"/>
          <p:cNvSpPr/>
          <p:nvPr/>
        </p:nvSpPr>
        <p:spPr>
          <a:xfrm>
            <a:off x="365760" y="713232"/>
            <a:ext cx="8412480" cy="0"/>
          </a:xfrm>
          <a:prstGeom prst="line">
            <a:avLst/>
          </a:prstGeom>
          <a:noFill/>
          <a:ln w="19050">
            <a:solidFill>
              <a:srgbClr val="00B4C8"/>
            </a:solidFill>
            <a:prstDash val="solid"/>
          </a:ln>
        </p:spPr>
      </p:sp>
      <p:sp>
        <p:nvSpPr>
          <p:cNvPr id="6" name="Text 4"/>
          <p:cNvSpPr txBox="1"/>
          <p:nvPr/>
        </p:nvSpPr>
        <p:spPr>
          <a:xfrm>
            <a:off x="365760" y="822960"/>
            <a:ext cx="4114800" cy="320040"/>
          </a:xfrm>
          <a:prstGeom prst="rect">
            <a:avLst/>
          </a:prstGeom>
          <a:noFill/>
          <a:ln/>
        </p:spPr>
        <p:txBody>
          <a:bodyPr wrap="square" lIns="0" tIns="0" rIns="0" bIns="0" rtlCol="0" anchor="ctr"/>
          <a:lstStyle/>
          <a:p>
            <a:pPr indent="0" marL="0">
              <a:buNone/>
            </a:pPr>
            <a:r>
              <a:rPr lang="en-US" sz="1600" b="1" dirty="0">
                <a:solidFill>
                  <a:srgbClr val="1A2744"/>
                </a:solidFill>
              </a:rPr>
              <a:t>The Client</a:t>
            </a:r>
            <a:endParaRPr lang="en-US" sz="1600" dirty="0"/>
          </a:p>
        </p:txBody>
      </p:sp>
      <p:sp>
        <p:nvSpPr>
          <p:cNvPr id="7" name="Text 5"/>
          <p:cNvSpPr txBox="1"/>
          <p:nvPr/>
        </p:nvSpPr>
        <p:spPr>
          <a:xfrm>
            <a:off x="365760" y="1188720"/>
            <a:ext cx="4114800" cy="2011680"/>
          </a:xfrm>
          <a:prstGeom prst="rect">
            <a:avLst/>
          </a:prstGeom>
          <a:noFill/>
          <a:ln/>
        </p:spPr>
        <p:txBody>
          <a:bodyPr wrap="square" lIns="0" tIns="50800" rIns="0" bIns="0" rtlCol="0" anchor="t"/>
          <a:lstStyle/>
          <a:p>
            <a:pPr algn="l">
              <a:spcAft>
                <a:spcPts val="600"/>
              </a:spcAft>
            </a:pPr>
            <a:r>
              <a:rPr lang="en-US" sz="1300" dirty="0">
                <a:solidFill>
                  <a:srgbClr val="2C3E50"/>
                </a:solidFill>
              </a:rPr>
              <a:t>UK-based fintech processing card payments</a:t>
            </a:r>
            <a:endParaRPr lang="en-US" sz="1300" dirty="0"/>
          </a:p>
          <a:p>
            <a:pPr algn="l">
              <a:spcAft>
                <a:spcPts val="600"/>
              </a:spcAft>
            </a:pPr>
            <a:r>
              <a:rPr lang="en-US" sz="1300" dirty="0">
                <a:solidFill>
                  <a:srgbClr val="2C3E50"/>
                </a:solidFill>
              </a:rPr>
              <a:t>Operates syntex.local Active Directory domain</a:t>
            </a:r>
            <a:endParaRPr lang="en-US" sz="1300" dirty="0"/>
          </a:p>
          <a:p>
            <a:pPr algn="l">
              <a:spcAft>
                <a:spcPts val="600"/>
              </a:spcAft>
            </a:pPr>
            <a:r>
              <a:rPr lang="en-US" sz="1300" dirty="0">
                <a:solidFill>
                  <a:srgbClr val="2C3E50"/>
                </a:solidFill>
              </a:rPr>
              <a:t>Mixed Windows / Linux server estate</a:t>
            </a:r>
            <a:endParaRPr lang="en-US" sz="1300" dirty="0"/>
          </a:p>
          <a:p>
            <a:pPr algn="l">
              <a:spcAft>
                <a:spcPts val="600"/>
              </a:spcAft>
            </a:pPr>
            <a:r>
              <a:rPr lang="en-US" sz="1300" dirty="0">
                <a:solidFill>
                  <a:srgbClr val="2C3E50"/>
                </a:solidFill>
              </a:rPr>
              <a:t>Regulated under PCI DSS v4.0, UK GDPR, FCA SYSC</a:t>
            </a:r>
            <a:endParaRPr lang="en-US" sz="1300" dirty="0"/>
          </a:p>
          <a:p>
            <a:pPr algn="l">
              <a:spcAft>
                <a:spcPts val="600"/>
              </a:spcAft>
            </a:pPr>
            <a:r>
              <a:rPr lang="en-US" sz="1300" dirty="0">
                <a:solidFill>
                  <a:srgbClr val="2C3E50"/>
                </a:solidFill>
              </a:rPr>
              <a:t>First external security assessment</a:t>
            </a:r>
            <a:endParaRPr lang="en-US" sz="1300" dirty="0"/>
          </a:p>
        </p:txBody>
      </p:sp>
      <p:sp>
        <p:nvSpPr>
          <p:cNvPr id="8" name="Text 6"/>
          <p:cNvSpPr txBox="1"/>
          <p:nvPr/>
        </p:nvSpPr>
        <p:spPr>
          <a:xfrm>
            <a:off x="4754880" y="822960"/>
            <a:ext cx="4023360" cy="320040"/>
          </a:xfrm>
          <a:prstGeom prst="rect">
            <a:avLst/>
          </a:prstGeom>
          <a:noFill/>
          <a:ln/>
        </p:spPr>
        <p:txBody>
          <a:bodyPr wrap="square" lIns="0" tIns="0" rIns="0" bIns="0" rtlCol="0" anchor="ctr"/>
          <a:lstStyle/>
          <a:p>
            <a:pPr indent="0" marL="0">
              <a:buNone/>
            </a:pPr>
            <a:r>
              <a:rPr lang="en-US" sz="1600" b="1" dirty="0">
                <a:solidFill>
                  <a:srgbClr val="1A2744"/>
                </a:solidFill>
              </a:rPr>
              <a:t>This Engagement</a:t>
            </a:r>
            <a:endParaRPr lang="en-US" sz="1600" dirty="0"/>
          </a:p>
        </p:txBody>
      </p:sp>
      <p:sp>
        <p:nvSpPr>
          <p:cNvPr id="9" name="Text 7"/>
          <p:cNvSpPr txBox="1"/>
          <p:nvPr/>
        </p:nvSpPr>
        <p:spPr>
          <a:xfrm>
            <a:off x="4754880" y="1188720"/>
            <a:ext cx="4023360" cy="2011680"/>
          </a:xfrm>
          <a:prstGeom prst="rect">
            <a:avLst/>
          </a:prstGeom>
          <a:noFill/>
          <a:ln/>
        </p:spPr>
        <p:txBody>
          <a:bodyPr wrap="square" lIns="0" tIns="50800" rIns="0" bIns="0" rtlCol="0" anchor="t"/>
          <a:lstStyle/>
          <a:p>
            <a:pPr algn="l">
              <a:spcAft>
                <a:spcPts val="600"/>
              </a:spcAft>
            </a:pPr>
            <a:r>
              <a:rPr lang="en-US" sz="1300" dirty="0">
                <a:solidFill>
                  <a:srgbClr val="2C3E50"/>
                </a:solidFill>
              </a:rPr>
              <a:t>Grey box - supplied creds jsmith / Password1</a:t>
            </a:r>
            <a:endParaRPr lang="en-US" sz="1300" dirty="0"/>
          </a:p>
          <a:p>
            <a:pPr algn="l">
              <a:spcAft>
                <a:spcPts val="600"/>
              </a:spcAft>
            </a:pPr>
            <a:r>
              <a:rPr lang="en-US" sz="1300" dirty="0">
                <a:solidFill>
                  <a:srgbClr val="2C3E50"/>
                </a:solidFill>
              </a:rPr>
              <a:t>Scope: 10.0.29.131 (SYNTEX-DC01) + 10.1.53.39 (SYNTEX-LNX01)</a:t>
            </a:r>
            <a:endParaRPr lang="en-US" sz="1300" dirty="0"/>
          </a:p>
          <a:p>
            <a:pPr algn="l">
              <a:spcAft>
                <a:spcPts val="600"/>
              </a:spcAft>
            </a:pPr>
            <a:r>
              <a:rPr lang="en-US" sz="1300" dirty="0">
                <a:solidFill>
                  <a:srgbClr val="2C3E50"/>
                </a:solidFill>
              </a:rPr>
              <a:t>Timeframe: five-day assessment window</a:t>
            </a:r>
            <a:endParaRPr lang="en-US" sz="1300" dirty="0"/>
          </a:p>
          <a:p>
            <a:pPr algn="l">
              <a:spcAft>
                <a:spcPts val="600"/>
              </a:spcAft>
            </a:pPr>
            <a:r>
              <a:rPr lang="en-US" sz="1300" dirty="0">
                <a:solidFill>
                  <a:srgbClr val="2C3E50"/>
                </a:solidFill>
              </a:rPr>
              <a:t>Rules of Engagement document provided</a:t>
            </a:r>
            <a:endParaRPr lang="en-US" sz="1300" dirty="0"/>
          </a:p>
          <a:p>
            <a:pPr algn="l">
              <a:spcAft>
                <a:spcPts val="600"/>
              </a:spcAft>
            </a:pPr>
            <a:r>
              <a:rPr lang="en-US" sz="1300" dirty="0">
                <a:solidFill>
                  <a:srgbClr val="2C3E50"/>
                </a:solidFill>
              </a:rPr>
              <a:t>Report deliverable: Executive + Technical findings</a:t>
            </a:r>
            <a:endParaRPr lang="en-US" sz="1300" dirty="0"/>
          </a:p>
        </p:txBody>
      </p:sp>
      <p:sp>
        <p:nvSpPr>
          <p:cNvPr id="10" name="Shape 8"/>
          <p:cNvSpPr/>
          <p:nvPr/>
        </p:nvSpPr>
        <p:spPr>
          <a:xfrm>
            <a:off x="365760" y="3291840"/>
            <a:ext cx="8412480" cy="1417320"/>
          </a:xfrm>
          <a:prstGeom prst="rect">
            <a:avLst/>
          </a:prstGeom>
          <a:solidFill>
            <a:srgbClr val="EEF4FB"/>
          </a:solidFill>
          <a:ln w="12700">
            <a:solidFill>
              <a:srgbClr val="00B4C8"/>
            </a:solidFill>
            <a:prstDash val="solid"/>
          </a:ln>
        </p:spPr>
      </p:sp>
      <p:sp>
        <p:nvSpPr>
          <p:cNvPr id="11" name="Text 9"/>
          <p:cNvSpPr txBox="1"/>
          <p:nvPr/>
        </p:nvSpPr>
        <p:spPr>
          <a:xfrm>
            <a:off x="640080" y="3429000"/>
            <a:ext cx="1371600" cy="320040"/>
          </a:xfrm>
          <a:prstGeom prst="rect">
            <a:avLst/>
          </a:prstGeom>
          <a:noFill/>
          <a:ln/>
        </p:spPr>
        <p:txBody>
          <a:bodyPr wrap="square" lIns="0" tIns="0" rIns="0" bIns="0" rtlCol="0" anchor="ctr"/>
          <a:lstStyle/>
          <a:p>
            <a:pPr algn="ctr" indent="0" marL="0">
              <a:buNone/>
            </a:pPr>
            <a:r>
              <a:rPr lang="en-US" sz="1100" b="1" dirty="0">
                <a:solidFill>
                  <a:srgbClr val="1A2744"/>
                </a:solidFill>
              </a:rPr>
              <a:t>Kali Attacker</a:t>
            </a:r>
            <a:endParaRPr lang="en-US" sz="1100" dirty="0"/>
          </a:p>
        </p:txBody>
      </p:sp>
      <p:sp>
        <p:nvSpPr>
          <p:cNvPr id="12" name="Text 10"/>
          <p:cNvSpPr txBox="1"/>
          <p:nvPr/>
        </p:nvSpPr>
        <p:spPr>
          <a:xfrm>
            <a:off x="640080" y="3749040"/>
            <a:ext cx="1371600" cy="228600"/>
          </a:xfrm>
          <a:prstGeom prst="rect">
            <a:avLst/>
          </a:prstGeom>
          <a:noFill/>
          <a:ln/>
        </p:spPr>
        <p:txBody>
          <a:bodyPr wrap="square" lIns="0" tIns="0" rIns="0" bIns="0" rtlCol="0" anchor="ctr"/>
          <a:lstStyle/>
          <a:p>
            <a:pPr algn="ctr" indent="0" marL="0">
              <a:buNone/>
            </a:pPr>
            <a:r>
              <a:rPr lang="en-US" sz="1000" dirty="0">
                <a:solidFill>
                  <a:srgbClr val="7F8C8D"/>
                </a:solidFill>
              </a:rPr>
              <a:t>10.0.x.x</a:t>
            </a:r>
            <a:endParaRPr lang="en-US" sz="1000" dirty="0"/>
          </a:p>
        </p:txBody>
      </p:sp>
      <p:sp>
        <p:nvSpPr>
          <p:cNvPr id="13" name="Shape 11"/>
          <p:cNvSpPr/>
          <p:nvPr/>
        </p:nvSpPr>
        <p:spPr>
          <a:xfrm>
            <a:off x="2057400" y="3611880"/>
            <a:ext cx="640080" cy="0"/>
          </a:xfrm>
          <a:prstGeom prst="line">
            <a:avLst/>
          </a:prstGeom>
          <a:noFill/>
          <a:ln w="25400">
            <a:solidFill>
              <a:srgbClr val="00B4C8"/>
            </a:solidFill>
            <a:prstDash val="solid"/>
          </a:ln>
        </p:spPr>
      </p:sp>
      <p:sp>
        <p:nvSpPr>
          <p:cNvPr id="14" name="Shape 12"/>
          <p:cNvSpPr/>
          <p:nvPr/>
        </p:nvSpPr>
        <p:spPr>
          <a:xfrm>
            <a:off x="2606040" y="3502152"/>
            <a:ext cx="274320" cy="219456"/>
          </a:xfrm>
          <a:prstGeom prst="rightArrow">
            <a:avLst/>
          </a:prstGeom>
          <a:solidFill>
            <a:srgbClr val="00B4C8"/>
          </a:solidFill>
          <a:ln w="12700">
            <a:solidFill>
              <a:srgbClr val="00B4C8"/>
            </a:solidFill>
            <a:prstDash val="solid"/>
          </a:ln>
        </p:spPr>
      </p:sp>
      <p:sp>
        <p:nvSpPr>
          <p:cNvPr id="15" name="Text 13"/>
          <p:cNvSpPr txBox="1"/>
          <p:nvPr/>
        </p:nvSpPr>
        <p:spPr>
          <a:xfrm>
            <a:off x="2926080" y="3429000"/>
            <a:ext cx="1828800" cy="320040"/>
          </a:xfrm>
          <a:prstGeom prst="rect">
            <a:avLst/>
          </a:prstGeom>
          <a:noFill/>
          <a:ln/>
        </p:spPr>
        <p:txBody>
          <a:bodyPr wrap="square" lIns="0" tIns="0" rIns="0" bIns="0" rtlCol="0" anchor="ctr"/>
          <a:lstStyle/>
          <a:p>
            <a:pPr algn="ctr" indent="0" marL="0">
              <a:buNone/>
            </a:pPr>
            <a:r>
              <a:rPr lang="en-US" sz="1100" b="1" dirty="0">
                <a:solidFill>
                  <a:srgbClr val="1A2744"/>
                </a:solidFill>
              </a:rPr>
              <a:t>SYNTEX-DC01</a:t>
            </a:r>
            <a:endParaRPr lang="en-US" sz="1100" dirty="0"/>
          </a:p>
        </p:txBody>
      </p:sp>
      <p:sp>
        <p:nvSpPr>
          <p:cNvPr id="16" name="Text 14"/>
          <p:cNvSpPr txBox="1"/>
          <p:nvPr/>
        </p:nvSpPr>
        <p:spPr>
          <a:xfrm>
            <a:off x="2926080" y="3749040"/>
            <a:ext cx="1828800" cy="411480"/>
          </a:xfrm>
          <a:prstGeom prst="rect">
            <a:avLst/>
          </a:prstGeom>
          <a:noFill/>
          <a:ln/>
        </p:spPr>
        <p:txBody>
          <a:bodyPr wrap="square" lIns="0" tIns="0" rIns="0" bIns="0" rtlCol="0" anchor="ctr"/>
          <a:lstStyle/>
          <a:p>
            <a:pPr algn="ctr" indent="0" marL="0">
              <a:buNone/>
            </a:pPr>
            <a:r>
              <a:rPr lang="en-US" sz="1000" dirty="0">
                <a:solidFill>
                  <a:srgbClr val="7F8C8D"/>
                </a:solidFill>
              </a:rPr>
              <a:t>Win Server 2016</a:t>
            </a:r>
            <a:endParaRPr lang="en-US" sz="1000" dirty="0"/>
          </a:p>
          <a:p>
            <a:pPr algn="ctr" indent="0" marL="0">
              <a:buNone/>
            </a:pPr>
            <a:r>
              <a:rPr lang="en-US" sz="1000" dirty="0">
                <a:solidFill>
                  <a:srgbClr val="7F8C8D"/>
                </a:solidFill>
              </a:rPr>
              <a:t>10.0.29.131</a:t>
            </a:r>
            <a:endParaRPr lang="en-US" sz="1000" dirty="0"/>
          </a:p>
        </p:txBody>
      </p:sp>
      <p:sp>
        <p:nvSpPr>
          <p:cNvPr id="17" name="Shape 15"/>
          <p:cNvSpPr/>
          <p:nvPr/>
        </p:nvSpPr>
        <p:spPr>
          <a:xfrm>
            <a:off x="4800600" y="3611880"/>
            <a:ext cx="640080" cy="0"/>
          </a:xfrm>
          <a:prstGeom prst="line">
            <a:avLst/>
          </a:prstGeom>
          <a:noFill/>
          <a:ln w="25400">
            <a:solidFill>
              <a:srgbClr val="00B4C8"/>
            </a:solidFill>
            <a:prstDash val="solid"/>
          </a:ln>
        </p:spPr>
      </p:sp>
      <p:sp>
        <p:nvSpPr>
          <p:cNvPr id="18" name="Shape 16"/>
          <p:cNvSpPr/>
          <p:nvPr/>
        </p:nvSpPr>
        <p:spPr>
          <a:xfrm>
            <a:off x="5349240" y="3502152"/>
            <a:ext cx="274320" cy="219456"/>
          </a:xfrm>
          <a:prstGeom prst="rightArrow">
            <a:avLst/>
          </a:prstGeom>
          <a:solidFill>
            <a:srgbClr val="00B4C8"/>
          </a:solidFill>
          <a:ln w="12700">
            <a:solidFill>
              <a:srgbClr val="00B4C8"/>
            </a:solidFill>
            <a:prstDash val="solid"/>
          </a:ln>
        </p:spPr>
      </p:sp>
      <p:sp>
        <p:nvSpPr>
          <p:cNvPr id="19" name="Text 17"/>
          <p:cNvSpPr txBox="1"/>
          <p:nvPr/>
        </p:nvSpPr>
        <p:spPr>
          <a:xfrm>
            <a:off x="5669280" y="3429000"/>
            <a:ext cx="1828800" cy="320040"/>
          </a:xfrm>
          <a:prstGeom prst="rect">
            <a:avLst/>
          </a:prstGeom>
          <a:noFill/>
          <a:ln/>
        </p:spPr>
        <p:txBody>
          <a:bodyPr wrap="square" lIns="0" tIns="0" rIns="0" bIns="0" rtlCol="0" anchor="ctr"/>
          <a:lstStyle/>
          <a:p>
            <a:pPr algn="ctr" indent="0" marL="0">
              <a:buNone/>
            </a:pPr>
            <a:r>
              <a:rPr lang="en-US" sz="1100" b="1" dirty="0">
                <a:solidFill>
                  <a:srgbClr val="1A2744"/>
                </a:solidFill>
              </a:rPr>
              <a:t>SYNTEX-LNX01</a:t>
            </a:r>
            <a:endParaRPr lang="en-US" sz="1100" dirty="0"/>
          </a:p>
        </p:txBody>
      </p:sp>
      <p:sp>
        <p:nvSpPr>
          <p:cNvPr id="20" name="Text 18"/>
          <p:cNvSpPr txBox="1"/>
          <p:nvPr/>
        </p:nvSpPr>
        <p:spPr>
          <a:xfrm>
            <a:off x="5669280" y="3749040"/>
            <a:ext cx="1828800" cy="411480"/>
          </a:xfrm>
          <a:prstGeom prst="rect">
            <a:avLst/>
          </a:prstGeom>
          <a:noFill/>
          <a:ln/>
        </p:spPr>
        <p:txBody>
          <a:bodyPr wrap="square" lIns="0" tIns="0" rIns="0" bIns="0" rtlCol="0" anchor="ctr"/>
          <a:lstStyle/>
          <a:p>
            <a:pPr algn="ctr" indent="0" marL="0">
              <a:buNone/>
            </a:pPr>
            <a:r>
              <a:rPr lang="en-US" sz="1000" dirty="0">
                <a:solidFill>
                  <a:srgbClr val="7F8C8D"/>
                </a:solidFill>
              </a:rPr>
              <a:t>Ubuntu 20.04</a:t>
            </a:r>
            <a:endParaRPr lang="en-US" sz="1000" dirty="0"/>
          </a:p>
          <a:p>
            <a:pPr algn="ctr" indent="0" marL="0">
              <a:buNone/>
            </a:pPr>
            <a:r>
              <a:rPr lang="en-US" sz="1000" dirty="0">
                <a:solidFill>
                  <a:srgbClr val="7F8C8D"/>
                </a:solidFill>
              </a:rPr>
              <a:t>10.1.53.39</a:t>
            </a:r>
            <a:endParaRPr lang="en-US" sz="1000" dirty="0"/>
          </a:p>
        </p:txBody>
      </p:sp>
      <p:sp>
        <p:nvSpPr>
          <p:cNvPr id="21" name="Text 19"/>
          <p:cNvSpPr txBox="1"/>
          <p:nvPr/>
        </p:nvSpPr>
        <p:spPr>
          <a:xfrm>
            <a:off x="0" y="4892040"/>
            <a:ext cx="9144000" cy="256032"/>
          </a:xfrm>
          <a:prstGeom prst="rect">
            <a:avLst/>
          </a:prstGeom>
          <a:noFill/>
          <a:ln/>
        </p:spPr>
        <p:txBody>
          <a:bodyPr wrap="square" lIns="0" tIns="0" rIns="0" bIns="0" rtlCol="0" anchor="ctr"/>
          <a:lstStyle/>
          <a:p>
            <a:pPr algn="ctr" indent="0" marL="0">
              <a:buNone/>
            </a:pPr>
            <a:r>
              <a:rPr lang="en-US" sz="900" dirty="0">
                <a:solidFill>
                  <a:srgbClr val="7F8C8D"/>
                </a:solidFill>
              </a:rPr>
              <a:t>My Cyber Academy | MCA CREST CPSA - Module A: Soft Skills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A2744"/>
          </a:solidFill>
          <a:ln w="12700">
            <a:solidFill>
              <a:srgbClr val="1A2744"/>
            </a:solidFill>
            <a:prstDash val="solid"/>
          </a:ln>
        </p:spPr>
      </p:sp>
      <p:sp>
        <p:nvSpPr>
          <p:cNvPr id="3" name="Shape 1"/>
          <p:cNvSpPr/>
          <p:nvPr/>
        </p:nvSpPr>
        <p:spPr>
          <a:xfrm>
            <a:off x="0" y="0"/>
            <a:ext cx="228600" cy="5143500"/>
          </a:xfrm>
          <a:prstGeom prst="rect">
            <a:avLst/>
          </a:prstGeom>
          <a:solidFill>
            <a:srgbClr val="00B4C8"/>
          </a:solidFill>
          <a:ln w="12700">
            <a:solidFill>
              <a:srgbClr val="00B4C8"/>
            </a:solidFill>
            <a:prstDash val="solid"/>
          </a:ln>
        </p:spPr>
      </p:sp>
      <p:sp>
        <p:nvSpPr>
          <p:cNvPr id="4" name="Text 2"/>
          <p:cNvSpPr txBox="1"/>
          <p:nvPr/>
        </p:nvSpPr>
        <p:spPr>
          <a:xfrm>
            <a:off x="548640" y="1097280"/>
            <a:ext cx="2286000" cy="1097280"/>
          </a:xfrm>
          <a:prstGeom prst="rect">
            <a:avLst/>
          </a:prstGeom>
          <a:noFill/>
          <a:ln/>
        </p:spPr>
        <p:txBody>
          <a:bodyPr wrap="square" lIns="0" tIns="0" rIns="0" bIns="0" rtlCol="0" anchor="ctr"/>
          <a:lstStyle/>
          <a:p>
            <a:pPr algn="l" indent="0" marL="0">
              <a:buNone/>
            </a:pPr>
            <a:r>
              <a:rPr lang="en-US" sz="8000" b="1" dirty="0">
                <a:solidFill>
                  <a:srgbClr val="0D3B5E"/>
                </a:solidFill>
              </a:rPr>
              <a:t>A1</a:t>
            </a:r>
            <a:endParaRPr lang="en-US" sz="8000" dirty="0"/>
          </a:p>
        </p:txBody>
      </p:sp>
      <p:sp>
        <p:nvSpPr>
          <p:cNvPr id="5" name="Text 3"/>
          <p:cNvSpPr txBox="1"/>
          <p:nvPr/>
        </p:nvSpPr>
        <p:spPr>
          <a:xfrm>
            <a:off x="548640" y="2148840"/>
            <a:ext cx="8229600" cy="914400"/>
          </a:xfrm>
          <a:prstGeom prst="rect">
            <a:avLst/>
          </a:prstGeom>
          <a:noFill/>
          <a:ln/>
        </p:spPr>
        <p:txBody>
          <a:bodyPr wrap="square" lIns="0" tIns="0" rIns="0" bIns="0" rtlCol="0" anchor="ctr"/>
          <a:lstStyle/>
          <a:p>
            <a:pPr algn="l" indent="0" marL="0">
              <a:buNone/>
            </a:pPr>
            <a:r>
              <a:rPr lang="en-US" sz="3400" b="1" dirty="0">
                <a:solidFill>
                  <a:srgbClr val="FFFFFF"/>
                </a:solidFill>
              </a:rPr>
              <a:t>Penetration Testing</a:t>
            </a:r>
            <a:endParaRPr lang="en-US" sz="3400" dirty="0"/>
          </a:p>
          <a:p>
            <a:pPr algn="l" indent="0" marL="0">
              <a:buNone/>
            </a:pPr>
            <a:r>
              <a:rPr lang="en-US" sz="3400" b="1" dirty="0">
                <a:solidFill>
                  <a:srgbClr val="FFFFFF"/>
                </a:solidFill>
              </a:rPr>
              <a:t>Lifecycle</a:t>
            </a:r>
            <a:endParaRPr lang="en-US" sz="3400" dirty="0"/>
          </a:p>
        </p:txBody>
      </p:sp>
      <p:sp>
        <p:nvSpPr>
          <p:cNvPr id="6" name="Text 4"/>
          <p:cNvSpPr txBox="1"/>
          <p:nvPr/>
        </p:nvSpPr>
        <p:spPr>
          <a:xfrm>
            <a:off x="548640" y="3154680"/>
            <a:ext cx="7772400" cy="457200"/>
          </a:xfrm>
          <a:prstGeom prst="rect">
            <a:avLst/>
          </a:prstGeom>
          <a:noFill/>
          <a:ln/>
        </p:spPr>
        <p:txBody>
          <a:bodyPr wrap="square" lIns="0" tIns="0" rIns="0" bIns="0" rtlCol="0" anchor="ctr"/>
          <a:lstStyle/>
          <a:p>
            <a:pPr algn="l" indent="0" marL="0">
              <a:buNone/>
            </a:pPr>
            <a:r>
              <a:rPr lang="en-US" sz="1600" dirty="0">
                <a:solidFill>
                  <a:srgbClr val="5A7FAA"/>
                </a:solidFill>
              </a:rPr>
              <a:t>From initial scoping through to report delivery and closure</a:t>
            </a:r>
            <a:endParaRPr lang="en-US" sz="1600" dirty="0"/>
          </a:p>
        </p:txBody>
      </p:sp>
      <p:sp>
        <p:nvSpPr>
          <p:cNvPr id="7" name="Text 5"/>
          <p:cNvSpPr txBox="1"/>
          <p:nvPr/>
        </p:nvSpPr>
        <p:spPr>
          <a:xfrm>
            <a:off x="0" y="4892040"/>
            <a:ext cx="9144000" cy="256032"/>
          </a:xfrm>
          <a:prstGeom prst="rect">
            <a:avLst/>
          </a:prstGeom>
          <a:noFill/>
          <a:ln/>
        </p:spPr>
        <p:txBody>
          <a:bodyPr wrap="square" lIns="0" tIns="0" rIns="0" bIns="0" rtlCol="0" anchor="ctr"/>
          <a:lstStyle/>
          <a:p>
            <a:pPr algn="ctr" indent="0" marL="0">
              <a:buNone/>
            </a:pPr>
            <a:r>
              <a:rPr lang="en-US" sz="900" dirty="0">
                <a:solidFill>
                  <a:srgbClr val="5A7FAA"/>
                </a:solidFill>
              </a:rPr>
              <a:t>My Cyber Academy | MCA CREST CPSA - Module A: Soft Skills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w="12700">
            <a:solidFill>
              <a:srgbClr val="FFFFFF"/>
            </a:solidFill>
            <a:prstDash val="solid"/>
          </a:ln>
        </p:spPr>
      </p:sp>
      <p:sp>
        <p:nvSpPr>
          <p:cNvPr id="3" name="Shape 1"/>
          <p:cNvSpPr/>
          <p:nvPr/>
        </p:nvSpPr>
        <p:spPr>
          <a:xfrm>
            <a:off x="0" y="0"/>
            <a:ext cx="9144000" cy="73152"/>
          </a:xfrm>
          <a:prstGeom prst="rect">
            <a:avLst/>
          </a:prstGeom>
          <a:solidFill>
            <a:srgbClr val="00B4C8"/>
          </a:solidFill>
          <a:ln w="12700">
            <a:solidFill>
              <a:srgbClr val="00B4C8"/>
            </a:solidFill>
            <a:prstDash val="solid"/>
          </a:ln>
        </p:spPr>
      </p:sp>
      <p:sp>
        <p:nvSpPr>
          <p:cNvPr id="4" name="Text 2"/>
          <p:cNvSpPr txBox="1"/>
          <p:nvPr/>
        </p:nvSpPr>
        <p:spPr>
          <a:xfrm>
            <a:off x="365760" y="137160"/>
            <a:ext cx="8412480" cy="548640"/>
          </a:xfrm>
          <a:prstGeom prst="rect">
            <a:avLst/>
          </a:prstGeom>
          <a:noFill/>
          <a:ln/>
        </p:spPr>
        <p:txBody>
          <a:bodyPr wrap="square" lIns="0" tIns="0" rIns="0" bIns="0" rtlCol="0" anchor="ctr"/>
          <a:lstStyle/>
          <a:p>
            <a:pPr algn="l" indent="0" marL="0">
              <a:buNone/>
            </a:pPr>
            <a:r>
              <a:rPr lang="en-US" sz="2800" b="1" dirty="0">
                <a:solidFill>
                  <a:srgbClr val="1A2744"/>
                </a:solidFill>
              </a:rPr>
              <a:t>The Penetration Testing Lifecycle</a:t>
            </a:r>
            <a:endParaRPr lang="en-US" sz="2800" dirty="0"/>
          </a:p>
        </p:txBody>
      </p:sp>
      <p:sp>
        <p:nvSpPr>
          <p:cNvPr id="5" name="Shape 3"/>
          <p:cNvSpPr/>
          <p:nvPr/>
        </p:nvSpPr>
        <p:spPr>
          <a:xfrm>
            <a:off x="365760" y="713232"/>
            <a:ext cx="8412480" cy="0"/>
          </a:xfrm>
          <a:prstGeom prst="line">
            <a:avLst/>
          </a:prstGeom>
          <a:noFill/>
          <a:ln w="19050">
            <a:solidFill>
              <a:srgbClr val="00B4C8"/>
            </a:solidFill>
            <a:prstDash val="solid"/>
          </a:ln>
        </p:spPr>
      </p:sp>
      <p:sp>
        <p:nvSpPr>
          <p:cNvPr id="6" name="Shape 4"/>
          <p:cNvSpPr/>
          <p:nvPr/>
        </p:nvSpPr>
        <p:spPr>
          <a:xfrm>
            <a:off x="256032" y="914400"/>
            <a:ext cx="1097280" cy="411480"/>
          </a:xfrm>
          <a:prstGeom prst="rect">
            <a:avLst/>
          </a:prstGeom>
          <a:solidFill>
            <a:srgbClr val="1A5276"/>
          </a:solidFill>
          <a:ln w="12700">
            <a:solidFill>
              <a:srgbClr val="1A5276"/>
            </a:solidFill>
            <a:prstDash val="solid"/>
          </a:ln>
        </p:spPr>
      </p:sp>
      <p:sp>
        <p:nvSpPr>
          <p:cNvPr id="7" name="Text 5"/>
          <p:cNvSpPr txBox="1"/>
          <p:nvPr/>
        </p:nvSpPr>
        <p:spPr>
          <a:xfrm>
            <a:off x="256032" y="914400"/>
            <a:ext cx="320040" cy="411480"/>
          </a:xfrm>
          <a:prstGeom prst="rect">
            <a:avLst/>
          </a:prstGeom>
          <a:noFill/>
          <a:ln/>
        </p:spPr>
        <p:txBody>
          <a:bodyPr wrap="square" lIns="0" tIns="0" rIns="0" bIns="0" rtlCol="0" anchor="ctr"/>
          <a:lstStyle/>
          <a:p>
            <a:pPr algn="ctr" indent="0" marL="0">
              <a:buNone/>
            </a:pPr>
            <a:r>
              <a:rPr lang="en-US" sz="1600" b="1" dirty="0">
                <a:solidFill>
                  <a:srgbClr val="00B4C8"/>
                </a:solidFill>
              </a:rPr>
              <a:t>1</a:t>
            </a:r>
            <a:endParaRPr lang="en-US" sz="1600" dirty="0"/>
          </a:p>
        </p:txBody>
      </p:sp>
      <p:sp>
        <p:nvSpPr>
          <p:cNvPr id="8" name="Text 6"/>
          <p:cNvSpPr txBox="1"/>
          <p:nvPr/>
        </p:nvSpPr>
        <p:spPr>
          <a:xfrm>
            <a:off x="576072" y="914400"/>
            <a:ext cx="777240" cy="411480"/>
          </a:xfrm>
          <a:prstGeom prst="rect">
            <a:avLst/>
          </a:prstGeom>
          <a:noFill/>
          <a:ln/>
        </p:spPr>
        <p:txBody>
          <a:bodyPr wrap="square" lIns="25400" tIns="25400" rIns="25400" bIns="25400" rtlCol="0" anchor="ctr"/>
          <a:lstStyle/>
          <a:p>
            <a:pPr algn="l" indent="0" marL="0">
              <a:buNone/>
            </a:pPr>
            <a:r>
              <a:rPr lang="en-US" sz="900" b="1" dirty="0">
                <a:solidFill>
                  <a:srgbClr val="FFFFFF"/>
                </a:solidFill>
              </a:rPr>
              <a:t>Pre-Engagement</a:t>
            </a:r>
            <a:endParaRPr lang="en-US" sz="900" dirty="0"/>
          </a:p>
        </p:txBody>
      </p:sp>
      <p:sp>
        <p:nvSpPr>
          <p:cNvPr id="9" name="Text 7"/>
          <p:cNvSpPr txBox="1"/>
          <p:nvPr/>
        </p:nvSpPr>
        <p:spPr>
          <a:xfrm>
            <a:off x="256032" y="1371600"/>
            <a:ext cx="1097280" cy="548640"/>
          </a:xfrm>
          <a:prstGeom prst="rect">
            <a:avLst/>
          </a:prstGeom>
          <a:noFill/>
          <a:ln/>
        </p:spPr>
        <p:txBody>
          <a:bodyPr wrap="square" lIns="25400" tIns="25400" rIns="25400" bIns="25400" rtlCol="0" anchor="ctr"/>
          <a:lstStyle/>
          <a:p>
            <a:pPr algn="ctr" indent="0" marL="0">
              <a:buNone/>
            </a:pPr>
            <a:r>
              <a:rPr lang="en-US" sz="900" dirty="0">
                <a:solidFill>
                  <a:srgbClr val="2C3E50"/>
                </a:solidFill>
              </a:rPr>
              <a:t>Scoping</a:t>
            </a:r>
            <a:endParaRPr lang="en-US" sz="900" dirty="0"/>
          </a:p>
          <a:p>
            <a:pPr algn="ctr" indent="0" marL="0">
              <a:buNone/>
            </a:pPr>
            <a:r>
              <a:rPr lang="en-US" sz="900" dirty="0">
                <a:solidFill>
                  <a:srgbClr val="2C3E50"/>
                </a:solidFill>
              </a:rPr>
              <a:t>Contracting</a:t>
            </a:r>
            <a:endParaRPr lang="en-US" sz="900" dirty="0"/>
          </a:p>
        </p:txBody>
      </p:sp>
      <p:sp>
        <p:nvSpPr>
          <p:cNvPr id="10" name="Shape 8"/>
          <p:cNvSpPr/>
          <p:nvPr/>
        </p:nvSpPr>
        <p:spPr>
          <a:xfrm>
            <a:off x="1353312" y="1024128"/>
            <a:ext cx="146304" cy="182880"/>
          </a:xfrm>
          <a:prstGeom prst="rightArrow">
            <a:avLst/>
          </a:prstGeom>
          <a:solidFill>
            <a:srgbClr val="00B4C8"/>
          </a:solidFill>
          <a:ln w="12700">
            <a:solidFill>
              <a:srgbClr val="00B4C8"/>
            </a:solidFill>
            <a:prstDash val="solid"/>
          </a:ln>
        </p:spPr>
      </p:sp>
      <p:sp>
        <p:nvSpPr>
          <p:cNvPr id="11" name="Shape 9"/>
          <p:cNvSpPr/>
          <p:nvPr/>
        </p:nvSpPr>
        <p:spPr>
          <a:xfrm>
            <a:off x="1499616" y="914400"/>
            <a:ext cx="1097280" cy="411480"/>
          </a:xfrm>
          <a:prstGeom prst="rect">
            <a:avLst/>
          </a:prstGeom>
          <a:solidFill>
            <a:srgbClr val="1A5276"/>
          </a:solidFill>
          <a:ln w="12700">
            <a:solidFill>
              <a:srgbClr val="1A5276"/>
            </a:solidFill>
            <a:prstDash val="solid"/>
          </a:ln>
        </p:spPr>
      </p:sp>
      <p:sp>
        <p:nvSpPr>
          <p:cNvPr id="12" name="Text 10"/>
          <p:cNvSpPr txBox="1"/>
          <p:nvPr/>
        </p:nvSpPr>
        <p:spPr>
          <a:xfrm>
            <a:off x="1499616" y="914400"/>
            <a:ext cx="320040" cy="411480"/>
          </a:xfrm>
          <a:prstGeom prst="rect">
            <a:avLst/>
          </a:prstGeom>
          <a:noFill/>
          <a:ln/>
        </p:spPr>
        <p:txBody>
          <a:bodyPr wrap="square" lIns="0" tIns="0" rIns="0" bIns="0" rtlCol="0" anchor="ctr"/>
          <a:lstStyle/>
          <a:p>
            <a:pPr algn="ctr" indent="0" marL="0">
              <a:buNone/>
            </a:pPr>
            <a:r>
              <a:rPr lang="en-US" sz="1600" b="1" dirty="0">
                <a:solidFill>
                  <a:srgbClr val="00B4C8"/>
                </a:solidFill>
              </a:rPr>
              <a:t>2</a:t>
            </a:r>
            <a:endParaRPr lang="en-US" sz="1600" dirty="0"/>
          </a:p>
        </p:txBody>
      </p:sp>
      <p:sp>
        <p:nvSpPr>
          <p:cNvPr id="13" name="Text 11"/>
          <p:cNvSpPr txBox="1"/>
          <p:nvPr/>
        </p:nvSpPr>
        <p:spPr>
          <a:xfrm>
            <a:off x="1819656" y="914400"/>
            <a:ext cx="777240" cy="411480"/>
          </a:xfrm>
          <a:prstGeom prst="rect">
            <a:avLst/>
          </a:prstGeom>
          <a:noFill/>
          <a:ln/>
        </p:spPr>
        <p:txBody>
          <a:bodyPr wrap="square" lIns="25400" tIns="25400" rIns="25400" bIns="25400" rtlCol="0" anchor="ctr"/>
          <a:lstStyle/>
          <a:p>
            <a:pPr algn="l" indent="0" marL="0">
              <a:buNone/>
            </a:pPr>
            <a:r>
              <a:rPr lang="en-US" sz="900" b="1" dirty="0">
                <a:solidFill>
                  <a:srgbClr val="FFFFFF"/>
                </a:solidFill>
              </a:rPr>
              <a:t>Engagement Pack</a:t>
            </a:r>
            <a:endParaRPr lang="en-US" sz="900" dirty="0"/>
          </a:p>
        </p:txBody>
      </p:sp>
      <p:sp>
        <p:nvSpPr>
          <p:cNvPr id="14" name="Text 12"/>
          <p:cNvSpPr txBox="1"/>
          <p:nvPr/>
        </p:nvSpPr>
        <p:spPr>
          <a:xfrm>
            <a:off x="1499616" y="1371600"/>
            <a:ext cx="1097280" cy="548640"/>
          </a:xfrm>
          <a:prstGeom prst="rect">
            <a:avLst/>
          </a:prstGeom>
          <a:noFill/>
          <a:ln/>
        </p:spPr>
        <p:txBody>
          <a:bodyPr wrap="square" lIns="25400" tIns="25400" rIns="25400" bIns="25400" rtlCol="0" anchor="ctr"/>
          <a:lstStyle/>
          <a:p>
            <a:pPr algn="ctr" indent="0" marL="0">
              <a:buNone/>
            </a:pPr>
            <a:r>
              <a:rPr lang="en-US" sz="900" dirty="0">
                <a:solidFill>
                  <a:srgbClr val="2C3E50"/>
                </a:solidFill>
              </a:rPr>
              <a:t>Rules of Eng.</a:t>
            </a:r>
            <a:endParaRPr lang="en-US" sz="900" dirty="0"/>
          </a:p>
          <a:p>
            <a:pPr algn="ctr" indent="0" marL="0">
              <a:buNone/>
            </a:pPr>
            <a:r>
              <a:rPr lang="en-US" sz="900" dirty="0">
                <a:solidFill>
                  <a:srgbClr val="2C3E50"/>
                </a:solidFill>
              </a:rPr>
              <a:t>Permission Letter</a:t>
            </a:r>
            <a:endParaRPr lang="en-US" sz="900" dirty="0"/>
          </a:p>
        </p:txBody>
      </p:sp>
      <p:sp>
        <p:nvSpPr>
          <p:cNvPr id="15" name="Shape 13"/>
          <p:cNvSpPr/>
          <p:nvPr/>
        </p:nvSpPr>
        <p:spPr>
          <a:xfrm>
            <a:off x="2596896" y="1024128"/>
            <a:ext cx="146304" cy="182880"/>
          </a:xfrm>
          <a:prstGeom prst="rightArrow">
            <a:avLst/>
          </a:prstGeom>
          <a:solidFill>
            <a:srgbClr val="00B4C8"/>
          </a:solidFill>
          <a:ln w="12700">
            <a:solidFill>
              <a:srgbClr val="00B4C8"/>
            </a:solidFill>
            <a:prstDash val="solid"/>
          </a:ln>
        </p:spPr>
      </p:sp>
      <p:sp>
        <p:nvSpPr>
          <p:cNvPr id="16" name="Shape 14"/>
          <p:cNvSpPr/>
          <p:nvPr/>
        </p:nvSpPr>
        <p:spPr>
          <a:xfrm>
            <a:off x="2743200" y="914400"/>
            <a:ext cx="1097280" cy="411480"/>
          </a:xfrm>
          <a:prstGeom prst="rect">
            <a:avLst/>
          </a:prstGeom>
          <a:solidFill>
            <a:srgbClr val="0D3B5E"/>
          </a:solidFill>
          <a:ln w="12700">
            <a:solidFill>
              <a:srgbClr val="0D3B5E"/>
            </a:solidFill>
            <a:prstDash val="solid"/>
          </a:ln>
        </p:spPr>
      </p:sp>
      <p:sp>
        <p:nvSpPr>
          <p:cNvPr id="17" name="Text 15"/>
          <p:cNvSpPr txBox="1"/>
          <p:nvPr/>
        </p:nvSpPr>
        <p:spPr>
          <a:xfrm>
            <a:off x="2743200" y="914400"/>
            <a:ext cx="320040" cy="411480"/>
          </a:xfrm>
          <a:prstGeom prst="rect">
            <a:avLst/>
          </a:prstGeom>
          <a:noFill/>
          <a:ln/>
        </p:spPr>
        <p:txBody>
          <a:bodyPr wrap="square" lIns="0" tIns="0" rIns="0" bIns="0" rtlCol="0" anchor="ctr"/>
          <a:lstStyle/>
          <a:p>
            <a:pPr algn="ctr" indent="0" marL="0">
              <a:buNone/>
            </a:pPr>
            <a:r>
              <a:rPr lang="en-US" sz="1600" b="1" dirty="0">
                <a:solidFill>
                  <a:srgbClr val="00B4C8"/>
                </a:solidFill>
              </a:rPr>
              <a:t>3</a:t>
            </a:r>
            <a:endParaRPr lang="en-US" sz="1600" dirty="0"/>
          </a:p>
        </p:txBody>
      </p:sp>
      <p:sp>
        <p:nvSpPr>
          <p:cNvPr id="18" name="Text 16"/>
          <p:cNvSpPr txBox="1"/>
          <p:nvPr/>
        </p:nvSpPr>
        <p:spPr>
          <a:xfrm>
            <a:off x="3063240" y="914400"/>
            <a:ext cx="777240" cy="411480"/>
          </a:xfrm>
          <a:prstGeom prst="rect">
            <a:avLst/>
          </a:prstGeom>
          <a:noFill/>
          <a:ln/>
        </p:spPr>
        <p:txBody>
          <a:bodyPr wrap="square" lIns="25400" tIns="25400" rIns="25400" bIns="25400" rtlCol="0" anchor="ctr"/>
          <a:lstStyle/>
          <a:p>
            <a:pPr algn="l" indent="0" marL="0">
              <a:buNone/>
            </a:pPr>
            <a:r>
              <a:rPr lang="en-US" sz="900" b="1" dirty="0">
                <a:solidFill>
                  <a:srgbClr val="FFFFFF"/>
                </a:solidFill>
              </a:rPr>
              <a:t>Reconnaissance</a:t>
            </a:r>
            <a:endParaRPr lang="en-US" sz="900" dirty="0"/>
          </a:p>
        </p:txBody>
      </p:sp>
      <p:sp>
        <p:nvSpPr>
          <p:cNvPr id="19" name="Text 17"/>
          <p:cNvSpPr txBox="1"/>
          <p:nvPr/>
        </p:nvSpPr>
        <p:spPr>
          <a:xfrm>
            <a:off x="2743200" y="1371600"/>
            <a:ext cx="1097280" cy="548640"/>
          </a:xfrm>
          <a:prstGeom prst="rect">
            <a:avLst/>
          </a:prstGeom>
          <a:noFill/>
          <a:ln/>
        </p:spPr>
        <p:txBody>
          <a:bodyPr wrap="square" lIns="25400" tIns="25400" rIns="25400" bIns="25400" rtlCol="0" anchor="ctr"/>
          <a:lstStyle/>
          <a:p>
            <a:pPr algn="ctr" indent="0" marL="0">
              <a:buNone/>
            </a:pPr>
            <a:r>
              <a:rPr lang="en-US" sz="900" dirty="0">
                <a:solidFill>
                  <a:srgbClr val="2C3E50"/>
                </a:solidFill>
              </a:rPr>
              <a:t>OSINT</a:t>
            </a:r>
            <a:endParaRPr lang="en-US" sz="900" dirty="0"/>
          </a:p>
          <a:p>
            <a:pPr algn="ctr" indent="0" marL="0">
              <a:buNone/>
            </a:pPr>
            <a:r>
              <a:rPr lang="en-US" sz="900" dirty="0">
                <a:solidFill>
                  <a:srgbClr val="2C3E50"/>
                </a:solidFill>
              </a:rPr>
              <a:t>Network mapping</a:t>
            </a:r>
            <a:endParaRPr lang="en-US" sz="900" dirty="0"/>
          </a:p>
        </p:txBody>
      </p:sp>
      <p:sp>
        <p:nvSpPr>
          <p:cNvPr id="20" name="Shape 18"/>
          <p:cNvSpPr/>
          <p:nvPr/>
        </p:nvSpPr>
        <p:spPr>
          <a:xfrm>
            <a:off x="3840480" y="1024128"/>
            <a:ext cx="146304" cy="182880"/>
          </a:xfrm>
          <a:prstGeom prst="rightArrow">
            <a:avLst/>
          </a:prstGeom>
          <a:solidFill>
            <a:srgbClr val="00B4C8"/>
          </a:solidFill>
          <a:ln w="12700">
            <a:solidFill>
              <a:srgbClr val="00B4C8"/>
            </a:solidFill>
            <a:prstDash val="solid"/>
          </a:ln>
        </p:spPr>
      </p:sp>
      <p:sp>
        <p:nvSpPr>
          <p:cNvPr id="21" name="Shape 19"/>
          <p:cNvSpPr/>
          <p:nvPr/>
        </p:nvSpPr>
        <p:spPr>
          <a:xfrm>
            <a:off x="3986784" y="914400"/>
            <a:ext cx="1097280" cy="411480"/>
          </a:xfrm>
          <a:prstGeom prst="rect">
            <a:avLst/>
          </a:prstGeom>
          <a:solidFill>
            <a:srgbClr val="0D3B5E"/>
          </a:solidFill>
          <a:ln w="12700">
            <a:solidFill>
              <a:srgbClr val="0D3B5E"/>
            </a:solidFill>
            <a:prstDash val="solid"/>
          </a:ln>
        </p:spPr>
      </p:sp>
      <p:sp>
        <p:nvSpPr>
          <p:cNvPr id="22" name="Text 20"/>
          <p:cNvSpPr txBox="1"/>
          <p:nvPr/>
        </p:nvSpPr>
        <p:spPr>
          <a:xfrm>
            <a:off x="3986784" y="914400"/>
            <a:ext cx="320040" cy="411480"/>
          </a:xfrm>
          <a:prstGeom prst="rect">
            <a:avLst/>
          </a:prstGeom>
          <a:noFill/>
          <a:ln/>
        </p:spPr>
        <p:txBody>
          <a:bodyPr wrap="square" lIns="0" tIns="0" rIns="0" bIns="0" rtlCol="0" anchor="ctr"/>
          <a:lstStyle/>
          <a:p>
            <a:pPr algn="ctr" indent="0" marL="0">
              <a:buNone/>
            </a:pPr>
            <a:r>
              <a:rPr lang="en-US" sz="1600" b="1" dirty="0">
                <a:solidFill>
                  <a:srgbClr val="00B4C8"/>
                </a:solidFill>
              </a:rPr>
              <a:t>4</a:t>
            </a:r>
            <a:endParaRPr lang="en-US" sz="1600" dirty="0"/>
          </a:p>
        </p:txBody>
      </p:sp>
      <p:sp>
        <p:nvSpPr>
          <p:cNvPr id="23" name="Text 21"/>
          <p:cNvSpPr txBox="1"/>
          <p:nvPr/>
        </p:nvSpPr>
        <p:spPr>
          <a:xfrm>
            <a:off x="4306824" y="914400"/>
            <a:ext cx="777240" cy="411480"/>
          </a:xfrm>
          <a:prstGeom prst="rect">
            <a:avLst/>
          </a:prstGeom>
          <a:noFill/>
          <a:ln/>
        </p:spPr>
        <p:txBody>
          <a:bodyPr wrap="square" lIns="25400" tIns="25400" rIns="25400" bIns="25400" rtlCol="0" anchor="ctr"/>
          <a:lstStyle/>
          <a:p>
            <a:pPr algn="l" indent="0" marL="0">
              <a:buNone/>
            </a:pPr>
            <a:r>
              <a:rPr lang="en-US" sz="900" b="1" dirty="0">
                <a:solidFill>
                  <a:srgbClr val="FFFFFF"/>
                </a:solidFill>
              </a:rPr>
              <a:t>Enumeration</a:t>
            </a:r>
            <a:endParaRPr lang="en-US" sz="900" dirty="0"/>
          </a:p>
        </p:txBody>
      </p:sp>
      <p:sp>
        <p:nvSpPr>
          <p:cNvPr id="24" name="Text 22"/>
          <p:cNvSpPr txBox="1"/>
          <p:nvPr/>
        </p:nvSpPr>
        <p:spPr>
          <a:xfrm>
            <a:off x="3986784" y="1371600"/>
            <a:ext cx="1097280" cy="548640"/>
          </a:xfrm>
          <a:prstGeom prst="rect">
            <a:avLst/>
          </a:prstGeom>
          <a:noFill/>
          <a:ln/>
        </p:spPr>
        <p:txBody>
          <a:bodyPr wrap="square" lIns="25400" tIns="25400" rIns="25400" bIns="25400" rtlCol="0" anchor="ctr"/>
          <a:lstStyle/>
          <a:p>
            <a:pPr algn="ctr" indent="0" marL="0">
              <a:buNone/>
            </a:pPr>
            <a:r>
              <a:rPr lang="en-US" sz="900" dirty="0">
                <a:solidFill>
                  <a:srgbClr val="2C3E50"/>
                </a:solidFill>
              </a:rPr>
              <a:t>Port scan</a:t>
            </a:r>
            <a:endParaRPr lang="en-US" sz="900" dirty="0"/>
          </a:p>
          <a:p>
            <a:pPr algn="ctr" indent="0" marL="0">
              <a:buNone/>
            </a:pPr>
            <a:r>
              <a:rPr lang="en-US" sz="900" dirty="0">
                <a:solidFill>
                  <a:srgbClr val="2C3E50"/>
                </a:solidFill>
              </a:rPr>
              <a:t>Service version</a:t>
            </a:r>
            <a:endParaRPr lang="en-US" sz="900" dirty="0"/>
          </a:p>
        </p:txBody>
      </p:sp>
      <p:sp>
        <p:nvSpPr>
          <p:cNvPr id="25" name="Shape 23"/>
          <p:cNvSpPr/>
          <p:nvPr/>
        </p:nvSpPr>
        <p:spPr>
          <a:xfrm>
            <a:off x="5084064" y="1024128"/>
            <a:ext cx="146304" cy="182880"/>
          </a:xfrm>
          <a:prstGeom prst="rightArrow">
            <a:avLst/>
          </a:prstGeom>
          <a:solidFill>
            <a:srgbClr val="00B4C8"/>
          </a:solidFill>
          <a:ln w="12700">
            <a:solidFill>
              <a:srgbClr val="00B4C8"/>
            </a:solidFill>
            <a:prstDash val="solid"/>
          </a:ln>
        </p:spPr>
      </p:sp>
      <p:sp>
        <p:nvSpPr>
          <p:cNvPr id="26" name="Shape 24"/>
          <p:cNvSpPr/>
          <p:nvPr/>
        </p:nvSpPr>
        <p:spPr>
          <a:xfrm>
            <a:off x="5230368" y="914400"/>
            <a:ext cx="1097280" cy="411480"/>
          </a:xfrm>
          <a:prstGeom prst="rect">
            <a:avLst/>
          </a:prstGeom>
          <a:solidFill>
            <a:srgbClr val="0D3B5E"/>
          </a:solidFill>
          <a:ln w="12700">
            <a:solidFill>
              <a:srgbClr val="0D3B5E"/>
            </a:solidFill>
            <a:prstDash val="solid"/>
          </a:ln>
        </p:spPr>
      </p:sp>
      <p:sp>
        <p:nvSpPr>
          <p:cNvPr id="27" name="Text 25"/>
          <p:cNvSpPr txBox="1"/>
          <p:nvPr/>
        </p:nvSpPr>
        <p:spPr>
          <a:xfrm>
            <a:off x="5230368" y="914400"/>
            <a:ext cx="320040" cy="411480"/>
          </a:xfrm>
          <a:prstGeom prst="rect">
            <a:avLst/>
          </a:prstGeom>
          <a:noFill/>
          <a:ln/>
        </p:spPr>
        <p:txBody>
          <a:bodyPr wrap="square" lIns="0" tIns="0" rIns="0" bIns="0" rtlCol="0" anchor="ctr"/>
          <a:lstStyle/>
          <a:p>
            <a:pPr algn="ctr" indent="0" marL="0">
              <a:buNone/>
            </a:pPr>
            <a:r>
              <a:rPr lang="en-US" sz="1600" b="1" dirty="0">
                <a:solidFill>
                  <a:srgbClr val="00B4C8"/>
                </a:solidFill>
              </a:rPr>
              <a:t>5</a:t>
            </a:r>
            <a:endParaRPr lang="en-US" sz="1600" dirty="0"/>
          </a:p>
        </p:txBody>
      </p:sp>
      <p:sp>
        <p:nvSpPr>
          <p:cNvPr id="28" name="Text 26"/>
          <p:cNvSpPr txBox="1"/>
          <p:nvPr/>
        </p:nvSpPr>
        <p:spPr>
          <a:xfrm>
            <a:off x="5550408" y="914400"/>
            <a:ext cx="777240" cy="411480"/>
          </a:xfrm>
          <a:prstGeom prst="rect">
            <a:avLst/>
          </a:prstGeom>
          <a:noFill/>
          <a:ln/>
        </p:spPr>
        <p:txBody>
          <a:bodyPr wrap="square" lIns="25400" tIns="25400" rIns="25400" bIns="25400" rtlCol="0" anchor="ctr"/>
          <a:lstStyle/>
          <a:p>
            <a:pPr algn="l" indent="0" marL="0">
              <a:buNone/>
            </a:pPr>
            <a:r>
              <a:rPr lang="en-US" sz="900" b="1" dirty="0">
                <a:solidFill>
                  <a:srgbClr val="FFFFFF"/>
                </a:solidFill>
              </a:rPr>
              <a:t>Exploitation</a:t>
            </a:r>
            <a:endParaRPr lang="en-US" sz="900" dirty="0"/>
          </a:p>
        </p:txBody>
      </p:sp>
      <p:sp>
        <p:nvSpPr>
          <p:cNvPr id="29" name="Text 27"/>
          <p:cNvSpPr txBox="1"/>
          <p:nvPr/>
        </p:nvSpPr>
        <p:spPr>
          <a:xfrm>
            <a:off x="5230368" y="1371600"/>
            <a:ext cx="1097280" cy="548640"/>
          </a:xfrm>
          <a:prstGeom prst="rect">
            <a:avLst/>
          </a:prstGeom>
          <a:noFill/>
          <a:ln/>
        </p:spPr>
        <p:txBody>
          <a:bodyPr wrap="square" lIns="25400" tIns="25400" rIns="25400" bIns="25400" rtlCol="0" anchor="ctr"/>
          <a:lstStyle/>
          <a:p>
            <a:pPr algn="ctr" indent="0" marL="0">
              <a:buNone/>
            </a:pPr>
            <a:r>
              <a:rPr lang="en-US" sz="900" dirty="0">
                <a:solidFill>
                  <a:srgbClr val="2C3E50"/>
                </a:solidFill>
              </a:rPr>
              <a:t>Vulnerabilities</a:t>
            </a:r>
            <a:endParaRPr lang="en-US" sz="900" dirty="0"/>
          </a:p>
          <a:p>
            <a:pPr algn="ctr" indent="0" marL="0">
              <a:buNone/>
            </a:pPr>
            <a:r>
              <a:rPr lang="en-US" sz="900" dirty="0">
                <a:solidFill>
                  <a:srgbClr val="2C3E50"/>
                </a:solidFill>
              </a:rPr>
              <a:t>Privilege escalation</a:t>
            </a:r>
            <a:endParaRPr lang="en-US" sz="900" dirty="0"/>
          </a:p>
        </p:txBody>
      </p:sp>
      <p:sp>
        <p:nvSpPr>
          <p:cNvPr id="30" name="Shape 28"/>
          <p:cNvSpPr/>
          <p:nvPr/>
        </p:nvSpPr>
        <p:spPr>
          <a:xfrm>
            <a:off x="6327648" y="1024128"/>
            <a:ext cx="146304" cy="182880"/>
          </a:xfrm>
          <a:prstGeom prst="rightArrow">
            <a:avLst/>
          </a:prstGeom>
          <a:solidFill>
            <a:srgbClr val="00B4C8"/>
          </a:solidFill>
          <a:ln w="12700">
            <a:solidFill>
              <a:srgbClr val="00B4C8"/>
            </a:solidFill>
            <a:prstDash val="solid"/>
          </a:ln>
        </p:spPr>
      </p:sp>
      <p:sp>
        <p:nvSpPr>
          <p:cNvPr id="31" name="Shape 29"/>
          <p:cNvSpPr/>
          <p:nvPr/>
        </p:nvSpPr>
        <p:spPr>
          <a:xfrm>
            <a:off x="6473952" y="914400"/>
            <a:ext cx="1097280" cy="411480"/>
          </a:xfrm>
          <a:prstGeom prst="rect">
            <a:avLst/>
          </a:prstGeom>
          <a:solidFill>
            <a:srgbClr val="0D3B5E"/>
          </a:solidFill>
          <a:ln w="12700">
            <a:solidFill>
              <a:srgbClr val="0D3B5E"/>
            </a:solidFill>
            <a:prstDash val="solid"/>
          </a:ln>
        </p:spPr>
      </p:sp>
      <p:sp>
        <p:nvSpPr>
          <p:cNvPr id="32" name="Text 30"/>
          <p:cNvSpPr txBox="1"/>
          <p:nvPr/>
        </p:nvSpPr>
        <p:spPr>
          <a:xfrm>
            <a:off x="6473952" y="914400"/>
            <a:ext cx="320040" cy="411480"/>
          </a:xfrm>
          <a:prstGeom prst="rect">
            <a:avLst/>
          </a:prstGeom>
          <a:noFill/>
          <a:ln/>
        </p:spPr>
        <p:txBody>
          <a:bodyPr wrap="square" lIns="0" tIns="0" rIns="0" bIns="0" rtlCol="0" anchor="ctr"/>
          <a:lstStyle/>
          <a:p>
            <a:pPr algn="ctr" indent="0" marL="0">
              <a:buNone/>
            </a:pPr>
            <a:r>
              <a:rPr lang="en-US" sz="1600" b="1" dirty="0">
                <a:solidFill>
                  <a:srgbClr val="00B4C8"/>
                </a:solidFill>
              </a:rPr>
              <a:t>6</a:t>
            </a:r>
            <a:endParaRPr lang="en-US" sz="1600" dirty="0"/>
          </a:p>
        </p:txBody>
      </p:sp>
      <p:sp>
        <p:nvSpPr>
          <p:cNvPr id="33" name="Text 31"/>
          <p:cNvSpPr txBox="1"/>
          <p:nvPr/>
        </p:nvSpPr>
        <p:spPr>
          <a:xfrm>
            <a:off x="6793992" y="914400"/>
            <a:ext cx="777240" cy="411480"/>
          </a:xfrm>
          <a:prstGeom prst="rect">
            <a:avLst/>
          </a:prstGeom>
          <a:noFill/>
          <a:ln/>
        </p:spPr>
        <p:txBody>
          <a:bodyPr wrap="square" lIns="25400" tIns="25400" rIns="25400" bIns="25400" rtlCol="0" anchor="ctr"/>
          <a:lstStyle/>
          <a:p>
            <a:pPr algn="l" indent="0" marL="0">
              <a:buNone/>
            </a:pPr>
            <a:r>
              <a:rPr lang="en-US" sz="900" b="1" dirty="0">
                <a:solidFill>
                  <a:srgbClr val="FFFFFF"/>
                </a:solidFill>
              </a:rPr>
              <a:t>Post-Exploit</a:t>
            </a:r>
            <a:endParaRPr lang="en-US" sz="900" dirty="0"/>
          </a:p>
        </p:txBody>
      </p:sp>
      <p:sp>
        <p:nvSpPr>
          <p:cNvPr id="34" name="Text 32"/>
          <p:cNvSpPr txBox="1"/>
          <p:nvPr/>
        </p:nvSpPr>
        <p:spPr>
          <a:xfrm>
            <a:off x="6473952" y="1371600"/>
            <a:ext cx="1097280" cy="548640"/>
          </a:xfrm>
          <a:prstGeom prst="rect">
            <a:avLst/>
          </a:prstGeom>
          <a:noFill/>
          <a:ln/>
        </p:spPr>
        <p:txBody>
          <a:bodyPr wrap="square" lIns="25400" tIns="25400" rIns="25400" bIns="25400" rtlCol="0" anchor="ctr"/>
          <a:lstStyle/>
          <a:p>
            <a:pPr algn="ctr" indent="0" marL="0">
              <a:buNone/>
            </a:pPr>
            <a:r>
              <a:rPr lang="en-US" sz="900" dirty="0">
                <a:solidFill>
                  <a:srgbClr val="2C3E50"/>
                </a:solidFill>
              </a:rPr>
              <a:t>Persistence</a:t>
            </a:r>
            <a:endParaRPr lang="en-US" sz="900" dirty="0"/>
          </a:p>
          <a:p>
            <a:pPr algn="ctr" indent="0" marL="0">
              <a:buNone/>
            </a:pPr>
            <a:r>
              <a:rPr lang="en-US" sz="900" dirty="0">
                <a:solidFill>
                  <a:srgbClr val="2C3E50"/>
                </a:solidFill>
              </a:rPr>
              <a:t>Lateral movement</a:t>
            </a:r>
            <a:endParaRPr lang="en-US" sz="900" dirty="0"/>
          </a:p>
        </p:txBody>
      </p:sp>
      <p:sp>
        <p:nvSpPr>
          <p:cNvPr id="35" name="Shape 33"/>
          <p:cNvSpPr/>
          <p:nvPr/>
        </p:nvSpPr>
        <p:spPr>
          <a:xfrm>
            <a:off x="7571232" y="1024128"/>
            <a:ext cx="146304" cy="182880"/>
          </a:xfrm>
          <a:prstGeom prst="rightArrow">
            <a:avLst/>
          </a:prstGeom>
          <a:solidFill>
            <a:srgbClr val="00B4C8"/>
          </a:solidFill>
          <a:ln w="12700">
            <a:solidFill>
              <a:srgbClr val="00B4C8"/>
            </a:solidFill>
            <a:prstDash val="solid"/>
          </a:ln>
        </p:spPr>
      </p:sp>
      <p:sp>
        <p:nvSpPr>
          <p:cNvPr id="36" name="Shape 34"/>
          <p:cNvSpPr/>
          <p:nvPr/>
        </p:nvSpPr>
        <p:spPr>
          <a:xfrm>
            <a:off x="7717536" y="914400"/>
            <a:ext cx="1097280" cy="411480"/>
          </a:xfrm>
          <a:prstGeom prst="rect">
            <a:avLst/>
          </a:prstGeom>
          <a:solidFill>
            <a:srgbClr val="005A5B"/>
          </a:solidFill>
          <a:ln w="12700">
            <a:solidFill>
              <a:srgbClr val="005A5B"/>
            </a:solidFill>
            <a:prstDash val="solid"/>
          </a:ln>
        </p:spPr>
      </p:sp>
      <p:sp>
        <p:nvSpPr>
          <p:cNvPr id="37" name="Text 35"/>
          <p:cNvSpPr txBox="1"/>
          <p:nvPr/>
        </p:nvSpPr>
        <p:spPr>
          <a:xfrm>
            <a:off x="7717536" y="914400"/>
            <a:ext cx="320040" cy="411480"/>
          </a:xfrm>
          <a:prstGeom prst="rect">
            <a:avLst/>
          </a:prstGeom>
          <a:noFill/>
          <a:ln/>
        </p:spPr>
        <p:txBody>
          <a:bodyPr wrap="square" lIns="0" tIns="0" rIns="0" bIns="0" rtlCol="0" anchor="ctr"/>
          <a:lstStyle/>
          <a:p>
            <a:pPr algn="ctr" indent="0" marL="0">
              <a:buNone/>
            </a:pPr>
            <a:r>
              <a:rPr lang="en-US" sz="1600" b="1" dirty="0">
                <a:solidFill>
                  <a:srgbClr val="00B4C8"/>
                </a:solidFill>
              </a:rPr>
              <a:t>7</a:t>
            </a:r>
            <a:endParaRPr lang="en-US" sz="1600" dirty="0"/>
          </a:p>
        </p:txBody>
      </p:sp>
      <p:sp>
        <p:nvSpPr>
          <p:cNvPr id="38" name="Text 36"/>
          <p:cNvSpPr txBox="1"/>
          <p:nvPr/>
        </p:nvSpPr>
        <p:spPr>
          <a:xfrm>
            <a:off x="8037576" y="914400"/>
            <a:ext cx="777240" cy="411480"/>
          </a:xfrm>
          <a:prstGeom prst="rect">
            <a:avLst/>
          </a:prstGeom>
          <a:noFill/>
          <a:ln/>
        </p:spPr>
        <p:txBody>
          <a:bodyPr wrap="square" lIns="25400" tIns="25400" rIns="25400" bIns="25400" rtlCol="0" anchor="ctr"/>
          <a:lstStyle/>
          <a:p>
            <a:pPr algn="l" indent="0" marL="0">
              <a:buNone/>
            </a:pPr>
            <a:r>
              <a:rPr lang="en-US" sz="900" b="1" dirty="0">
                <a:solidFill>
                  <a:srgbClr val="FFFFFF"/>
                </a:solidFill>
              </a:rPr>
              <a:t>Reporting</a:t>
            </a:r>
            <a:endParaRPr lang="en-US" sz="900" dirty="0"/>
          </a:p>
        </p:txBody>
      </p:sp>
      <p:sp>
        <p:nvSpPr>
          <p:cNvPr id="39" name="Text 37"/>
          <p:cNvSpPr txBox="1"/>
          <p:nvPr/>
        </p:nvSpPr>
        <p:spPr>
          <a:xfrm>
            <a:off x="7717536" y="1371600"/>
            <a:ext cx="1097280" cy="548640"/>
          </a:xfrm>
          <a:prstGeom prst="rect">
            <a:avLst/>
          </a:prstGeom>
          <a:noFill/>
          <a:ln/>
        </p:spPr>
        <p:txBody>
          <a:bodyPr wrap="square" lIns="25400" tIns="25400" rIns="25400" bIns="25400" rtlCol="0" anchor="ctr"/>
          <a:lstStyle/>
          <a:p>
            <a:pPr algn="ctr" indent="0" marL="0">
              <a:buNone/>
            </a:pPr>
            <a:r>
              <a:rPr lang="en-US" sz="900" dirty="0">
                <a:solidFill>
                  <a:srgbClr val="2C3E50"/>
                </a:solidFill>
              </a:rPr>
              <a:t>Findings</a:t>
            </a:r>
            <a:endParaRPr lang="en-US" sz="900" dirty="0"/>
          </a:p>
          <a:p>
            <a:pPr algn="ctr" indent="0" marL="0">
              <a:buNone/>
            </a:pPr>
            <a:r>
              <a:rPr lang="en-US" sz="900" dirty="0">
                <a:solidFill>
                  <a:srgbClr val="2C3E50"/>
                </a:solidFill>
              </a:rPr>
              <a:t>Remediation</a:t>
            </a:r>
            <a:endParaRPr lang="en-US" sz="900" dirty="0"/>
          </a:p>
        </p:txBody>
      </p:sp>
      <p:sp>
        <p:nvSpPr>
          <p:cNvPr id="40" name="Shape 38"/>
          <p:cNvSpPr/>
          <p:nvPr/>
        </p:nvSpPr>
        <p:spPr>
          <a:xfrm>
            <a:off x="274320" y="2103120"/>
            <a:ext cx="8321040" cy="2651760"/>
          </a:xfrm>
          <a:prstGeom prst="rect">
            <a:avLst/>
          </a:prstGeom>
          <a:solidFill>
            <a:srgbClr val="EEF4FB"/>
          </a:solidFill>
          <a:ln w="12700">
            <a:solidFill>
              <a:srgbClr val="00B4C8"/>
            </a:solidFill>
            <a:prstDash val="solid"/>
          </a:ln>
        </p:spPr>
      </p:sp>
      <p:sp>
        <p:nvSpPr>
          <p:cNvPr id="41" name="Text 39"/>
          <p:cNvSpPr txBox="1"/>
          <p:nvPr/>
        </p:nvSpPr>
        <p:spPr>
          <a:xfrm>
            <a:off x="457200" y="2212848"/>
            <a:ext cx="8046720" cy="320040"/>
          </a:xfrm>
          <a:prstGeom prst="rect">
            <a:avLst/>
          </a:prstGeom>
          <a:noFill/>
          <a:ln/>
        </p:spPr>
        <p:txBody>
          <a:bodyPr wrap="square" lIns="0" tIns="0" rIns="0" bIns="0" rtlCol="0" anchor="ctr"/>
          <a:lstStyle/>
          <a:p>
            <a:pPr indent="0" marL="0">
              <a:buNone/>
            </a:pPr>
            <a:r>
              <a:rPr lang="en-US" sz="1400" b="1" dirty="0">
                <a:solidFill>
                  <a:srgbClr val="1A2744"/>
                </a:solidFill>
              </a:rPr>
              <a:t>Syntex Solutions - Where Each Phase Applies</a:t>
            </a:r>
            <a:endParaRPr lang="en-US" sz="1400" dirty="0"/>
          </a:p>
        </p:txBody>
      </p:sp>
      <p:sp>
        <p:nvSpPr>
          <p:cNvPr id="42" name="Shape 40"/>
          <p:cNvSpPr/>
          <p:nvPr/>
        </p:nvSpPr>
        <p:spPr>
          <a:xfrm>
            <a:off x="457200" y="2606040"/>
            <a:ext cx="1828800" cy="347472"/>
          </a:xfrm>
          <a:prstGeom prst="rect">
            <a:avLst/>
          </a:prstGeom>
          <a:solidFill>
            <a:srgbClr val="00B4C8"/>
          </a:solidFill>
          <a:ln w="12700">
            <a:solidFill>
              <a:srgbClr val="00B4C8"/>
            </a:solidFill>
            <a:prstDash val="solid"/>
          </a:ln>
        </p:spPr>
      </p:sp>
      <p:sp>
        <p:nvSpPr>
          <p:cNvPr id="43" name="Text 41"/>
          <p:cNvSpPr txBox="1"/>
          <p:nvPr/>
        </p:nvSpPr>
        <p:spPr>
          <a:xfrm>
            <a:off x="457200" y="2606040"/>
            <a:ext cx="1828800" cy="347472"/>
          </a:xfrm>
          <a:prstGeom prst="rect">
            <a:avLst/>
          </a:prstGeom>
          <a:noFill/>
          <a:ln/>
        </p:spPr>
        <p:txBody>
          <a:bodyPr wrap="square" lIns="0" tIns="0" rIns="0" bIns="0" rtlCol="0" anchor="ctr"/>
          <a:lstStyle/>
          <a:p>
            <a:pPr algn="ctr" indent="0" marL="0">
              <a:buNone/>
            </a:pPr>
            <a:r>
              <a:rPr lang="en-US" sz="1000" b="1" dirty="0">
                <a:solidFill>
                  <a:srgbClr val="FFFFFF"/>
                </a:solidFill>
              </a:rPr>
              <a:t>Pre-Engagement</a:t>
            </a:r>
            <a:endParaRPr lang="en-US" sz="1000" dirty="0"/>
          </a:p>
        </p:txBody>
      </p:sp>
      <p:sp>
        <p:nvSpPr>
          <p:cNvPr id="44" name="Text 42"/>
          <p:cNvSpPr txBox="1"/>
          <p:nvPr/>
        </p:nvSpPr>
        <p:spPr>
          <a:xfrm>
            <a:off x="2423160" y="2606040"/>
            <a:ext cx="6217920" cy="347472"/>
          </a:xfrm>
          <a:prstGeom prst="rect">
            <a:avLst/>
          </a:prstGeom>
          <a:noFill/>
          <a:ln/>
        </p:spPr>
        <p:txBody>
          <a:bodyPr wrap="square" lIns="0" tIns="0" rIns="0" bIns="0" rtlCol="0" anchor="ctr"/>
          <a:lstStyle/>
          <a:p>
            <a:pPr algn="l" indent="0" marL="0">
              <a:buNone/>
            </a:pPr>
            <a:r>
              <a:rPr lang="en-US" sz="1100" dirty="0">
                <a:solidFill>
                  <a:srgbClr val="2C3E50"/>
                </a:solidFill>
              </a:rPr>
              <a:t>Syntex contacts MCA following a PCI DSS requirement for annual penetration testing</a:t>
            </a:r>
            <a:endParaRPr lang="en-US" sz="1100" dirty="0"/>
          </a:p>
        </p:txBody>
      </p:sp>
      <p:sp>
        <p:nvSpPr>
          <p:cNvPr id="45" name="Shape 43"/>
          <p:cNvSpPr/>
          <p:nvPr/>
        </p:nvSpPr>
        <p:spPr>
          <a:xfrm>
            <a:off x="457200" y="3017520"/>
            <a:ext cx="1828800" cy="347472"/>
          </a:xfrm>
          <a:prstGeom prst="rect">
            <a:avLst/>
          </a:prstGeom>
          <a:solidFill>
            <a:srgbClr val="00B4C8"/>
          </a:solidFill>
          <a:ln w="12700">
            <a:solidFill>
              <a:srgbClr val="00B4C8"/>
            </a:solidFill>
            <a:prstDash val="solid"/>
          </a:ln>
        </p:spPr>
      </p:sp>
      <p:sp>
        <p:nvSpPr>
          <p:cNvPr id="46" name="Text 44"/>
          <p:cNvSpPr txBox="1"/>
          <p:nvPr/>
        </p:nvSpPr>
        <p:spPr>
          <a:xfrm>
            <a:off x="457200" y="3017520"/>
            <a:ext cx="1828800" cy="347472"/>
          </a:xfrm>
          <a:prstGeom prst="rect">
            <a:avLst/>
          </a:prstGeom>
          <a:noFill/>
          <a:ln/>
        </p:spPr>
        <p:txBody>
          <a:bodyPr wrap="square" lIns="0" tIns="0" rIns="0" bIns="0" rtlCol="0" anchor="ctr"/>
          <a:lstStyle/>
          <a:p>
            <a:pPr algn="ctr" indent="0" marL="0">
              <a:buNone/>
            </a:pPr>
            <a:r>
              <a:rPr lang="en-US" sz="1000" b="1" dirty="0">
                <a:solidFill>
                  <a:srgbClr val="FFFFFF"/>
                </a:solidFill>
              </a:rPr>
              <a:t>Engagement Pack</a:t>
            </a:r>
            <a:endParaRPr lang="en-US" sz="1000" dirty="0"/>
          </a:p>
        </p:txBody>
      </p:sp>
      <p:sp>
        <p:nvSpPr>
          <p:cNvPr id="47" name="Text 45"/>
          <p:cNvSpPr txBox="1"/>
          <p:nvPr/>
        </p:nvSpPr>
        <p:spPr>
          <a:xfrm>
            <a:off x="2423160" y="3017520"/>
            <a:ext cx="6217920" cy="347472"/>
          </a:xfrm>
          <a:prstGeom prst="rect">
            <a:avLst/>
          </a:prstGeom>
          <a:noFill/>
          <a:ln/>
        </p:spPr>
        <p:txBody>
          <a:bodyPr wrap="square" lIns="0" tIns="0" rIns="0" bIns="0" rtlCol="0" anchor="ctr"/>
          <a:lstStyle/>
          <a:p>
            <a:pPr algn="l" indent="0" marL="0">
              <a:buNone/>
            </a:pPr>
            <a:r>
              <a:rPr lang="en-US" sz="1100" dirty="0">
                <a:solidFill>
                  <a:srgbClr val="2C3E50"/>
                </a:solidFill>
              </a:rPr>
              <a:t>Client Brief, Scope of Work, Rules of Engagement and Permission to Test Letter issued</a:t>
            </a:r>
            <a:endParaRPr lang="en-US" sz="1100" dirty="0"/>
          </a:p>
        </p:txBody>
      </p:sp>
      <p:sp>
        <p:nvSpPr>
          <p:cNvPr id="48" name="Shape 46"/>
          <p:cNvSpPr/>
          <p:nvPr/>
        </p:nvSpPr>
        <p:spPr>
          <a:xfrm>
            <a:off x="457200" y="3429000"/>
            <a:ext cx="1828800" cy="347472"/>
          </a:xfrm>
          <a:prstGeom prst="rect">
            <a:avLst/>
          </a:prstGeom>
          <a:solidFill>
            <a:srgbClr val="00B4C8"/>
          </a:solidFill>
          <a:ln w="12700">
            <a:solidFill>
              <a:srgbClr val="00B4C8"/>
            </a:solidFill>
            <a:prstDash val="solid"/>
          </a:ln>
        </p:spPr>
      </p:sp>
      <p:sp>
        <p:nvSpPr>
          <p:cNvPr id="49" name="Text 47"/>
          <p:cNvSpPr txBox="1"/>
          <p:nvPr/>
        </p:nvSpPr>
        <p:spPr>
          <a:xfrm>
            <a:off x="457200" y="3429000"/>
            <a:ext cx="1828800" cy="347472"/>
          </a:xfrm>
          <a:prstGeom prst="rect">
            <a:avLst/>
          </a:prstGeom>
          <a:noFill/>
          <a:ln/>
        </p:spPr>
        <p:txBody>
          <a:bodyPr wrap="square" lIns="0" tIns="0" rIns="0" bIns="0" rtlCol="0" anchor="ctr"/>
          <a:lstStyle/>
          <a:p>
            <a:pPr algn="ctr" indent="0" marL="0">
              <a:buNone/>
            </a:pPr>
            <a:r>
              <a:rPr lang="en-US" sz="1000" b="1" dirty="0">
                <a:solidFill>
                  <a:srgbClr val="FFFFFF"/>
                </a:solidFill>
              </a:rPr>
              <a:t>Recon / Enum</a:t>
            </a:r>
            <a:endParaRPr lang="en-US" sz="1000" dirty="0"/>
          </a:p>
        </p:txBody>
      </p:sp>
      <p:sp>
        <p:nvSpPr>
          <p:cNvPr id="50" name="Text 48"/>
          <p:cNvSpPr txBox="1"/>
          <p:nvPr/>
        </p:nvSpPr>
        <p:spPr>
          <a:xfrm>
            <a:off x="2423160" y="3429000"/>
            <a:ext cx="6217920" cy="347472"/>
          </a:xfrm>
          <a:prstGeom prst="rect">
            <a:avLst/>
          </a:prstGeom>
          <a:noFill/>
          <a:ln/>
        </p:spPr>
        <p:txBody>
          <a:bodyPr wrap="square" lIns="0" tIns="0" rIns="0" bIns="0" rtlCol="0" anchor="ctr"/>
          <a:lstStyle/>
          <a:p>
            <a:pPr algn="l" indent="0" marL="0">
              <a:buNone/>
            </a:pPr>
            <a:r>
              <a:rPr lang="en-US" sz="1100" dirty="0">
                <a:solidFill>
                  <a:srgbClr val="2C3E50"/>
                </a:solidFill>
              </a:rPr>
              <a:t>OSINT on syntex.local, nmap scans of 10.0.29.131 and 10.1.53.39, service fingerprinting</a:t>
            </a:r>
            <a:endParaRPr lang="en-US" sz="1100" dirty="0"/>
          </a:p>
        </p:txBody>
      </p:sp>
      <p:sp>
        <p:nvSpPr>
          <p:cNvPr id="51" name="Shape 49"/>
          <p:cNvSpPr/>
          <p:nvPr/>
        </p:nvSpPr>
        <p:spPr>
          <a:xfrm>
            <a:off x="457200" y="3840480"/>
            <a:ext cx="1828800" cy="347472"/>
          </a:xfrm>
          <a:prstGeom prst="rect">
            <a:avLst/>
          </a:prstGeom>
          <a:solidFill>
            <a:srgbClr val="00B4C8"/>
          </a:solidFill>
          <a:ln w="12700">
            <a:solidFill>
              <a:srgbClr val="00B4C8"/>
            </a:solidFill>
            <a:prstDash val="solid"/>
          </a:ln>
        </p:spPr>
      </p:sp>
      <p:sp>
        <p:nvSpPr>
          <p:cNvPr id="52" name="Text 50"/>
          <p:cNvSpPr txBox="1"/>
          <p:nvPr/>
        </p:nvSpPr>
        <p:spPr>
          <a:xfrm>
            <a:off x="457200" y="3840480"/>
            <a:ext cx="1828800" cy="347472"/>
          </a:xfrm>
          <a:prstGeom prst="rect">
            <a:avLst/>
          </a:prstGeom>
          <a:noFill/>
          <a:ln/>
        </p:spPr>
        <p:txBody>
          <a:bodyPr wrap="square" lIns="0" tIns="0" rIns="0" bIns="0" rtlCol="0" anchor="ctr"/>
          <a:lstStyle/>
          <a:p>
            <a:pPr algn="ctr" indent="0" marL="0">
              <a:buNone/>
            </a:pPr>
            <a:r>
              <a:rPr lang="en-US" sz="1000" b="1" dirty="0">
                <a:solidFill>
                  <a:srgbClr val="FFFFFF"/>
                </a:solidFill>
              </a:rPr>
              <a:t>Exploitation</a:t>
            </a:r>
            <a:endParaRPr lang="en-US" sz="1000" dirty="0"/>
          </a:p>
        </p:txBody>
      </p:sp>
      <p:sp>
        <p:nvSpPr>
          <p:cNvPr id="53" name="Text 51"/>
          <p:cNvSpPr txBox="1"/>
          <p:nvPr/>
        </p:nvSpPr>
        <p:spPr>
          <a:xfrm>
            <a:off x="2423160" y="3840480"/>
            <a:ext cx="6217920" cy="347472"/>
          </a:xfrm>
          <a:prstGeom prst="rect">
            <a:avLst/>
          </a:prstGeom>
          <a:noFill/>
          <a:ln/>
        </p:spPr>
        <p:txBody>
          <a:bodyPr wrap="square" lIns="0" tIns="0" rIns="0" bIns="0" rtlCol="0" anchor="ctr"/>
          <a:lstStyle/>
          <a:p>
            <a:pPr algn="l" indent="0" marL="0">
              <a:buNone/>
            </a:pPr>
            <a:r>
              <a:rPr lang="en-US" sz="1100" dirty="0">
                <a:solidFill>
                  <a:srgbClr val="2C3E50"/>
                </a:solidFill>
              </a:rPr>
              <a:t>18 findings identified: Apache Struts RCE, Kerberoasting, weak root SSH password, FTP creds in config</a:t>
            </a:r>
            <a:endParaRPr lang="en-US" sz="1100" dirty="0"/>
          </a:p>
        </p:txBody>
      </p:sp>
      <p:sp>
        <p:nvSpPr>
          <p:cNvPr id="54" name="Shape 52"/>
          <p:cNvSpPr/>
          <p:nvPr/>
        </p:nvSpPr>
        <p:spPr>
          <a:xfrm>
            <a:off x="457200" y="4251960"/>
            <a:ext cx="1828800" cy="347472"/>
          </a:xfrm>
          <a:prstGeom prst="rect">
            <a:avLst/>
          </a:prstGeom>
          <a:solidFill>
            <a:srgbClr val="00B4C8"/>
          </a:solidFill>
          <a:ln w="12700">
            <a:solidFill>
              <a:srgbClr val="00B4C8"/>
            </a:solidFill>
            <a:prstDash val="solid"/>
          </a:ln>
        </p:spPr>
      </p:sp>
      <p:sp>
        <p:nvSpPr>
          <p:cNvPr id="55" name="Text 53"/>
          <p:cNvSpPr txBox="1"/>
          <p:nvPr/>
        </p:nvSpPr>
        <p:spPr>
          <a:xfrm>
            <a:off x="457200" y="4251960"/>
            <a:ext cx="1828800" cy="347472"/>
          </a:xfrm>
          <a:prstGeom prst="rect">
            <a:avLst/>
          </a:prstGeom>
          <a:noFill/>
          <a:ln/>
        </p:spPr>
        <p:txBody>
          <a:bodyPr wrap="square" lIns="0" tIns="0" rIns="0" bIns="0" rtlCol="0" anchor="ctr"/>
          <a:lstStyle/>
          <a:p>
            <a:pPr algn="ctr" indent="0" marL="0">
              <a:buNone/>
            </a:pPr>
            <a:r>
              <a:rPr lang="en-US" sz="1000" b="1" dirty="0">
                <a:solidFill>
                  <a:srgbClr val="FFFFFF"/>
                </a:solidFill>
              </a:rPr>
              <a:t>Reporting</a:t>
            </a:r>
            <a:endParaRPr lang="en-US" sz="1000" dirty="0"/>
          </a:p>
        </p:txBody>
      </p:sp>
      <p:sp>
        <p:nvSpPr>
          <p:cNvPr id="56" name="Text 54"/>
          <p:cNvSpPr txBox="1"/>
          <p:nvPr/>
        </p:nvSpPr>
        <p:spPr>
          <a:xfrm>
            <a:off x="2423160" y="4251960"/>
            <a:ext cx="6217920" cy="347472"/>
          </a:xfrm>
          <a:prstGeom prst="rect">
            <a:avLst/>
          </a:prstGeom>
          <a:noFill/>
          <a:ln/>
        </p:spPr>
        <p:txBody>
          <a:bodyPr wrap="square" lIns="0" tIns="0" rIns="0" bIns="0" rtlCol="0" anchor="ctr"/>
          <a:lstStyle/>
          <a:p>
            <a:pPr algn="l" indent="0" marL="0">
              <a:buNone/>
            </a:pPr>
            <a:r>
              <a:rPr lang="en-US" sz="1100" dirty="0">
                <a:solidFill>
                  <a:srgbClr val="2C3E50"/>
                </a:solidFill>
              </a:rPr>
              <a:t>Full report: 3 Critical, 7 High, 6 Medium, 2 Low with CVSS scores and compliance mapping</a:t>
            </a:r>
            <a:endParaRPr lang="en-US" sz="1100" dirty="0"/>
          </a:p>
        </p:txBody>
      </p:sp>
      <p:sp>
        <p:nvSpPr>
          <p:cNvPr id="57" name="Text 55"/>
          <p:cNvSpPr txBox="1"/>
          <p:nvPr/>
        </p:nvSpPr>
        <p:spPr>
          <a:xfrm>
            <a:off x="0" y="4892040"/>
            <a:ext cx="9144000" cy="256032"/>
          </a:xfrm>
          <a:prstGeom prst="rect">
            <a:avLst/>
          </a:prstGeom>
          <a:noFill/>
          <a:ln/>
        </p:spPr>
        <p:txBody>
          <a:bodyPr wrap="square" lIns="0" tIns="0" rIns="0" bIns="0" rtlCol="0" anchor="ctr"/>
          <a:lstStyle/>
          <a:p>
            <a:pPr algn="ctr" indent="0" marL="0">
              <a:buNone/>
            </a:pPr>
            <a:r>
              <a:rPr lang="en-US" sz="900" dirty="0">
                <a:solidFill>
                  <a:srgbClr val="7F8C8D"/>
                </a:solidFill>
              </a:rPr>
              <a:t>My Cyber Academy | MCA CREST CPSA - Module A: Soft Skills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w="12700">
            <a:solidFill>
              <a:srgbClr val="FFFFFF"/>
            </a:solidFill>
            <a:prstDash val="solid"/>
          </a:ln>
        </p:spPr>
      </p:sp>
      <p:sp>
        <p:nvSpPr>
          <p:cNvPr id="3" name="Shape 1"/>
          <p:cNvSpPr/>
          <p:nvPr/>
        </p:nvSpPr>
        <p:spPr>
          <a:xfrm>
            <a:off x="0" y="0"/>
            <a:ext cx="9144000" cy="73152"/>
          </a:xfrm>
          <a:prstGeom prst="rect">
            <a:avLst/>
          </a:prstGeom>
          <a:solidFill>
            <a:srgbClr val="00B4C8"/>
          </a:solidFill>
          <a:ln w="12700">
            <a:solidFill>
              <a:srgbClr val="00B4C8"/>
            </a:solidFill>
            <a:prstDash val="solid"/>
          </a:ln>
        </p:spPr>
      </p:sp>
      <p:sp>
        <p:nvSpPr>
          <p:cNvPr id="4" name="Text 2"/>
          <p:cNvSpPr txBox="1"/>
          <p:nvPr/>
        </p:nvSpPr>
        <p:spPr>
          <a:xfrm>
            <a:off x="365760" y="137160"/>
            <a:ext cx="8412480" cy="548640"/>
          </a:xfrm>
          <a:prstGeom prst="rect">
            <a:avLst/>
          </a:prstGeom>
          <a:noFill/>
          <a:ln/>
        </p:spPr>
        <p:txBody>
          <a:bodyPr wrap="square" lIns="0" tIns="0" rIns="0" bIns="0" rtlCol="0" anchor="ctr"/>
          <a:lstStyle/>
          <a:p>
            <a:pPr algn="l" indent="0" marL="0">
              <a:buNone/>
            </a:pPr>
            <a:r>
              <a:rPr lang="en-US" sz="2800" b="1" dirty="0">
                <a:solidFill>
                  <a:srgbClr val="1A2744"/>
                </a:solidFill>
              </a:rPr>
              <a:t>Why the Lifecycle Matters - Legal &amp; Scope Boundaries</a:t>
            </a:r>
            <a:endParaRPr lang="en-US" sz="2800" dirty="0"/>
          </a:p>
        </p:txBody>
      </p:sp>
      <p:sp>
        <p:nvSpPr>
          <p:cNvPr id="5" name="Shape 3"/>
          <p:cNvSpPr/>
          <p:nvPr/>
        </p:nvSpPr>
        <p:spPr>
          <a:xfrm>
            <a:off x="365760" y="713232"/>
            <a:ext cx="8412480" cy="0"/>
          </a:xfrm>
          <a:prstGeom prst="line">
            <a:avLst/>
          </a:prstGeom>
          <a:noFill/>
          <a:ln w="19050">
            <a:solidFill>
              <a:srgbClr val="00B4C8"/>
            </a:solidFill>
            <a:prstDash val="solid"/>
          </a:ln>
        </p:spPr>
      </p:sp>
      <p:sp>
        <p:nvSpPr>
          <p:cNvPr id="6" name="Text 4"/>
          <p:cNvSpPr txBox="1"/>
          <p:nvPr/>
        </p:nvSpPr>
        <p:spPr>
          <a:xfrm>
            <a:off x="365760" y="868680"/>
            <a:ext cx="4023360" cy="320040"/>
          </a:xfrm>
          <a:prstGeom prst="rect">
            <a:avLst/>
          </a:prstGeom>
          <a:noFill/>
          <a:ln/>
        </p:spPr>
        <p:txBody>
          <a:bodyPr wrap="square" lIns="0" tIns="0" rIns="0" bIns="0" rtlCol="0" anchor="ctr"/>
          <a:lstStyle/>
          <a:p>
            <a:pPr indent="0" marL="0">
              <a:buNone/>
            </a:pPr>
            <a:r>
              <a:rPr lang="en-US" sz="1500" b="1" dirty="0">
                <a:solidFill>
                  <a:srgbClr val="C0392B"/>
                </a:solidFill>
              </a:rPr>
              <a:t>Without a Lifecycle</a:t>
            </a:r>
            <a:endParaRPr lang="en-US" sz="1500" dirty="0"/>
          </a:p>
        </p:txBody>
      </p:sp>
      <p:sp>
        <p:nvSpPr>
          <p:cNvPr id="7" name="Text 5"/>
          <p:cNvSpPr txBox="1"/>
          <p:nvPr/>
        </p:nvSpPr>
        <p:spPr>
          <a:xfrm>
            <a:off x="365760" y="1280160"/>
            <a:ext cx="4023360" cy="2560320"/>
          </a:xfrm>
          <a:prstGeom prst="rect">
            <a:avLst/>
          </a:prstGeom>
          <a:noFill/>
          <a:ln/>
        </p:spPr>
        <p:txBody>
          <a:bodyPr wrap="square" lIns="0" tIns="50800" rIns="0" bIns="0" rtlCol="0" anchor="t"/>
          <a:lstStyle/>
          <a:p>
            <a:pPr algn="l">
              <a:spcAft>
                <a:spcPts val="600"/>
              </a:spcAft>
            </a:pPr>
            <a:r>
              <a:rPr lang="en-US" sz="1200" dirty="0">
                <a:solidFill>
                  <a:srgbClr val="2C3E50"/>
                </a:solidFill>
              </a:rPr>
              <a:t>Testing without written authorisation = Computer Misuse Act 1990 offence</a:t>
            </a:r>
            <a:endParaRPr lang="en-US" sz="1200" dirty="0"/>
          </a:p>
          <a:p>
            <a:pPr algn="l">
              <a:spcAft>
                <a:spcPts val="600"/>
              </a:spcAft>
            </a:pPr>
            <a:r>
              <a:rPr lang="en-US" sz="1200" dirty="0">
                <a:solidFill>
                  <a:srgbClr val="2C3E50"/>
                </a:solidFill>
              </a:rPr>
              <a:t>Scope creep can result in testing systems outside the contract</a:t>
            </a:r>
            <a:endParaRPr lang="en-US" sz="1200" dirty="0"/>
          </a:p>
          <a:p>
            <a:pPr algn="l">
              <a:spcAft>
                <a:spcPts val="600"/>
              </a:spcAft>
            </a:pPr>
            <a:r>
              <a:rPr lang="en-US" sz="1200" dirty="0">
                <a:solidFill>
                  <a:srgbClr val="2C3E50"/>
                </a:solidFill>
              </a:rPr>
              <a:t>No rules of engagement means uncoordinated or disruptive testing</a:t>
            </a:r>
            <a:endParaRPr lang="en-US" sz="1200" dirty="0"/>
          </a:p>
          <a:p>
            <a:pPr algn="l">
              <a:spcAft>
                <a:spcPts val="600"/>
              </a:spcAft>
            </a:pPr>
            <a:r>
              <a:rPr lang="en-US" sz="1200" dirty="0">
                <a:solidFill>
                  <a:srgbClr val="2C3E50"/>
                </a:solidFill>
              </a:rPr>
              <a:t>Evidence not captured systematically - report gaps</a:t>
            </a:r>
            <a:endParaRPr lang="en-US" sz="1200" dirty="0"/>
          </a:p>
          <a:p>
            <a:pPr algn="l">
              <a:spcAft>
                <a:spcPts val="600"/>
              </a:spcAft>
            </a:pPr>
            <a:r>
              <a:rPr lang="en-US" sz="1200" dirty="0">
                <a:solidFill>
                  <a:srgbClr val="2C3E50"/>
                </a:solidFill>
              </a:rPr>
              <a:t>No client sign-off creates liability disputes post-engagement</a:t>
            </a:r>
            <a:endParaRPr lang="en-US" sz="1200" dirty="0"/>
          </a:p>
        </p:txBody>
      </p:sp>
      <p:sp>
        <p:nvSpPr>
          <p:cNvPr id="8" name="Text 6"/>
          <p:cNvSpPr txBox="1"/>
          <p:nvPr/>
        </p:nvSpPr>
        <p:spPr>
          <a:xfrm>
            <a:off x="4754880" y="868680"/>
            <a:ext cx="4023360" cy="320040"/>
          </a:xfrm>
          <a:prstGeom prst="rect">
            <a:avLst/>
          </a:prstGeom>
          <a:noFill/>
          <a:ln/>
        </p:spPr>
        <p:txBody>
          <a:bodyPr wrap="square" lIns="0" tIns="0" rIns="0" bIns="0" rtlCol="0" anchor="ctr"/>
          <a:lstStyle/>
          <a:p>
            <a:pPr indent="0" marL="0">
              <a:buNone/>
            </a:pPr>
            <a:r>
              <a:rPr lang="en-US" sz="1500" b="1" dirty="0">
                <a:solidFill>
                  <a:srgbClr val="27AE60"/>
                </a:solidFill>
              </a:rPr>
              <a:t>With a Lifecycle</a:t>
            </a:r>
            <a:endParaRPr lang="en-US" sz="1500" dirty="0"/>
          </a:p>
        </p:txBody>
      </p:sp>
      <p:sp>
        <p:nvSpPr>
          <p:cNvPr id="9" name="Text 7"/>
          <p:cNvSpPr txBox="1"/>
          <p:nvPr/>
        </p:nvSpPr>
        <p:spPr>
          <a:xfrm>
            <a:off x="4754880" y="1280160"/>
            <a:ext cx="4023360" cy="2560320"/>
          </a:xfrm>
          <a:prstGeom prst="rect">
            <a:avLst/>
          </a:prstGeom>
          <a:noFill/>
          <a:ln/>
        </p:spPr>
        <p:txBody>
          <a:bodyPr wrap="square" lIns="0" tIns="50800" rIns="0" bIns="0" rtlCol="0" anchor="t"/>
          <a:lstStyle/>
          <a:p>
            <a:pPr algn="l">
              <a:spcAft>
                <a:spcPts val="600"/>
              </a:spcAft>
            </a:pPr>
            <a:r>
              <a:rPr lang="en-US" sz="1200" dirty="0">
                <a:solidFill>
                  <a:srgbClr val="2C3E50"/>
                </a:solidFill>
              </a:rPr>
              <a:t>Permission to Test Letter provides legal cover under CMA s.1</a:t>
            </a:r>
            <a:endParaRPr lang="en-US" sz="1200" dirty="0"/>
          </a:p>
          <a:p>
            <a:pPr algn="l">
              <a:spcAft>
                <a:spcPts val="600"/>
              </a:spcAft>
            </a:pPr>
            <a:r>
              <a:rPr lang="en-US" sz="1200" dirty="0">
                <a:solidFill>
                  <a:srgbClr val="2C3E50"/>
                </a:solidFill>
              </a:rPr>
              <a:t>Scope of Work document locks in target IP ranges and exclusions</a:t>
            </a:r>
            <a:endParaRPr lang="en-US" sz="1200" dirty="0"/>
          </a:p>
          <a:p>
            <a:pPr algn="l">
              <a:spcAft>
                <a:spcPts val="600"/>
              </a:spcAft>
            </a:pPr>
            <a:r>
              <a:rPr lang="en-US" sz="1200" dirty="0">
                <a:solidFill>
                  <a:srgbClr val="2C3E50"/>
                </a:solidFill>
              </a:rPr>
              <a:t>Rules of Engagement set agreed testing hours and emergency contacts</a:t>
            </a:r>
            <a:endParaRPr lang="en-US" sz="1200" dirty="0"/>
          </a:p>
          <a:p>
            <a:pPr algn="l">
              <a:spcAft>
                <a:spcPts val="600"/>
              </a:spcAft>
            </a:pPr>
            <a:r>
              <a:rPr lang="en-US" sz="1200" dirty="0">
                <a:solidFill>
                  <a:srgbClr val="2C3E50"/>
                </a:solidFill>
              </a:rPr>
              <a:t>Structured evidence capture supports every finding in the report</a:t>
            </a:r>
            <a:endParaRPr lang="en-US" sz="1200" dirty="0"/>
          </a:p>
          <a:p>
            <a:pPr algn="l">
              <a:spcAft>
                <a:spcPts val="600"/>
              </a:spcAft>
            </a:pPr>
            <a:r>
              <a:rPr lang="en-US" sz="1200" dirty="0">
                <a:solidFill>
                  <a:srgbClr val="2C3E50"/>
                </a:solidFill>
              </a:rPr>
              <a:t>Formal sign-off protects both client and consultant</a:t>
            </a:r>
            <a:endParaRPr lang="en-US" sz="1200" dirty="0"/>
          </a:p>
        </p:txBody>
      </p:sp>
      <p:sp>
        <p:nvSpPr>
          <p:cNvPr id="10" name="Shape 8"/>
          <p:cNvSpPr/>
          <p:nvPr/>
        </p:nvSpPr>
        <p:spPr>
          <a:xfrm>
            <a:off x="4526280" y="822960"/>
            <a:ext cx="0" cy="3200400"/>
          </a:xfrm>
          <a:prstGeom prst="line">
            <a:avLst/>
          </a:prstGeom>
          <a:noFill/>
          <a:ln w="19050">
            <a:solidFill>
              <a:srgbClr val="00B4C8"/>
            </a:solidFill>
            <a:prstDash val="dash"/>
          </a:ln>
        </p:spPr>
      </p:sp>
      <p:sp>
        <p:nvSpPr>
          <p:cNvPr id="11" name="Shape 9"/>
          <p:cNvSpPr/>
          <p:nvPr/>
        </p:nvSpPr>
        <p:spPr>
          <a:xfrm>
            <a:off x="365760" y="3977640"/>
            <a:ext cx="8412480" cy="731520"/>
          </a:xfrm>
          <a:prstGeom prst="rect">
            <a:avLst/>
          </a:prstGeom>
          <a:solidFill>
            <a:srgbClr val="0D3B5E"/>
          </a:solidFill>
          <a:ln w="12700">
            <a:solidFill>
              <a:srgbClr val="00B4C8"/>
            </a:solidFill>
            <a:prstDash val="solid"/>
          </a:ln>
        </p:spPr>
      </p:sp>
      <p:sp>
        <p:nvSpPr>
          <p:cNvPr id="12" name="Text 10"/>
          <p:cNvSpPr txBox="1"/>
          <p:nvPr/>
        </p:nvSpPr>
        <p:spPr>
          <a:xfrm>
            <a:off x="548640" y="4041648"/>
            <a:ext cx="8046720" cy="594360"/>
          </a:xfrm>
          <a:prstGeom prst="rect">
            <a:avLst/>
          </a:prstGeom>
          <a:noFill/>
          <a:ln/>
        </p:spPr>
        <p:txBody>
          <a:bodyPr wrap="square" lIns="0" tIns="0" rIns="0" bIns="0" rtlCol="0" anchor="ctr"/>
          <a:lstStyle/>
          <a:p>
            <a:pPr indent="0" marL="0">
              <a:buNone/>
            </a:pPr>
            <a:r>
              <a:rPr lang="en-US" sz="1100" dirty="0">
                <a:solidFill>
                  <a:srgbClr val="A0BAD4"/>
                </a:solidFill>
              </a:rPr>
              <a:t>Syntex: The Permission to Test Letter (Lab A1) is signed by Syntex CEO Sarah Chen and specifies that testing must not disrupt live payment processing services. Any finding likely to cause instability must be reported immediately via the emergency escalation number.</a:t>
            </a:r>
            <a:endParaRPr lang="en-US" sz="1100" dirty="0"/>
          </a:p>
        </p:txBody>
      </p:sp>
      <p:sp>
        <p:nvSpPr>
          <p:cNvPr id="13" name="Text 11"/>
          <p:cNvSpPr txBox="1"/>
          <p:nvPr/>
        </p:nvSpPr>
        <p:spPr>
          <a:xfrm>
            <a:off x="0" y="4892040"/>
            <a:ext cx="9144000" cy="256032"/>
          </a:xfrm>
          <a:prstGeom prst="rect">
            <a:avLst/>
          </a:prstGeom>
          <a:noFill/>
          <a:ln/>
        </p:spPr>
        <p:txBody>
          <a:bodyPr wrap="square" lIns="0" tIns="0" rIns="0" bIns="0" rtlCol="0" anchor="ctr"/>
          <a:lstStyle/>
          <a:p>
            <a:pPr algn="ctr" indent="0" marL="0">
              <a:buNone/>
            </a:pPr>
            <a:r>
              <a:rPr lang="en-US" sz="900" dirty="0">
                <a:solidFill>
                  <a:srgbClr val="7F8C8D"/>
                </a:solidFill>
              </a:rPr>
              <a:t>My Cyber Academy | MCA CREST CPSA - Module A: Soft Skills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A2744"/>
          </a:solidFill>
          <a:ln w="12700">
            <a:solidFill>
              <a:srgbClr val="1A2744"/>
            </a:solidFill>
            <a:prstDash val="solid"/>
          </a:ln>
        </p:spPr>
      </p:sp>
      <p:sp>
        <p:nvSpPr>
          <p:cNvPr id="3" name="Shape 1"/>
          <p:cNvSpPr/>
          <p:nvPr/>
        </p:nvSpPr>
        <p:spPr>
          <a:xfrm>
            <a:off x="0" y="0"/>
            <a:ext cx="228600" cy="5143500"/>
          </a:xfrm>
          <a:prstGeom prst="rect">
            <a:avLst/>
          </a:prstGeom>
          <a:solidFill>
            <a:srgbClr val="E8A020"/>
          </a:solidFill>
          <a:ln w="12700">
            <a:solidFill>
              <a:srgbClr val="E8A020"/>
            </a:solidFill>
            <a:prstDash val="solid"/>
          </a:ln>
        </p:spPr>
      </p:sp>
      <p:sp>
        <p:nvSpPr>
          <p:cNvPr id="4" name="Text 2"/>
          <p:cNvSpPr txBox="1"/>
          <p:nvPr/>
        </p:nvSpPr>
        <p:spPr>
          <a:xfrm>
            <a:off x="548640" y="1097280"/>
            <a:ext cx="2286000" cy="1097280"/>
          </a:xfrm>
          <a:prstGeom prst="rect">
            <a:avLst/>
          </a:prstGeom>
          <a:noFill/>
          <a:ln/>
        </p:spPr>
        <p:txBody>
          <a:bodyPr wrap="square" lIns="0" tIns="0" rIns="0" bIns="0" rtlCol="0" anchor="ctr"/>
          <a:lstStyle/>
          <a:p>
            <a:pPr algn="l" indent="0" marL="0">
              <a:buNone/>
            </a:pPr>
            <a:r>
              <a:rPr lang="en-US" sz="8000" b="1" dirty="0">
                <a:solidFill>
                  <a:srgbClr val="2C1810"/>
                </a:solidFill>
              </a:rPr>
              <a:t>A2</a:t>
            </a:r>
            <a:endParaRPr lang="en-US" sz="8000" dirty="0"/>
          </a:p>
        </p:txBody>
      </p:sp>
      <p:sp>
        <p:nvSpPr>
          <p:cNvPr id="5" name="Text 3"/>
          <p:cNvSpPr txBox="1"/>
          <p:nvPr/>
        </p:nvSpPr>
        <p:spPr>
          <a:xfrm>
            <a:off x="548640" y="2148840"/>
            <a:ext cx="8229600" cy="914400"/>
          </a:xfrm>
          <a:prstGeom prst="rect">
            <a:avLst/>
          </a:prstGeom>
          <a:noFill/>
          <a:ln/>
        </p:spPr>
        <p:txBody>
          <a:bodyPr wrap="square" lIns="0" tIns="0" rIns="0" bIns="0" rtlCol="0" anchor="ctr"/>
          <a:lstStyle/>
          <a:p>
            <a:pPr algn="l" indent="0" marL="0">
              <a:buNone/>
            </a:pPr>
            <a:r>
              <a:rPr lang="en-US" sz="3400" b="1" dirty="0">
                <a:solidFill>
                  <a:srgbClr val="FFFFFF"/>
                </a:solidFill>
              </a:rPr>
              <a:t>Engagement</a:t>
            </a:r>
            <a:endParaRPr lang="en-US" sz="3400" dirty="0"/>
          </a:p>
          <a:p>
            <a:pPr algn="l" indent="0" marL="0">
              <a:buNone/>
            </a:pPr>
            <a:r>
              <a:rPr lang="en-US" sz="3400" b="1" dirty="0">
                <a:solidFill>
                  <a:srgbClr val="FFFFFF"/>
                </a:solidFill>
              </a:rPr>
              <a:t>Packs</a:t>
            </a:r>
            <a:endParaRPr lang="en-US" sz="3400" dirty="0"/>
          </a:p>
        </p:txBody>
      </p:sp>
      <p:sp>
        <p:nvSpPr>
          <p:cNvPr id="6" name="Text 4"/>
          <p:cNvSpPr txBox="1"/>
          <p:nvPr/>
        </p:nvSpPr>
        <p:spPr>
          <a:xfrm>
            <a:off x="548640" y="3154680"/>
            <a:ext cx="7772400" cy="457200"/>
          </a:xfrm>
          <a:prstGeom prst="rect">
            <a:avLst/>
          </a:prstGeom>
          <a:noFill/>
          <a:ln/>
        </p:spPr>
        <p:txBody>
          <a:bodyPr wrap="square" lIns="0" tIns="0" rIns="0" bIns="0" rtlCol="0" anchor="ctr"/>
          <a:lstStyle/>
          <a:p>
            <a:pPr algn="l" indent="0" marL="0">
              <a:buNone/>
            </a:pPr>
            <a:r>
              <a:rPr lang="en-US" sz="1600" dirty="0">
                <a:solidFill>
                  <a:srgbClr val="D4A574"/>
                </a:solidFill>
              </a:rPr>
              <a:t>The documents that authorise and govern a penetration test</a:t>
            </a:r>
            <a:endParaRPr lang="en-US" sz="1600" dirty="0"/>
          </a:p>
        </p:txBody>
      </p:sp>
      <p:sp>
        <p:nvSpPr>
          <p:cNvPr id="7" name="Text 5"/>
          <p:cNvSpPr txBox="1"/>
          <p:nvPr/>
        </p:nvSpPr>
        <p:spPr>
          <a:xfrm>
            <a:off x="0" y="4892040"/>
            <a:ext cx="9144000" cy="256032"/>
          </a:xfrm>
          <a:prstGeom prst="rect">
            <a:avLst/>
          </a:prstGeom>
          <a:noFill/>
          <a:ln/>
        </p:spPr>
        <p:txBody>
          <a:bodyPr wrap="square" lIns="0" tIns="0" rIns="0" bIns="0" rtlCol="0" anchor="ctr"/>
          <a:lstStyle/>
          <a:p>
            <a:pPr algn="ctr" indent="0" marL="0">
              <a:buNone/>
            </a:pPr>
            <a:r>
              <a:rPr lang="en-US" sz="900" dirty="0">
                <a:solidFill>
                  <a:srgbClr val="5A7FAA"/>
                </a:solidFill>
              </a:rPr>
              <a:t>My Cyber Academy | MCA CREST CPSA - Module A: Soft Skills</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w="12700">
            <a:solidFill>
              <a:srgbClr val="FFFFFF"/>
            </a:solidFill>
            <a:prstDash val="solid"/>
          </a:ln>
        </p:spPr>
      </p:sp>
      <p:sp>
        <p:nvSpPr>
          <p:cNvPr id="3" name="Shape 1"/>
          <p:cNvSpPr/>
          <p:nvPr/>
        </p:nvSpPr>
        <p:spPr>
          <a:xfrm>
            <a:off x="0" y="0"/>
            <a:ext cx="9144000" cy="73152"/>
          </a:xfrm>
          <a:prstGeom prst="rect">
            <a:avLst/>
          </a:prstGeom>
          <a:solidFill>
            <a:srgbClr val="00B4C8"/>
          </a:solidFill>
          <a:ln w="12700">
            <a:solidFill>
              <a:srgbClr val="00B4C8"/>
            </a:solidFill>
            <a:prstDash val="solid"/>
          </a:ln>
        </p:spPr>
      </p:sp>
      <p:sp>
        <p:nvSpPr>
          <p:cNvPr id="4" name="Text 2"/>
          <p:cNvSpPr txBox="1"/>
          <p:nvPr/>
        </p:nvSpPr>
        <p:spPr>
          <a:xfrm>
            <a:off x="365760" y="137160"/>
            <a:ext cx="8412480" cy="548640"/>
          </a:xfrm>
          <a:prstGeom prst="rect">
            <a:avLst/>
          </a:prstGeom>
          <a:noFill/>
          <a:ln/>
        </p:spPr>
        <p:txBody>
          <a:bodyPr wrap="square" lIns="0" tIns="0" rIns="0" bIns="0" rtlCol="0" anchor="ctr"/>
          <a:lstStyle/>
          <a:p>
            <a:pPr algn="l" indent="0" marL="0">
              <a:buNone/>
            </a:pPr>
            <a:r>
              <a:rPr lang="en-US" sz="2800" b="1" dirty="0">
                <a:solidFill>
                  <a:srgbClr val="1A2744"/>
                </a:solidFill>
              </a:rPr>
              <a:t>Engagement Pack - Six Key Documents</a:t>
            </a:r>
            <a:endParaRPr lang="en-US" sz="2800" dirty="0"/>
          </a:p>
        </p:txBody>
      </p:sp>
      <p:sp>
        <p:nvSpPr>
          <p:cNvPr id="5" name="Shape 3"/>
          <p:cNvSpPr/>
          <p:nvPr/>
        </p:nvSpPr>
        <p:spPr>
          <a:xfrm>
            <a:off x="365760" y="713232"/>
            <a:ext cx="8412480" cy="0"/>
          </a:xfrm>
          <a:prstGeom prst="line">
            <a:avLst/>
          </a:prstGeom>
          <a:noFill/>
          <a:ln w="19050">
            <a:solidFill>
              <a:srgbClr val="00B4C8"/>
            </a:solidFill>
            <a:prstDash val="solid"/>
          </a:ln>
        </p:spPr>
      </p:sp>
      <p:sp>
        <p:nvSpPr>
          <p:cNvPr id="6" name="Shape 4"/>
          <p:cNvSpPr/>
          <p:nvPr/>
        </p:nvSpPr>
        <p:spPr>
          <a:xfrm>
            <a:off x="274320" y="868680"/>
            <a:ext cx="4206240" cy="1143000"/>
          </a:xfrm>
          <a:prstGeom prst="rect">
            <a:avLst/>
          </a:prstGeom>
          <a:solidFill>
            <a:srgbClr val="EEF4FB"/>
          </a:solidFill>
          <a:ln w="19050">
            <a:solidFill>
              <a:srgbClr val="0D3B5E"/>
            </a:solidFill>
            <a:prstDash val="solid"/>
          </a:ln>
        </p:spPr>
      </p:sp>
      <p:sp>
        <p:nvSpPr>
          <p:cNvPr id="7" name="Shape 5"/>
          <p:cNvSpPr/>
          <p:nvPr/>
        </p:nvSpPr>
        <p:spPr>
          <a:xfrm>
            <a:off x="274320" y="868680"/>
            <a:ext cx="457200" cy="1143000"/>
          </a:xfrm>
          <a:prstGeom prst="rect">
            <a:avLst/>
          </a:prstGeom>
          <a:solidFill>
            <a:srgbClr val="0D3B5E"/>
          </a:solidFill>
          <a:ln w="12700">
            <a:solidFill>
              <a:srgbClr val="0D3B5E"/>
            </a:solidFill>
            <a:prstDash val="solid"/>
          </a:ln>
        </p:spPr>
      </p:sp>
      <p:sp>
        <p:nvSpPr>
          <p:cNvPr id="8" name="Text 6"/>
          <p:cNvSpPr txBox="1"/>
          <p:nvPr/>
        </p:nvSpPr>
        <p:spPr>
          <a:xfrm>
            <a:off x="274320" y="868680"/>
            <a:ext cx="457200" cy="1143000"/>
          </a:xfrm>
          <a:prstGeom prst="rect">
            <a:avLst/>
          </a:prstGeom>
          <a:noFill/>
          <a:ln/>
        </p:spPr>
        <p:txBody>
          <a:bodyPr wrap="square" lIns="0" tIns="0" rIns="0" bIns="0" rtlCol="0" anchor="ctr"/>
          <a:lstStyle/>
          <a:p>
            <a:pPr algn="ctr" indent="0" marL="0">
              <a:buNone/>
            </a:pPr>
            <a:r>
              <a:rPr lang="en-US" sz="2200" b="1" dirty="0">
                <a:solidFill>
                  <a:srgbClr val="FFFFFF"/>
                </a:solidFill>
              </a:rPr>
              <a:t>1</a:t>
            </a:r>
            <a:endParaRPr lang="en-US" sz="2200" dirty="0"/>
          </a:p>
        </p:txBody>
      </p:sp>
      <p:sp>
        <p:nvSpPr>
          <p:cNvPr id="9" name="Text 7"/>
          <p:cNvSpPr txBox="1"/>
          <p:nvPr/>
        </p:nvSpPr>
        <p:spPr>
          <a:xfrm>
            <a:off x="822960" y="960120"/>
            <a:ext cx="3520440" cy="347472"/>
          </a:xfrm>
          <a:prstGeom prst="rect">
            <a:avLst/>
          </a:prstGeom>
          <a:noFill/>
          <a:ln/>
        </p:spPr>
        <p:txBody>
          <a:bodyPr wrap="square" lIns="0" tIns="0" rIns="0" bIns="0" rtlCol="0" anchor="ctr"/>
          <a:lstStyle/>
          <a:p>
            <a:pPr indent="0" marL="0">
              <a:buNone/>
            </a:pPr>
            <a:r>
              <a:rPr lang="en-US" sz="1300" b="1" dirty="0">
                <a:solidFill>
                  <a:srgbClr val="1A2744"/>
                </a:solidFill>
              </a:rPr>
              <a:t>Client Brief</a:t>
            </a:r>
            <a:endParaRPr lang="en-US" sz="1300" dirty="0"/>
          </a:p>
        </p:txBody>
      </p:sp>
      <p:sp>
        <p:nvSpPr>
          <p:cNvPr id="10" name="Text 8"/>
          <p:cNvSpPr txBox="1"/>
          <p:nvPr/>
        </p:nvSpPr>
        <p:spPr>
          <a:xfrm>
            <a:off x="822960" y="1325880"/>
            <a:ext cx="3520440" cy="594360"/>
          </a:xfrm>
          <a:prstGeom prst="rect">
            <a:avLst/>
          </a:prstGeom>
          <a:noFill/>
          <a:ln/>
        </p:spPr>
        <p:txBody>
          <a:bodyPr wrap="square" lIns="0" tIns="0" rIns="0" bIns="0" rtlCol="0" anchor="ctr"/>
          <a:lstStyle/>
          <a:p>
            <a:pPr indent="0" marL="0">
              <a:buNone/>
            </a:pPr>
            <a:r>
              <a:rPr lang="en-US" sz="1100" dirty="0">
                <a:solidFill>
                  <a:srgbClr val="2C3E50"/>
                </a:solidFill>
              </a:rPr>
              <a:t>Business context, objectives, regulatory drivers, key contacts</a:t>
            </a:r>
            <a:endParaRPr lang="en-US" sz="1100" dirty="0"/>
          </a:p>
        </p:txBody>
      </p:sp>
      <p:sp>
        <p:nvSpPr>
          <p:cNvPr id="11" name="Shape 9"/>
          <p:cNvSpPr/>
          <p:nvPr/>
        </p:nvSpPr>
        <p:spPr>
          <a:xfrm>
            <a:off x="4617720" y="868680"/>
            <a:ext cx="4206240" cy="1143000"/>
          </a:xfrm>
          <a:prstGeom prst="rect">
            <a:avLst/>
          </a:prstGeom>
          <a:solidFill>
            <a:srgbClr val="EEF4FB"/>
          </a:solidFill>
          <a:ln w="19050">
            <a:solidFill>
              <a:srgbClr val="0D3B5E"/>
            </a:solidFill>
            <a:prstDash val="solid"/>
          </a:ln>
        </p:spPr>
      </p:sp>
      <p:sp>
        <p:nvSpPr>
          <p:cNvPr id="12" name="Shape 10"/>
          <p:cNvSpPr/>
          <p:nvPr/>
        </p:nvSpPr>
        <p:spPr>
          <a:xfrm>
            <a:off x="4617720" y="868680"/>
            <a:ext cx="457200" cy="1143000"/>
          </a:xfrm>
          <a:prstGeom prst="rect">
            <a:avLst/>
          </a:prstGeom>
          <a:solidFill>
            <a:srgbClr val="0D3B5E"/>
          </a:solidFill>
          <a:ln w="12700">
            <a:solidFill>
              <a:srgbClr val="0D3B5E"/>
            </a:solidFill>
            <a:prstDash val="solid"/>
          </a:ln>
        </p:spPr>
      </p:sp>
      <p:sp>
        <p:nvSpPr>
          <p:cNvPr id="13" name="Text 11"/>
          <p:cNvSpPr txBox="1"/>
          <p:nvPr/>
        </p:nvSpPr>
        <p:spPr>
          <a:xfrm>
            <a:off x="4617720" y="868680"/>
            <a:ext cx="457200" cy="1143000"/>
          </a:xfrm>
          <a:prstGeom prst="rect">
            <a:avLst/>
          </a:prstGeom>
          <a:noFill/>
          <a:ln/>
        </p:spPr>
        <p:txBody>
          <a:bodyPr wrap="square" lIns="0" tIns="0" rIns="0" bIns="0" rtlCol="0" anchor="ctr"/>
          <a:lstStyle/>
          <a:p>
            <a:pPr algn="ctr" indent="0" marL="0">
              <a:buNone/>
            </a:pPr>
            <a:r>
              <a:rPr lang="en-US" sz="2200" b="1" dirty="0">
                <a:solidFill>
                  <a:srgbClr val="FFFFFF"/>
                </a:solidFill>
              </a:rPr>
              <a:t>2</a:t>
            </a:r>
            <a:endParaRPr lang="en-US" sz="2200" dirty="0"/>
          </a:p>
        </p:txBody>
      </p:sp>
      <p:sp>
        <p:nvSpPr>
          <p:cNvPr id="14" name="Text 12"/>
          <p:cNvSpPr txBox="1"/>
          <p:nvPr/>
        </p:nvSpPr>
        <p:spPr>
          <a:xfrm>
            <a:off x="5166360" y="960120"/>
            <a:ext cx="3520440" cy="347472"/>
          </a:xfrm>
          <a:prstGeom prst="rect">
            <a:avLst/>
          </a:prstGeom>
          <a:noFill/>
          <a:ln/>
        </p:spPr>
        <p:txBody>
          <a:bodyPr wrap="square" lIns="0" tIns="0" rIns="0" bIns="0" rtlCol="0" anchor="ctr"/>
          <a:lstStyle/>
          <a:p>
            <a:pPr indent="0" marL="0">
              <a:buNone/>
            </a:pPr>
            <a:r>
              <a:rPr lang="en-US" sz="1300" b="1" dirty="0">
                <a:solidFill>
                  <a:srgbClr val="1A2744"/>
                </a:solidFill>
              </a:rPr>
              <a:t>Scope of Work</a:t>
            </a:r>
            <a:endParaRPr lang="en-US" sz="1300" dirty="0"/>
          </a:p>
        </p:txBody>
      </p:sp>
      <p:sp>
        <p:nvSpPr>
          <p:cNvPr id="15" name="Text 13"/>
          <p:cNvSpPr txBox="1"/>
          <p:nvPr/>
        </p:nvSpPr>
        <p:spPr>
          <a:xfrm>
            <a:off x="5166360" y="1325880"/>
            <a:ext cx="3520440" cy="594360"/>
          </a:xfrm>
          <a:prstGeom prst="rect">
            <a:avLst/>
          </a:prstGeom>
          <a:noFill/>
          <a:ln/>
        </p:spPr>
        <p:txBody>
          <a:bodyPr wrap="square" lIns="0" tIns="0" rIns="0" bIns="0" rtlCol="0" anchor="ctr"/>
          <a:lstStyle/>
          <a:p>
            <a:pPr indent="0" marL="0">
              <a:buNone/>
            </a:pPr>
            <a:r>
              <a:rPr lang="en-US" sz="1100" dirty="0">
                <a:solidFill>
                  <a:srgbClr val="2C3E50"/>
                </a:solidFill>
              </a:rPr>
              <a:t>Target IP ranges, systems in/out of scope, testing types permitted</a:t>
            </a:r>
            <a:endParaRPr lang="en-US" sz="1100" dirty="0"/>
          </a:p>
        </p:txBody>
      </p:sp>
      <p:sp>
        <p:nvSpPr>
          <p:cNvPr id="16" name="Shape 14"/>
          <p:cNvSpPr/>
          <p:nvPr/>
        </p:nvSpPr>
        <p:spPr>
          <a:xfrm>
            <a:off x="274320" y="2194560"/>
            <a:ext cx="4206240" cy="1143000"/>
          </a:xfrm>
          <a:prstGeom prst="rect">
            <a:avLst/>
          </a:prstGeom>
          <a:solidFill>
            <a:srgbClr val="EEF4FB"/>
          </a:solidFill>
          <a:ln w="19050">
            <a:solidFill>
              <a:srgbClr val="0D3B5E"/>
            </a:solidFill>
            <a:prstDash val="solid"/>
          </a:ln>
        </p:spPr>
      </p:sp>
      <p:sp>
        <p:nvSpPr>
          <p:cNvPr id="17" name="Shape 15"/>
          <p:cNvSpPr/>
          <p:nvPr/>
        </p:nvSpPr>
        <p:spPr>
          <a:xfrm>
            <a:off x="274320" y="2194560"/>
            <a:ext cx="457200" cy="1143000"/>
          </a:xfrm>
          <a:prstGeom prst="rect">
            <a:avLst/>
          </a:prstGeom>
          <a:solidFill>
            <a:srgbClr val="0D3B5E"/>
          </a:solidFill>
          <a:ln w="12700">
            <a:solidFill>
              <a:srgbClr val="0D3B5E"/>
            </a:solidFill>
            <a:prstDash val="solid"/>
          </a:ln>
        </p:spPr>
      </p:sp>
      <p:sp>
        <p:nvSpPr>
          <p:cNvPr id="18" name="Text 16"/>
          <p:cNvSpPr txBox="1"/>
          <p:nvPr/>
        </p:nvSpPr>
        <p:spPr>
          <a:xfrm>
            <a:off x="274320" y="2194560"/>
            <a:ext cx="457200" cy="1143000"/>
          </a:xfrm>
          <a:prstGeom prst="rect">
            <a:avLst/>
          </a:prstGeom>
          <a:noFill/>
          <a:ln/>
        </p:spPr>
        <p:txBody>
          <a:bodyPr wrap="square" lIns="0" tIns="0" rIns="0" bIns="0" rtlCol="0" anchor="ctr"/>
          <a:lstStyle/>
          <a:p>
            <a:pPr algn="ctr" indent="0" marL="0">
              <a:buNone/>
            </a:pPr>
            <a:r>
              <a:rPr lang="en-US" sz="2200" b="1" dirty="0">
                <a:solidFill>
                  <a:srgbClr val="FFFFFF"/>
                </a:solidFill>
              </a:rPr>
              <a:t>3</a:t>
            </a:r>
            <a:endParaRPr lang="en-US" sz="2200" dirty="0"/>
          </a:p>
        </p:txBody>
      </p:sp>
      <p:sp>
        <p:nvSpPr>
          <p:cNvPr id="19" name="Text 17"/>
          <p:cNvSpPr txBox="1"/>
          <p:nvPr/>
        </p:nvSpPr>
        <p:spPr>
          <a:xfrm>
            <a:off x="822960" y="2286000"/>
            <a:ext cx="3520440" cy="347472"/>
          </a:xfrm>
          <a:prstGeom prst="rect">
            <a:avLst/>
          </a:prstGeom>
          <a:noFill/>
          <a:ln/>
        </p:spPr>
        <p:txBody>
          <a:bodyPr wrap="square" lIns="0" tIns="0" rIns="0" bIns="0" rtlCol="0" anchor="ctr"/>
          <a:lstStyle/>
          <a:p>
            <a:pPr indent="0" marL="0">
              <a:buNone/>
            </a:pPr>
            <a:r>
              <a:rPr lang="en-US" sz="1300" b="1" dirty="0">
                <a:solidFill>
                  <a:srgbClr val="1A2744"/>
                </a:solidFill>
              </a:rPr>
              <a:t>Rules of Engagement</a:t>
            </a:r>
            <a:endParaRPr lang="en-US" sz="1300" dirty="0"/>
          </a:p>
        </p:txBody>
      </p:sp>
      <p:sp>
        <p:nvSpPr>
          <p:cNvPr id="20" name="Text 18"/>
          <p:cNvSpPr txBox="1"/>
          <p:nvPr/>
        </p:nvSpPr>
        <p:spPr>
          <a:xfrm>
            <a:off x="822960" y="2651760"/>
            <a:ext cx="3520440" cy="594360"/>
          </a:xfrm>
          <a:prstGeom prst="rect">
            <a:avLst/>
          </a:prstGeom>
          <a:noFill/>
          <a:ln/>
        </p:spPr>
        <p:txBody>
          <a:bodyPr wrap="square" lIns="0" tIns="0" rIns="0" bIns="0" rtlCol="0" anchor="ctr"/>
          <a:lstStyle/>
          <a:p>
            <a:pPr indent="0" marL="0">
              <a:buNone/>
            </a:pPr>
            <a:r>
              <a:rPr lang="en-US" sz="1100" dirty="0">
                <a:solidFill>
                  <a:srgbClr val="2C3E50"/>
                </a:solidFill>
              </a:rPr>
              <a:t>Testing hours, prohibited techniques, escalation procedures</a:t>
            </a:r>
            <a:endParaRPr lang="en-US" sz="1100" dirty="0"/>
          </a:p>
        </p:txBody>
      </p:sp>
      <p:sp>
        <p:nvSpPr>
          <p:cNvPr id="21" name="Shape 19"/>
          <p:cNvSpPr/>
          <p:nvPr/>
        </p:nvSpPr>
        <p:spPr>
          <a:xfrm>
            <a:off x="4617720" y="2194560"/>
            <a:ext cx="4206240" cy="1143000"/>
          </a:xfrm>
          <a:prstGeom prst="rect">
            <a:avLst/>
          </a:prstGeom>
          <a:solidFill>
            <a:srgbClr val="EEF4FB"/>
          </a:solidFill>
          <a:ln w="19050">
            <a:solidFill>
              <a:srgbClr val="8B0000"/>
            </a:solidFill>
            <a:prstDash val="solid"/>
          </a:ln>
        </p:spPr>
      </p:sp>
      <p:sp>
        <p:nvSpPr>
          <p:cNvPr id="22" name="Shape 20"/>
          <p:cNvSpPr/>
          <p:nvPr/>
        </p:nvSpPr>
        <p:spPr>
          <a:xfrm>
            <a:off x="4617720" y="2194560"/>
            <a:ext cx="457200" cy="1143000"/>
          </a:xfrm>
          <a:prstGeom prst="rect">
            <a:avLst/>
          </a:prstGeom>
          <a:solidFill>
            <a:srgbClr val="8B0000"/>
          </a:solidFill>
          <a:ln w="12700">
            <a:solidFill>
              <a:srgbClr val="8B0000"/>
            </a:solidFill>
            <a:prstDash val="solid"/>
          </a:ln>
        </p:spPr>
      </p:sp>
      <p:sp>
        <p:nvSpPr>
          <p:cNvPr id="23" name="Text 21"/>
          <p:cNvSpPr txBox="1"/>
          <p:nvPr/>
        </p:nvSpPr>
        <p:spPr>
          <a:xfrm>
            <a:off x="4617720" y="2194560"/>
            <a:ext cx="457200" cy="1143000"/>
          </a:xfrm>
          <a:prstGeom prst="rect">
            <a:avLst/>
          </a:prstGeom>
          <a:noFill/>
          <a:ln/>
        </p:spPr>
        <p:txBody>
          <a:bodyPr wrap="square" lIns="0" tIns="0" rIns="0" bIns="0" rtlCol="0" anchor="ctr"/>
          <a:lstStyle/>
          <a:p>
            <a:pPr algn="ctr" indent="0" marL="0">
              <a:buNone/>
            </a:pPr>
            <a:r>
              <a:rPr lang="en-US" sz="2200" b="1" dirty="0">
                <a:solidFill>
                  <a:srgbClr val="FFFFFF"/>
                </a:solidFill>
              </a:rPr>
              <a:t>4</a:t>
            </a:r>
            <a:endParaRPr lang="en-US" sz="2200" dirty="0"/>
          </a:p>
        </p:txBody>
      </p:sp>
      <p:sp>
        <p:nvSpPr>
          <p:cNvPr id="24" name="Text 22"/>
          <p:cNvSpPr txBox="1"/>
          <p:nvPr/>
        </p:nvSpPr>
        <p:spPr>
          <a:xfrm>
            <a:off x="5166360" y="2286000"/>
            <a:ext cx="3520440" cy="347472"/>
          </a:xfrm>
          <a:prstGeom prst="rect">
            <a:avLst/>
          </a:prstGeom>
          <a:noFill/>
          <a:ln/>
        </p:spPr>
        <p:txBody>
          <a:bodyPr wrap="square" lIns="0" tIns="0" rIns="0" bIns="0" rtlCol="0" anchor="ctr"/>
          <a:lstStyle/>
          <a:p>
            <a:pPr indent="0" marL="0">
              <a:buNone/>
            </a:pPr>
            <a:r>
              <a:rPr lang="en-US" sz="1300" b="1" dirty="0">
                <a:solidFill>
                  <a:srgbClr val="1A2744"/>
                </a:solidFill>
              </a:rPr>
              <a:t>Permission to Test</a:t>
            </a:r>
            <a:endParaRPr lang="en-US" sz="1300" dirty="0"/>
          </a:p>
        </p:txBody>
      </p:sp>
      <p:sp>
        <p:nvSpPr>
          <p:cNvPr id="25" name="Text 23"/>
          <p:cNvSpPr txBox="1"/>
          <p:nvPr/>
        </p:nvSpPr>
        <p:spPr>
          <a:xfrm>
            <a:off x="5166360" y="2651760"/>
            <a:ext cx="3520440" cy="594360"/>
          </a:xfrm>
          <a:prstGeom prst="rect">
            <a:avLst/>
          </a:prstGeom>
          <a:noFill/>
          <a:ln/>
        </p:spPr>
        <p:txBody>
          <a:bodyPr wrap="square" lIns="0" tIns="0" rIns="0" bIns="0" rtlCol="0" anchor="ctr"/>
          <a:lstStyle/>
          <a:p>
            <a:pPr indent="0" marL="0">
              <a:buNone/>
            </a:pPr>
            <a:r>
              <a:rPr lang="en-US" sz="1100" dirty="0">
                <a:solidFill>
                  <a:srgbClr val="2C3E50"/>
                </a:solidFill>
              </a:rPr>
              <a:t>Written legal authorisation signed by asset owner - required before any testing</a:t>
            </a:r>
            <a:endParaRPr lang="en-US" sz="1100" dirty="0"/>
          </a:p>
        </p:txBody>
      </p:sp>
      <p:sp>
        <p:nvSpPr>
          <p:cNvPr id="26" name="Shape 24"/>
          <p:cNvSpPr/>
          <p:nvPr/>
        </p:nvSpPr>
        <p:spPr>
          <a:xfrm>
            <a:off x="274320" y="3520440"/>
            <a:ext cx="4206240" cy="1143000"/>
          </a:xfrm>
          <a:prstGeom prst="rect">
            <a:avLst/>
          </a:prstGeom>
          <a:solidFill>
            <a:srgbClr val="EEF4FB"/>
          </a:solidFill>
          <a:ln w="19050">
            <a:solidFill>
              <a:srgbClr val="005A5B"/>
            </a:solidFill>
            <a:prstDash val="solid"/>
          </a:ln>
        </p:spPr>
      </p:sp>
      <p:sp>
        <p:nvSpPr>
          <p:cNvPr id="27" name="Shape 25"/>
          <p:cNvSpPr/>
          <p:nvPr/>
        </p:nvSpPr>
        <p:spPr>
          <a:xfrm>
            <a:off x="274320" y="3520440"/>
            <a:ext cx="457200" cy="1143000"/>
          </a:xfrm>
          <a:prstGeom prst="rect">
            <a:avLst/>
          </a:prstGeom>
          <a:solidFill>
            <a:srgbClr val="005A5B"/>
          </a:solidFill>
          <a:ln w="12700">
            <a:solidFill>
              <a:srgbClr val="005A5B"/>
            </a:solidFill>
            <a:prstDash val="solid"/>
          </a:ln>
        </p:spPr>
      </p:sp>
      <p:sp>
        <p:nvSpPr>
          <p:cNvPr id="28" name="Text 26"/>
          <p:cNvSpPr txBox="1"/>
          <p:nvPr/>
        </p:nvSpPr>
        <p:spPr>
          <a:xfrm>
            <a:off x="274320" y="3520440"/>
            <a:ext cx="457200" cy="1143000"/>
          </a:xfrm>
          <a:prstGeom prst="rect">
            <a:avLst/>
          </a:prstGeom>
          <a:noFill/>
          <a:ln/>
        </p:spPr>
        <p:txBody>
          <a:bodyPr wrap="square" lIns="0" tIns="0" rIns="0" bIns="0" rtlCol="0" anchor="ctr"/>
          <a:lstStyle/>
          <a:p>
            <a:pPr algn="ctr" indent="0" marL="0">
              <a:buNone/>
            </a:pPr>
            <a:r>
              <a:rPr lang="en-US" sz="2200" b="1" dirty="0">
                <a:solidFill>
                  <a:srgbClr val="FFFFFF"/>
                </a:solidFill>
              </a:rPr>
              <a:t>5</a:t>
            </a:r>
            <a:endParaRPr lang="en-US" sz="2200" dirty="0"/>
          </a:p>
        </p:txBody>
      </p:sp>
      <p:sp>
        <p:nvSpPr>
          <p:cNvPr id="29" name="Text 27"/>
          <p:cNvSpPr txBox="1"/>
          <p:nvPr/>
        </p:nvSpPr>
        <p:spPr>
          <a:xfrm>
            <a:off x="822960" y="3611880"/>
            <a:ext cx="3520440" cy="347472"/>
          </a:xfrm>
          <a:prstGeom prst="rect">
            <a:avLst/>
          </a:prstGeom>
          <a:noFill/>
          <a:ln/>
        </p:spPr>
        <p:txBody>
          <a:bodyPr wrap="square" lIns="0" tIns="0" rIns="0" bIns="0" rtlCol="0" anchor="ctr"/>
          <a:lstStyle/>
          <a:p>
            <a:pPr indent="0" marL="0">
              <a:buNone/>
            </a:pPr>
            <a:r>
              <a:rPr lang="en-US" sz="1300" b="1" dirty="0">
                <a:solidFill>
                  <a:srgbClr val="1A2744"/>
                </a:solidFill>
              </a:rPr>
              <a:t>Supplied Credentials</a:t>
            </a:r>
            <a:endParaRPr lang="en-US" sz="1300" dirty="0"/>
          </a:p>
        </p:txBody>
      </p:sp>
      <p:sp>
        <p:nvSpPr>
          <p:cNvPr id="30" name="Text 28"/>
          <p:cNvSpPr txBox="1"/>
          <p:nvPr/>
        </p:nvSpPr>
        <p:spPr>
          <a:xfrm>
            <a:off x="822960" y="3977640"/>
            <a:ext cx="3520440" cy="594360"/>
          </a:xfrm>
          <a:prstGeom prst="rect">
            <a:avLst/>
          </a:prstGeom>
          <a:noFill/>
          <a:ln/>
        </p:spPr>
        <p:txBody>
          <a:bodyPr wrap="square" lIns="0" tIns="0" rIns="0" bIns="0" rtlCol="0" anchor="ctr"/>
          <a:lstStyle/>
          <a:p>
            <a:pPr indent="0" marL="0">
              <a:buNone/>
            </a:pPr>
            <a:r>
              <a:rPr lang="en-US" sz="1100" dirty="0">
                <a:solidFill>
                  <a:srgbClr val="2C3E50"/>
                </a:solidFill>
              </a:rPr>
              <a:t>Grey box starting credentials (jsmith / Password1 for Syntex)</a:t>
            </a:r>
            <a:endParaRPr lang="en-US" sz="1100" dirty="0"/>
          </a:p>
        </p:txBody>
      </p:sp>
      <p:sp>
        <p:nvSpPr>
          <p:cNvPr id="31" name="Shape 29"/>
          <p:cNvSpPr/>
          <p:nvPr/>
        </p:nvSpPr>
        <p:spPr>
          <a:xfrm>
            <a:off x="4617720" y="3520440"/>
            <a:ext cx="4206240" cy="1143000"/>
          </a:xfrm>
          <a:prstGeom prst="rect">
            <a:avLst/>
          </a:prstGeom>
          <a:solidFill>
            <a:srgbClr val="EEF4FB"/>
          </a:solidFill>
          <a:ln w="19050">
            <a:solidFill>
              <a:srgbClr val="005A5B"/>
            </a:solidFill>
            <a:prstDash val="solid"/>
          </a:ln>
        </p:spPr>
      </p:sp>
      <p:sp>
        <p:nvSpPr>
          <p:cNvPr id="32" name="Shape 30"/>
          <p:cNvSpPr/>
          <p:nvPr/>
        </p:nvSpPr>
        <p:spPr>
          <a:xfrm>
            <a:off x="4617720" y="3520440"/>
            <a:ext cx="457200" cy="1143000"/>
          </a:xfrm>
          <a:prstGeom prst="rect">
            <a:avLst/>
          </a:prstGeom>
          <a:solidFill>
            <a:srgbClr val="005A5B"/>
          </a:solidFill>
          <a:ln w="12700">
            <a:solidFill>
              <a:srgbClr val="005A5B"/>
            </a:solidFill>
            <a:prstDash val="solid"/>
          </a:ln>
        </p:spPr>
      </p:sp>
      <p:sp>
        <p:nvSpPr>
          <p:cNvPr id="33" name="Text 31"/>
          <p:cNvSpPr txBox="1"/>
          <p:nvPr/>
        </p:nvSpPr>
        <p:spPr>
          <a:xfrm>
            <a:off x="4617720" y="3520440"/>
            <a:ext cx="457200" cy="1143000"/>
          </a:xfrm>
          <a:prstGeom prst="rect">
            <a:avLst/>
          </a:prstGeom>
          <a:noFill/>
          <a:ln/>
        </p:spPr>
        <p:txBody>
          <a:bodyPr wrap="square" lIns="0" tIns="0" rIns="0" bIns="0" rtlCol="0" anchor="ctr"/>
          <a:lstStyle/>
          <a:p>
            <a:pPr algn="ctr" indent="0" marL="0">
              <a:buNone/>
            </a:pPr>
            <a:r>
              <a:rPr lang="en-US" sz="2200" b="1" dirty="0">
                <a:solidFill>
                  <a:srgbClr val="FFFFFF"/>
                </a:solidFill>
              </a:rPr>
              <a:t>6</a:t>
            </a:r>
            <a:endParaRPr lang="en-US" sz="2200" dirty="0"/>
          </a:p>
        </p:txBody>
      </p:sp>
      <p:sp>
        <p:nvSpPr>
          <p:cNvPr id="34" name="Text 32"/>
          <p:cNvSpPr txBox="1"/>
          <p:nvPr/>
        </p:nvSpPr>
        <p:spPr>
          <a:xfrm>
            <a:off x="5166360" y="3611880"/>
            <a:ext cx="3520440" cy="347472"/>
          </a:xfrm>
          <a:prstGeom prst="rect">
            <a:avLst/>
          </a:prstGeom>
          <a:noFill/>
          <a:ln/>
        </p:spPr>
        <p:txBody>
          <a:bodyPr wrap="square" lIns="0" tIns="0" rIns="0" bIns="0" rtlCol="0" anchor="ctr"/>
          <a:lstStyle/>
          <a:p>
            <a:pPr indent="0" marL="0">
              <a:buNone/>
            </a:pPr>
            <a:r>
              <a:rPr lang="en-US" sz="1300" b="1" dirty="0">
                <a:solidFill>
                  <a:srgbClr val="1A2744"/>
                </a:solidFill>
              </a:rPr>
              <a:t>Network Overview</a:t>
            </a:r>
            <a:endParaRPr lang="en-US" sz="1300" dirty="0"/>
          </a:p>
        </p:txBody>
      </p:sp>
      <p:sp>
        <p:nvSpPr>
          <p:cNvPr id="35" name="Text 33"/>
          <p:cNvSpPr txBox="1"/>
          <p:nvPr/>
        </p:nvSpPr>
        <p:spPr>
          <a:xfrm>
            <a:off x="5166360" y="3977640"/>
            <a:ext cx="3520440" cy="594360"/>
          </a:xfrm>
          <a:prstGeom prst="rect">
            <a:avLst/>
          </a:prstGeom>
          <a:noFill/>
          <a:ln/>
        </p:spPr>
        <p:txBody>
          <a:bodyPr wrap="square" lIns="0" tIns="0" rIns="0" bIns="0" rtlCol="0" anchor="ctr"/>
          <a:lstStyle/>
          <a:p>
            <a:pPr indent="0" marL="0">
              <a:buNone/>
            </a:pPr>
            <a:r>
              <a:rPr lang="en-US" sz="1100" dirty="0">
                <a:solidFill>
                  <a:srgbClr val="2C3E50"/>
                </a:solidFill>
              </a:rPr>
              <a:t>IP map, subnet layout, key services, physical/logical diagram</a:t>
            </a:r>
            <a:endParaRPr lang="en-US" sz="1100" dirty="0"/>
          </a:p>
        </p:txBody>
      </p:sp>
      <p:sp>
        <p:nvSpPr>
          <p:cNvPr id="36" name="Text 34"/>
          <p:cNvSpPr txBox="1"/>
          <p:nvPr/>
        </p:nvSpPr>
        <p:spPr>
          <a:xfrm>
            <a:off x="0" y="4892040"/>
            <a:ext cx="9144000" cy="256032"/>
          </a:xfrm>
          <a:prstGeom prst="rect">
            <a:avLst/>
          </a:prstGeom>
          <a:noFill/>
          <a:ln/>
        </p:spPr>
        <p:txBody>
          <a:bodyPr wrap="square" lIns="0" tIns="0" rIns="0" bIns="0" rtlCol="0" anchor="ctr"/>
          <a:lstStyle/>
          <a:p>
            <a:pPr algn="ctr" indent="0" marL="0">
              <a:buNone/>
            </a:pPr>
            <a:r>
              <a:rPr lang="en-US" sz="900" dirty="0">
                <a:solidFill>
                  <a:srgbClr val="7F8C8D"/>
                </a:solidFill>
              </a:rPr>
              <a:t>My Cyber Academy | MCA CREST CPSA - Module A: Soft Skills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w="12700">
            <a:solidFill>
              <a:srgbClr val="FFFFFF"/>
            </a:solidFill>
            <a:prstDash val="solid"/>
          </a:ln>
        </p:spPr>
      </p:sp>
      <p:sp>
        <p:nvSpPr>
          <p:cNvPr id="3" name="Shape 1"/>
          <p:cNvSpPr/>
          <p:nvPr/>
        </p:nvSpPr>
        <p:spPr>
          <a:xfrm>
            <a:off x="0" y="0"/>
            <a:ext cx="9144000" cy="73152"/>
          </a:xfrm>
          <a:prstGeom prst="rect">
            <a:avLst/>
          </a:prstGeom>
          <a:solidFill>
            <a:srgbClr val="00B4C8"/>
          </a:solidFill>
          <a:ln w="12700">
            <a:solidFill>
              <a:srgbClr val="00B4C8"/>
            </a:solidFill>
            <a:prstDash val="solid"/>
          </a:ln>
        </p:spPr>
      </p:sp>
      <p:sp>
        <p:nvSpPr>
          <p:cNvPr id="4" name="Text 2"/>
          <p:cNvSpPr txBox="1"/>
          <p:nvPr/>
        </p:nvSpPr>
        <p:spPr>
          <a:xfrm>
            <a:off x="365760" y="137160"/>
            <a:ext cx="8412480" cy="548640"/>
          </a:xfrm>
          <a:prstGeom prst="rect">
            <a:avLst/>
          </a:prstGeom>
          <a:noFill/>
          <a:ln/>
        </p:spPr>
        <p:txBody>
          <a:bodyPr wrap="square" lIns="0" tIns="0" rIns="0" bIns="0" rtlCol="0" anchor="ctr"/>
          <a:lstStyle/>
          <a:p>
            <a:pPr algn="l" indent="0" marL="0">
              <a:buNone/>
            </a:pPr>
            <a:r>
              <a:rPr lang="en-US" sz="2800" b="1" dirty="0">
                <a:solidFill>
                  <a:srgbClr val="1A2744"/>
                </a:solidFill>
              </a:rPr>
              <a:t>Syntex Engagement Pack - Key Points to Identify</a:t>
            </a:r>
            <a:endParaRPr lang="en-US" sz="2800" dirty="0"/>
          </a:p>
        </p:txBody>
      </p:sp>
      <p:sp>
        <p:nvSpPr>
          <p:cNvPr id="5" name="Shape 3"/>
          <p:cNvSpPr/>
          <p:nvPr/>
        </p:nvSpPr>
        <p:spPr>
          <a:xfrm>
            <a:off x="365760" y="713232"/>
            <a:ext cx="8412480" cy="0"/>
          </a:xfrm>
          <a:prstGeom prst="line">
            <a:avLst/>
          </a:prstGeom>
          <a:noFill/>
          <a:ln w="19050">
            <a:solidFill>
              <a:srgbClr val="00B4C8"/>
            </a:solidFill>
            <a:prstDash val="solid"/>
          </a:ln>
        </p:spPr>
      </p:sp>
      <p:sp>
        <p:nvSpPr>
          <p:cNvPr id="6" name="Shape 4"/>
          <p:cNvSpPr/>
          <p:nvPr/>
        </p:nvSpPr>
        <p:spPr>
          <a:xfrm>
            <a:off x="274320" y="868680"/>
            <a:ext cx="4114800" cy="2148840"/>
          </a:xfrm>
          <a:prstGeom prst="rect">
            <a:avLst/>
          </a:prstGeom>
          <a:solidFill>
            <a:srgbClr val="EEF4FB"/>
          </a:solidFill>
          <a:ln w="12700">
            <a:solidFill>
              <a:srgbClr val="00B4C8"/>
            </a:solidFill>
            <a:prstDash val="solid"/>
          </a:ln>
        </p:spPr>
      </p:sp>
      <p:sp>
        <p:nvSpPr>
          <p:cNvPr id="7" name="Text 5"/>
          <p:cNvSpPr txBox="1"/>
          <p:nvPr/>
        </p:nvSpPr>
        <p:spPr>
          <a:xfrm>
            <a:off x="365760" y="914400"/>
            <a:ext cx="3840480" cy="320040"/>
          </a:xfrm>
          <a:prstGeom prst="rect">
            <a:avLst/>
          </a:prstGeom>
          <a:noFill/>
          <a:ln/>
        </p:spPr>
        <p:txBody>
          <a:bodyPr wrap="square" lIns="0" tIns="0" rIns="0" bIns="0" rtlCol="0" anchor="ctr"/>
          <a:lstStyle/>
          <a:p>
            <a:pPr indent="0" marL="0">
              <a:buNone/>
            </a:pPr>
            <a:r>
              <a:rPr lang="en-US" sz="1400" b="1" dirty="0">
                <a:solidFill>
                  <a:srgbClr val="1A2744"/>
                </a:solidFill>
              </a:rPr>
              <a:t>Scope &amp; Targets</a:t>
            </a:r>
            <a:endParaRPr lang="en-US" sz="1400" dirty="0"/>
          </a:p>
        </p:txBody>
      </p:sp>
      <p:sp>
        <p:nvSpPr>
          <p:cNvPr id="8" name="Text 6"/>
          <p:cNvSpPr txBox="1"/>
          <p:nvPr/>
        </p:nvSpPr>
        <p:spPr>
          <a:xfrm>
            <a:off x="365760" y="1280160"/>
            <a:ext cx="3931920" cy="1645920"/>
          </a:xfrm>
          <a:prstGeom prst="rect">
            <a:avLst/>
          </a:prstGeom>
          <a:noFill/>
          <a:ln/>
        </p:spPr>
        <p:txBody>
          <a:bodyPr wrap="square" lIns="0" tIns="50800" rIns="0" bIns="0" rtlCol="0" anchor="t"/>
          <a:lstStyle/>
          <a:p>
            <a:pPr algn="l">
              <a:spcAft>
                <a:spcPts val="600"/>
              </a:spcAft>
            </a:pPr>
            <a:r>
              <a:rPr lang="en-US" sz="1100" dirty="0">
                <a:solidFill>
                  <a:srgbClr val="2C3E50"/>
                </a:solidFill>
              </a:rPr>
              <a:t>SYNTEX-DC01: 10.0.29.131 - Windows Server 2016 DC</a:t>
            </a:r>
            <a:endParaRPr lang="en-US" sz="1100" dirty="0"/>
          </a:p>
          <a:p>
            <a:pPr algn="l">
              <a:spcAft>
                <a:spcPts val="600"/>
              </a:spcAft>
            </a:pPr>
            <a:r>
              <a:rPr lang="en-US" sz="1100" dirty="0">
                <a:solidFill>
                  <a:srgbClr val="2C3E50"/>
                </a:solidFill>
              </a:rPr>
              <a:t>SYNTEX-LNX01: 10.1.53.39 - Ubuntu 20.04 web server</a:t>
            </a:r>
            <a:endParaRPr lang="en-US" sz="1100" dirty="0"/>
          </a:p>
          <a:p>
            <a:pPr algn="l">
              <a:spcAft>
                <a:spcPts val="600"/>
              </a:spcAft>
            </a:pPr>
            <a:r>
              <a:rPr lang="en-US" sz="1100" dirty="0">
                <a:solidFill>
                  <a:srgbClr val="2C3E50"/>
                </a:solidFill>
              </a:rPr>
              <a:t>In scope: all services on these IPs</a:t>
            </a:r>
            <a:endParaRPr lang="en-US" sz="1100" dirty="0"/>
          </a:p>
          <a:p>
            <a:pPr algn="l">
              <a:spcAft>
                <a:spcPts val="600"/>
              </a:spcAft>
            </a:pPr>
            <a:r>
              <a:rPr lang="en-US" sz="1100" dirty="0">
                <a:solidFill>
                  <a:srgbClr val="2C3E50"/>
                </a:solidFill>
              </a:rPr>
              <a:t>Out of scope: cloud services, third-party payment processor</a:t>
            </a:r>
            <a:endParaRPr lang="en-US" sz="1100" dirty="0"/>
          </a:p>
          <a:p>
            <a:pPr algn="l">
              <a:spcAft>
                <a:spcPts val="600"/>
              </a:spcAft>
            </a:pPr>
            <a:r>
              <a:rPr lang="en-US" sz="1100" dirty="0">
                <a:solidFill>
                  <a:srgbClr val="2C3E50"/>
                </a:solidFill>
              </a:rPr>
              <a:t>Grey box: jsmith creds supplied, no source code access</a:t>
            </a:r>
            <a:endParaRPr lang="en-US" sz="1100" dirty="0"/>
          </a:p>
        </p:txBody>
      </p:sp>
      <p:sp>
        <p:nvSpPr>
          <p:cNvPr id="9" name="Shape 7"/>
          <p:cNvSpPr/>
          <p:nvPr/>
        </p:nvSpPr>
        <p:spPr>
          <a:xfrm>
            <a:off x="4572000" y="868680"/>
            <a:ext cx="4206240" cy="2148840"/>
          </a:xfrm>
          <a:prstGeom prst="rect">
            <a:avLst/>
          </a:prstGeom>
          <a:solidFill>
            <a:srgbClr val="EEF4FB"/>
          </a:solidFill>
          <a:ln w="12700">
            <a:solidFill>
              <a:srgbClr val="E8A020"/>
            </a:solidFill>
            <a:prstDash val="solid"/>
          </a:ln>
        </p:spPr>
      </p:sp>
      <p:sp>
        <p:nvSpPr>
          <p:cNvPr id="10" name="Text 8"/>
          <p:cNvSpPr txBox="1"/>
          <p:nvPr/>
        </p:nvSpPr>
        <p:spPr>
          <a:xfrm>
            <a:off x="4663440" y="914400"/>
            <a:ext cx="3931920" cy="320040"/>
          </a:xfrm>
          <a:prstGeom prst="rect">
            <a:avLst/>
          </a:prstGeom>
          <a:noFill/>
          <a:ln/>
        </p:spPr>
        <p:txBody>
          <a:bodyPr wrap="square" lIns="0" tIns="0" rIns="0" bIns="0" rtlCol="0" anchor="ctr"/>
          <a:lstStyle/>
          <a:p>
            <a:pPr indent="0" marL="0">
              <a:buNone/>
            </a:pPr>
            <a:r>
              <a:rPr lang="en-US" sz="1400" b="1" dirty="0">
                <a:solidFill>
                  <a:srgbClr val="1A2744"/>
                </a:solidFill>
              </a:rPr>
              <a:t>Rules of Engagement</a:t>
            </a:r>
            <a:endParaRPr lang="en-US" sz="1400" dirty="0"/>
          </a:p>
        </p:txBody>
      </p:sp>
      <p:sp>
        <p:nvSpPr>
          <p:cNvPr id="11" name="Text 9"/>
          <p:cNvSpPr txBox="1"/>
          <p:nvPr/>
        </p:nvSpPr>
        <p:spPr>
          <a:xfrm>
            <a:off x="4663440" y="1280160"/>
            <a:ext cx="4023360" cy="1645920"/>
          </a:xfrm>
          <a:prstGeom prst="rect">
            <a:avLst/>
          </a:prstGeom>
          <a:noFill/>
          <a:ln/>
        </p:spPr>
        <p:txBody>
          <a:bodyPr wrap="square" lIns="0" tIns="50800" rIns="0" bIns="0" rtlCol="0" anchor="t"/>
          <a:lstStyle/>
          <a:p>
            <a:pPr algn="l">
              <a:spcAft>
                <a:spcPts val="600"/>
              </a:spcAft>
            </a:pPr>
            <a:r>
              <a:rPr lang="en-US" sz="1100" dirty="0">
                <a:solidFill>
                  <a:srgbClr val="2C3E50"/>
                </a:solidFill>
              </a:rPr>
              <a:t>Testing hours: 09:00-17:00 Monday-Friday only</a:t>
            </a:r>
            <a:endParaRPr lang="en-US" sz="1100" dirty="0"/>
          </a:p>
          <a:p>
            <a:pPr algn="l">
              <a:spcAft>
                <a:spcPts val="600"/>
              </a:spcAft>
            </a:pPr>
            <a:r>
              <a:rPr lang="en-US" sz="1100" dirty="0">
                <a:solidFill>
                  <a:srgbClr val="2C3E50"/>
                </a:solidFill>
              </a:rPr>
              <a:t>No denial-of-service testing against payment processing services</a:t>
            </a:r>
            <a:endParaRPr lang="en-US" sz="1100" dirty="0"/>
          </a:p>
          <a:p>
            <a:pPr algn="l">
              <a:spcAft>
                <a:spcPts val="600"/>
              </a:spcAft>
            </a:pPr>
            <a:r>
              <a:rPr lang="en-US" sz="1100" dirty="0">
                <a:solidFill>
                  <a:srgbClr val="2C3E50"/>
                </a:solidFill>
              </a:rPr>
              <a:t>Destructive exploits require prior written approval</a:t>
            </a:r>
            <a:endParaRPr lang="en-US" sz="1100" dirty="0"/>
          </a:p>
          <a:p>
            <a:pPr algn="l">
              <a:spcAft>
                <a:spcPts val="600"/>
              </a:spcAft>
            </a:pPr>
            <a:r>
              <a:rPr lang="en-US" sz="1100" dirty="0">
                <a:solidFill>
                  <a:srgbClr val="2C3E50"/>
                </a:solidFill>
              </a:rPr>
              <a:t>Emergency contact: Mark Harris CTO +44 7700 900123</a:t>
            </a:r>
            <a:endParaRPr lang="en-US" sz="1100" dirty="0"/>
          </a:p>
          <a:p>
            <a:pPr algn="l">
              <a:spcAft>
                <a:spcPts val="600"/>
              </a:spcAft>
            </a:pPr>
            <a:r>
              <a:rPr lang="en-US" sz="1100" dirty="0">
                <a:solidFill>
                  <a:srgbClr val="2C3E50"/>
                </a:solidFill>
              </a:rPr>
              <a:t>Data exfil: capture evidence locally, do not retain customer PII</a:t>
            </a:r>
            <a:endParaRPr lang="en-US" sz="1100" dirty="0"/>
          </a:p>
        </p:txBody>
      </p:sp>
      <p:sp>
        <p:nvSpPr>
          <p:cNvPr id="12" name="Shape 10"/>
          <p:cNvSpPr/>
          <p:nvPr/>
        </p:nvSpPr>
        <p:spPr>
          <a:xfrm>
            <a:off x="274320" y="3154680"/>
            <a:ext cx="8503920" cy="1691640"/>
          </a:xfrm>
          <a:prstGeom prst="rect">
            <a:avLst/>
          </a:prstGeom>
          <a:solidFill>
            <a:srgbClr val="0D3B5E"/>
          </a:solidFill>
          <a:ln w="12700">
            <a:solidFill>
              <a:srgbClr val="00B4C8"/>
            </a:solidFill>
            <a:prstDash val="solid"/>
          </a:ln>
        </p:spPr>
      </p:sp>
      <p:sp>
        <p:nvSpPr>
          <p:cNvPr id="13" name="Text 11"/>
          <p:cNvSpPr txBox="1"/>
          <p:nvPr/>
        </p:nvSpPr>
        <p:spPr>
          <a:xfrm>
            <a:off x="457200" y="3246120"/>
            <a:ext cx="8046720" cy="320040"/>
          </a:xfrm>
          <a:prstGeom prst="rect">
            <a:avLst/>
          </a:prstGeom>
          <a:noFill/>
          <a:ln/>
        </p:spPr>
        <p:txBody>
          <a:bodyPr wrap="square" lIns="0" tIns="0" rIns="0" bIns="0" rtlCol="0" anchor="ctr"/>
          <a:lstStyle/>
          <a:p>
            <a:pPr indent="0" marL="0">
              <a:buNone/>
            </a:pPr>
            <a:r>
              <a:rPr lang="en-US" sz="1300" b="1" dirty="0">
                <a:solidFill>
                  <a:srgbClr val="FFFFFF"/>
                </a:solidFill>
              </a:rPr>
              <a:t>Regulatory Context - Why Syntex Commissioned This Assessment</a:t>
            </a:r>
            <a:endParaRPr lang="en-US" sz="1300" dirty="0"/>
          </a:p>
        </p:txBody>
      </p:sp>
      <p:sp>
        <p:nvSpPr>
          <p:cNvPr id="14" name="Shape 12"/>
          <p:cNvSpPr/>
          <p:nvPr/>
        </p:nvSpPr>
        <p:spPr>
          <a:xfrm>
            <a:off x="457200" y="3657600"/>
            <a:ext cx="822960" cy="822960"/>
          </a:xfrm>
          <a:prstGeom prst="rect">
            <a:avLst/>
          </a:prstGeom>
          <a:solidFill>
            <a:srgbClr val="00B4C8"/>
          </a:solidFill>
          <a:ln w="12700">
            <a:solidFill>
              <a:srgbClr val="00B4C8"/>
            </a:solidFill>
            <a:prstDash val="solid"/>
          </a:ln>
        </p:spPr>
      </p:sp>
      <p:sp>
        <p:nvSpPr>
          <p:cNvPr id="15" name="Text 13"/>
          <p:cNvSpPr txBox="1"/>
          <p:nvPr/>
        </p:nvSpPr>
        <p:spPr>
          <a:xfrm>
            <a:off x="457200" y="3657600"/>
            <a:ext cx="822960" cy="822960"/>
          </a:xfrm>
          <a:prstGeom prst="rect">
            <a:avLst/>
          </a:prstGeom>
          <a:noFill/>
          <a:ln/>
        </p:spPr>
        <p:txBody>
          <a:bodyPr wrap="square" lIns="25400" tIns="25400" rIns="25400" bIns="25400" rtlCol="0" anchor="ctr"/>
          <a:lstStyle/>
          <a:p>
            <a:pPr algn="ctr" indent="0" marL="0">
              <a:buNone/>
            </a:pPr>
            <a:r>
              <a:rPr lang="en-US" sz="900" b="1" dirty="0">
                <a:solidFill>
                  <a:srgbClr val="FFFFFF"/>
                </a:solidFill>
              </a:rPr>
              <a:t>PCI DSS v4.0</a:t>
            </a:r>
            <a:endParaRPr lang="en-US" sz="900" dirty="0"/>
          </a:p>
        </p:txBody>
      </p:sp>
      <p:sp>
        <p:nvSpPr>
          <p:cNvPr id="16" name="Text 14"/>
          <p:cNvSpPr txBox="1"/>
          <p:nvPr/>
        </p:nvSpPr>
        <p:spPr>
          <a:xfrm>
            <a:off x="1371600" y="3703320"/>
            <a:ext cx="1828800" cy="731520"/>
          </a:xfrm>
          <a:prstGeom prst="rect">
            <a:avLst/>
          </a:prstGeom>
          <a:noFill/>
          <a:ln/>
        </p:spPr>
        <p:txBody>
          <a:bodyPr wrap="square" lIns="0" tIns="0" rIns="0" bIns="0" rtlCol="0" anchor="ctr"/>
          <a:lstStyle/>
          <a:p>
            <a:pPr indent="0" marL="0">
              <a:buNone/>
            </a:pPr>
            <a:r>
              <a:rPr lang="en-US" sz="1000" dirty="0">
                <a:solidFill>
                  <a:srgbClr val="A0BAD4"/>
                </a:solidFill>
              </a:rPr>
              <a:t>Req 11.3 mandates annual penetration testing for card data environments</a:t>
            </a:r>
            <a:endParaRPr lang="en-US" sz="1000" dirty="0"/>
          </a:p>
        </p:txBody>
      </p:sp>
      <p:sp>
        <p:nvSpPr>
          <p:cNvPr id="17" name="Shape 15"/>
          <p:cNvSpPr/>
          <p:nvPr/>
        </p:nvSpPr>
        <p:spPr>
          <a:xfrm>
            <a:off x="3291840" y="3657600"/>
            <a:ext cx="822960" cy="822960"/>
          </a:xfrm>
          <a:prstGeom prst="rect">
            <a:avLst/>
          </a:prstGeom>
          <a:solidFill>
            <a:srgbClr val="00B4C8"/>
          </a:solidFill>
          <a:ln w="12700">
            <a:solidFill>
              <a:srgbClr val="00B4C8"/>
            </a:solidFill>
            <a:prstDash val="solid"/>
          </a:ln>
        </p:spPr>
      </p:sp>
      <p:sp>
        <p:nvSpPr>
          <p:cNvPr id="18" name="Text 16"/>
          <p:cNvSpPr txBox="1"/>
          <p:nvPr/>
        </p:nvSpPr>
        <p:spPr>
          <a:xfrm>
            <a:off x="3291840" y="3657600"/>
            <a:ext cx="822960" cy="822960"/>
          </a:xfrm>
          <a:prstGeom prst="rect">
            <a:avLst/>
          </a:prstGeom>
          <a:noFill/>
          <a:ln/>
        </p:spPr>
        <p:txBody>
          <a:bodyPr wrap="square" lIns="25400" tIns="25400" rIns="25400" bIns="25400" rtlCol="0" anchor="ctr"/>
          <a:lstStyle/>
          <a:p>
            <a:pPr algn="ctr" indent="0" marL="0">
              <a:buNone/>
            </a:pPr>
            <a:r>
              <a:rPr lang="en-US" sz="900" b="1" dirty="0">
                <a:solidFill>
                  <a:srgbClr val="FFFFFF"/>
                </a:solidFill>
              </a:rPr>
              <a:t>UK GDPR / DPA 2018</a:t>
            </a:r>
            <a:endParaRPr lang="en-US" sz="900" dirty="0"/>
          </a:p>
        </p:txBody>
      </p:sp>
      <p:sp>
        <p:nvSpPr>
          <p:cNvPr id="19" name="Text 17"/>
          <p:cNvSpPr txBox="1"/>
          <p:nvPr/>
        </p:nvSpPr>
        <p:spPr>
          <a:xfrm>
            <a:off x="4206240" y="3703320"/>
            <a:ext cx="1828800" cy="731520"/>
          </a:xfrm>
          <a:prstGeom prst="rect">
            <a:avLst/>
          </a:prstGeom>
          <a:noFill/>
          <a:ln/>
        </p:spPr>
        <p:txBody>
          <a:bodyPr wrap="square" lIns="0" tIns="0" rIns="0" bIns="0" rtlCol="0" anchor="ctr"/>
          <a:lstStyle/>
          <a:p>
            <a:pPr indent="0" marL="0">
              <a:buNone/>
            </a:pPr>
            <a:r>
              <a:rPr lang="en-US" sz="1000" dirty="0">
                <a:solidFill>
                  <a:srgbClr val="A0BAD4"/>
                </a:solidFill>
              </a:rPr>
              <a:t>Article 32 requires technical measures to ensure data security</a:t>
            </a:r>
            <a:endParaRPr lang="en-US" sz="1000" dirty="0"/>
          </a:p>
        </p:txBody>
      </p:sp>
      <p:sp>
        <p:nvSpPr>
          <p:cNvPr id="20" name="Shape 18"/>
          <p:cNvSpPr/>
          <p:nvPr/>
        </p:nvSpPr>
        <p:spPr>
          <a:xfrm>
            <a:off x="6126480" y="3657600"/>
            <a:ext cx="822960" cy="822960"/>
          </a:xfrm>
          <a:prstGeom prst="rect">
            <a:avLst/>
          </a:prstGeom>
          <a:solidFill>
            <a:srgbClr val="00B4C8"/>
          </a:solidFill>
          <a:ln w="12700">
            <a:solidFill>
              <a:srgbClr val="00B4C8"/>
            </a:solidFill>
            <a:prstDash val="solid"/>
          </a:ln>
        </p:spPr>
      </p:sp>
      <p:sp>
        <p:nvSpPr>
          <p:cNvPr id="21" name="Text 19"/>
          <p:cNvSpPr txBox="1"/>
          <p:nvPr/>
        </p:nvSpPr>
        <p:spPr>
          <a:xfrm>
            <a:off x="6126480" y="3657600"/>
            <a:ext cx="822960" cy="822960"/>
          </a:xfrm>
          <a:prstGeom prst="rect">
            <a:avLst/>
          </a:prstGeom>
          <a:noFill/>
          <a:ln/>
        </p:spPr>
        <p:txBody>
          <a:bodyPr wrap="square" lIns="25400" tIns="25400" rIns="25400" bIns="25400" rtlCol="0" anchor="ctr"/>
          <a:lstStyle/>
          <a:p>
            <a:pPr algn="ctr" indent="0" marL="0">
              <a:buNone/>
            </a:pPr>
            <a:r>
              <a:rPr lang="en-US" sz="900" b="1" dirty="0">
                <a:solidFill>
                  <a:srgbClr val="FFFFFF"/>
                </a:solidFill>
              </a:rPr>
              <a:t>FCA SYSC</a:t>
            </a:r>
            <a:endParaRPr lang="en-US" sz="900" dirty="0"/>
          </a:p>
        </p:txBody>
      </p:sp>
      <p:sp>
        <p:nvSpPr>
          <p:cNvPr id="22" name="Text 20"/>
          <p:cNvSpPr txBox="1"/>
          <p:nvPr/>
        </p:nvSpPr>
        <p:spPr>
          <a:xfrm>
            <a:off x="7040880" y="3703320"/>
            <a:ext cx="1828800" cy="731520"/>
          </a:xfrm>
          <a:prstGeom prst="rect">
            <a:avLst/>
          </a:prstGeom>
          <a:noFill/>
          <a:ln/>
        </p:spPr>
        <p:txBody>
          <a:bodyPr wrap="square" lIns="0" tIns="0" rIns="0" bIns="0" rtlCol="0" anchor="ctr"/>
          <a:lstStyle/>
          <a:p>
            <a:pPr indent="0" marL="0">
              <a:buNone/>
            </a:pPr>
            <a:r>
              <a:rPr lang="en-US" sz="1000" dirty="0">
                <a:solidFill>
                  <a:srgbClr val="A0BAD4"/>
                </a:solidFill>
              </a:rPr>
              <a:t>SYSC 8 requires robust IT controls for regulated financial firms</a:t>
            </a:r>
            <a:endParaRPr lang="en-US" sz="1000" dirty="0"/>
          </a:p>
        </p:txBody>
      </p:sp>
      <p:sp>
        <p:nvSpPr>
          <p:cNvPr id="23" name="Text 21"/>
          <p:cNvSpPr txBox="1"/>
          <p:nvPr/>
        </p:nvSpPr>
        <p:spPr>
          <a:xfrm>
            <a:off x="0" y="4892040"/>
            <a:ext cx="9144000" cy="256032"/>
          </a:xfrm>
          <a:prstGeom prst="rect">
            <a:avLst/>
          </a:prstGeom>
          <a:noFill/>
          <a:ln/>
        </p:spPr>
        <p:txBody>
          <a:bodyPr wrap="square" lIns="0" tIns="0" rIns="0" bIns="0" rtlCol="0" anchor="ctr"/>
          <a:lstStyle/>
          <a:p>
            <a:pPr algn="ctr" indent="0" marL="0">
              <a:buNone/>
            </a:pPr>
            <a:r>
              <a:rPr lang="en-US" sz="900" dirty="0">
                <a:solidFill>
                  <a:srgbClr val="7F8C8D"/>
                </a:solidFill>
              </a:rPr>
              <a:t>My Cyber Academy | MCA CREST CPSA - Module A: Soft Skills</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A2744"/>
          </a:solidFill>
          <a:ln w="12700">
            <a:solidFill>
              <a:srgbClr val="1A2744"/>
            </a:solidFill>
            <a:prstDash val="solid"/>
          </a:ln>
        </p:spPr>
      </p:sp>
      <p:sp>
        <p:nvSpPr>
          <p:cNvPr id="3" name="Shape 1"/>
          <p:cNvSpPr/>
          <p:nvPr/>
        </p:nvSpPr>
        <p:spPr>
          <a:xfrm>
            <a:off x="0" y="0"/>
            <a:ext cx="228600" cy="5143500"/>
          </a:xfrm>
          <a:prstGeom prst="rect">
            <a:avLst/>
          </a:prstGeom>
          <a:solidFill>
            <a:srgbClr val="27AE60"/>
          </a:solidFill>
          <a:ln w="12700">
            <a:solidFill>
              <a:srgbClr val="27AE60"/>
            </a:solidFill>
            <a:prstDash val="solid"/>
          </a:ln>
        </p:spPr>
      </p:sp>
      <p:sp>
        <p:nvSpPr>
          <p:cNvPr id="4" name="Text 2"/>
          <p:cNvSpPr txBox="1"/>
          <p:nvPr/>
        </p:nvSpPr>
        <p:spPr>
          <a:xfrm>
            <a:off x="548640" y="1097280"/>
            <a:ext cx="2286000" cy="1097280"/>
          </a:xfrm>
          <a:prstGeom prst="rect">
            <a:avLst/>
          </a:prstGeom>
          <a:noFill/>
          <a:ln/>
        </p:spPr>
        <p:txBody>
          <a:bodyPr wrap="square" lIns="0" tIns="0" rIns="0" bIns="0" rtlCol="0" anchor="ctr"/>
          <a:lstStyle/>
          <a:p>
            <a:pPr algn="l" indent="0" marL="0">
              <a:buNone/>
            </a:pPr>
            <a:r>
              <a:rPr lang="en-US" sz="8000" b="1" dirty="0">
                <a:solidFill>
                  <a:srgbClr val="0A3D0A"/>
                </a:solidFill>
              </a:rPr>
              <a:t>A3</a:t>
            </a:r>
            <a:endParaRPr lang="en-US" sz="8000" dirty="0"/>
          </a:p>
        </p:txBody>
      </p:sp>
      <p:sp>
        <p:nvSpPr>
          <p:cNvPr id="5" name="Text 3"/>
          <p:cNvSpPr txBox="1"/>
          <p:nvPr/>
        </p:nvSpPr>
        <p:spPr>
          <a:xfrm>
            <a:off x="548640" y="2148840"/>
            <a:ext cx="8229600" cy="914400"/>
          </a:xfrm>
          <a:prstGeom prst="rect">
            <a:avLst/>
          </a:prstGeom>
          <a:noFill/>
          <a:ln/>
        </p:spPr>
        <p:txBody>
          <a:bodyPr wrap="square" lIns="0" tIns="0" rIns="0" bIns="0" rtlCol="0" anchor="ctr"/>
          <a:lstStyle/>
          <a:p>
            <a:pPr algn="l" indent="0" marL="0">
              <a:buNone/>
            </a:pPr>
            <a:r>
              <a:rPr lang="en-US" sz="3400" b="1" dirty="0">
                <a:solidFill>
                  <a:srgbClr val="FFFFFF"/>
                </a:solidFill>
              </a:rPr>
              <a:t>Pentest</a:t>
            </a:r>
            <a:endParaRPr lang="en-US" sz="3400" dirty="0"/>
          </a:p>
          <a:p>
            <a:pPr algn="l" indent="0" marL="0">
              <a:buNone/>
            </a:pPr>
            <a:r>
              <a:rPr lang="en-US" sz="3400" b="1" dirty="0">
                <a:solidFill>
                  <a:srgbClr val="FFFFFF"/>
                </a:solidFill>
              </a:rPr>
              <a:t>Report Writing</a:t>
            </a:r>
            <a:endParaRPr lang="en-US" sz="3400" dirty="0"/>
          </a:p>
        </p:txBody>
      </p:sp>
      <p:sp>
        <p:nvSpPr>
          <p:cNvPr id="6" name="Text 4"/>
          <p:cNvSpPr txBox="1"/>
          <p:nvPr/>
        </p:nvSpPr>
        <p:spPr>
          <a:xfrm>
            <a:off x="548640" y="3154680"/>
            <a:ext cx="7772400" cy="457200"/>
          </a:xfrm>
          <a:prstGeom prst="rect">
            <a:avLst/>
          </a:prstGeom>
          <a:noFill/>
          <a:ln/>
        </p:spPr>
        <p:txBody>
          <a:bodyPr wrap="square" lIns="0" tIns="0" rIns="0" bIns="0" rtlCol="0" anchor="ctr"/>
          <a:lstStyle/>
          <a:p>
            <a:pPr algn="l" indent="0" marL="0">
              <a:buNone/>
            </a:pPr>
            <a:r>
              <a:rPr lang="en-US" sz="1600" dirty="0">
                <a:solidFill>
                  <a:srgbClr val="6EC56E"/>
                </a:solidFill>
              </a:rPr>
              <a:t>Communicating findings clearly to both technical and executive audiences</a:t>
            </a:r>
            <a:endParaRPr lang="en-US" sz="1600" dirty="0"/>
          </a:p>
        </p:txBody>
      </p:sp>
      <p:sp>
        <p:nvSpPr>
          <p:cNvPr id="7" name="Text 5"/>
          <p:cNvSpPr txBox="1"/>
          <p:nvPr/>
        </p:nvSpPr>
        <p:spPr>
          <a:xfrm>
            <a:off x="0" y="4892040"/>
            <a:ext cx="9144000" cy="256032"/>
          </a:xfrm>
          <a:prstGeom prst="rect">
            <a:avLst/>
          </a:prstGeom>
          <a:noFill/>
          <a:ln/>
        </p:spPr>
        <p:txBody>
          <a:bodyPr wrap="square" lIns="0" tIns="0" rIns="0" bIns="0" rtlCol="0" anchor="ctr"/>
          <a:lstStyle/>
          <a:p>
            <a:pPr algn="ctr" indent="0" marL="0">
              <a:buNone/>
            </a:pPr>
            <a:r>
              <a:rPr lang="en-US" sz="900" dirty="0">
                <a:solidFill>
                  <a:srgbClr val="5A7FAA"/>
                </a:solidFill>
              </a:rPr>
              <a:t>My Cyber Academy | MCA CREST CPSA - Module A: Soft Skills</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w="12700">
            <a:solidFill>
              <a:srgbClr val="FFFFFF"/>
            </a:solidFill>
            <a:prstDash val="solid"/>
          </a:ln>
        </p:spPr>
      </p:sp>
      <p:sp>
        <p:nvSpPr>
          <p:cNvPr id="3" name="Shape 1"/>
          <p:cNvSpPr/>
          <p:nvPr/>
        </p:nvSpPr>
        <p:spPr>
          <a:xfrm>
            <a:off x="0" y="0"/>
            <a:ext cx="9144000" cy="73152"/>
          </a:xfrm>
          <a:prstGeom prst="rect">
            <a:avLst/>
          </a:prstGeom>
          <a:solidFill>
            <a:srgbClr val="00B4C8"/>
          </a:solidFill>
          <a:ln w="12700">
            <a:solidFill>
              <a:srgbClr val="00B4C8"/>
            </a:solidFill>
            <a:prstDash val="solid"/>
          </a:ln>
        </p:spPr>
      </p:sp>
      <p:sp>
        <p:nvSpPr>
          <p:cNvPr id="4" name="Text 2"/>
          <p:cNvSpPr txBox="1"/>
          <p:nvPr/>
        </p:nvSpPr>
        <p:spPr>
          <a:xfrm>
            <a:off x="365760" y="137160"/>
            <a:ext cx="8412480" cy="548640"/>
          </a:xfrm>
          <a:prstGeom prst="rect">
            <a:avLst/>
          </a:prstGeom>
          <a:noFill/>
          <a:ln/>
        </p:spPr>
        <p:txBody>
          <a:bodyPr wrap="square" lIns="0" tIns="0" rIns="0" bIns="0" rtlCol="0" anchor="ctr"/>
          <a:lstStyle/>
          <a:p>
            <a:pPr algn="l" indent="0" marL="0">
              <a:buNone/>
            </a:pPr>
            <a:r>
              <a:rPr lang="en-US" sz="2800" b="1" dirty="0">
                <a:solidFill>
                  <a:srgbClr val="1A2744"/>
                </a:solidFill>
              </a:rPr>
              <a:t>Pentest Report Structure</a:t>
            </a:r>
            <a:endParaRPr lang="en-US" sz="2800" dirty="0"/>
          </a:p>
        </p:txBody>
      </p:sp>
      <p:sp>
        <p:nvSpPr>
          <p:cNvPr id="5" name="Shape 3"/>
          <p:cNvSpPr/>
          <p:nvPr/>
        </p:nvSpPr>
        <p:spPr>
          <a:xfrm>
            <a:off x="365760" y="713232"/>
            <a:ext cx="8412480" cy="0"/>
          </a:xfrm>
          <a:prstGeom prst="line">
            <a:avLst/>
          </a:prstGeom>
          <a:noFill/>
          <a:ln w="19050">
            <a:solidFill>
              <a:srgbClr val="00B4C8"/>
            </a:solidFill>
            <a:prstDash val="solid"/>
          </a:ln>
        </p:spPr>
      </p:sp>
      <p:sp>
        <p:nvSpPr>
          <p:cNvPr id="6" name="Shape 4"/>
          <p:cNvSpPr/>
          <p:nvPr/>
        </p:nvSpPr>
        <p:spPr>
          <a:xfrm>
            <a:off x="320040" y="905256"/>
            <a:ext cx="347472" cy="347472"/>
          </a:xfrm>
          <a:prstGeom prst="ellipse">
            <a:avLst/>
          </a:prstGeom>
          <a:solidFill>
            <a:srgbClr val="00B4C8"/>
          </a:solidFill>
          <a:ln w="12700">
            <a:solidFill>
              <a:srgbClr val="00B4C8"/>
            </a:solidFill>
            <a:prstDash val="solid"/>
          </a:ln>
        </p:spPr>
      </p:sp>
      <p:sp>
        <p:nvSpPr>
          <p:cNvPr id="7" name="Text 5"/>
          <p:cNvSpPr txBox="1"/>
          <p:nvPr/>
        </p:nvSpPr>
        <p:spPr>
          <a:xfrm>
            <a:off x="320040" y="905256"/>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8" name="Text 6"/>
          <p:cNvSpPr txBox="1"/>
          <p:nvPr/>
        </p:nvSpPr>
        <p:spPr>
          <a:xfrm>
            <a:off x="777240" y="868680"/>
            <a:ext cx="2377440" cy="384048"/>
          </a:xfrm>
          <a:prstGeom prst="rect">
            <a:avLst/>
          </a:prstGeom>
          <a:noFill/>
          <a:ln/>
        </p:spPr>
        <p:txBody>
          <a:bodyPr wrap="square" lIns="0" tIns="0" rIns="0" bIns="0" rtlCol="0" anchor="ctr"/>
          <a:lstStyle/>
          <a:p>
            <a:pPr indent="0" marL="0">
              <a:buNone/>
            </a:pPr>
            <a:r>
              <a:rPr lang="en-US" sz="1200" b="1" dirty="0">
                <a:solidFill>
                  <a:srgbClr val="1A2744"/>
                </a:solidFill>
              </a:rPr>
              <a:t>Cover Page &amp; Metadata</a:t>
            </a:r>
            <a:endParaRPr lang="en-US" sz="1200" dirty="0"/>
          </a:p>
        </p:txBody>
      </p:sp>
      <p:sp>
        <p:nvSpPr>
          <p:cNvPr id="9" name="Shape 7"/>
          <p:cNvSpPr/>
          <p:nvPr/>
        </p:nvSpPr>
        <p:spPr>
          <a:xfrm>
            <a:off x="3200400" y="1069848"/>
            <a:ext cx="182880" cy="0"/>
          </a:xfrm>
          <a:prstGeom prst="line">
            <a:avLst/>
          </a:prstGeom>
          <a:noFill/>
          <a:ln w="12700">
            <a:solidFill>
              <a:srgbClr val="00B4C8"/>
            </a:solidFill>
            <a:prstDash val="solid"/>
          </a:ln>
        </p:spPr>
      </p:sp>
      <p:sp>
        <p:nvSpPr>
          <p:cNvPr id="10" name="Text 8"/>
          <p:cNvSpPr txBox="1"/>
          <p:nvPr/>
        </p:nvSpPr>
        <p:spPr>
          <a:xfrm>
            <a:off x="3429000" y="868680"/>
            <a:ext cx="5349240" cy="384048"/>
          </a:xfrm>
          <a:prstGeom prst="rect">
            <a:avLst/>
          </a:prstGeom>
          <a:noFill/>
          <a:ln/>
        </p:spPr>
        <p:txBody>
          <a:bodyPr wrap="square" lIns="0" tIns="0" rIns="0" bIns="0" rtlCol="0" anchor="ctr"/>
          <a:lstStyle/>
          <a:p>
            <a:pPr indent="0" marL="0">
              <a:buNone/>
            </a:pPr>
            <a:r>
              <a:rPr lang="en-US" sz="1100" dirty="0">
                <a:solidFill>
                  <a:srgbClr val="2C3E50"/>
                </a:solidFill>
              </a:rPr>
              <a:t>Client name, engagement type, date, version, classification, consultant</a:t>
            </a:r>
            <a:endParaRPr lang="en-US" sz="1100" dirty="0"/>
          </a:p>
        </p:txBody>
      </p:sp>
      <p:sp>
        <p:nvSpPr>
          <p:cNvPr id="11" name="Shape 9"/>
          <p:cNvSpPr/>
          <p:nvPr/>
        </p:nvSpPr>
        <p:spPr>
          <a:xfrm>
            <a:off x="320040" y="1508760"/>
            <a:ext cx="347472" cy="347472"/>
          </a:xfrm>
          <a:prstGeom prst="ellipse">
            <a:avLst/>
          </a:prstGeom>
          <a:solidFill>
            <a:srgbClr val="00B4C8"/>
          </a:solidFill>
          <a:ln w="12700">
            <a:solidFill>
              <a:srgbClr val="00B4C8"/>
            </a:solidFill>
            <a:prstDash val="solid"/>
          </a:ln>
        </p:spPr>
      </p:sp>
      <p:sp>
        <p:nvSpPr>
          <p:cNvPr id="12" name="Text 10"/>
          <p:cNvSpPr txBox="1"/>
          <p:nvPr/>
        </p:nvSpPr>
        <p:spPr>
          <a:xfrm>
            <a:off x="320040" y="1508760"/>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3" name="Text 11"/>
          <p:cNvSpPr txBox="1"/>
          <p:nvPr/>
        </p:nvSpPr>
        <p:spPr>
          <a:xfrm>
            <a:off x="777240" y="1472184"/>
            <a:ext cx="2377440" cy="384048"/>
          </a:xfrm>
          <a:prstGeom prst="rect">
            <a:avLst/>
          </a:prstGeom>
          <a:noFill/>
          <a:ln/>
        </p:spPr>
        <p:txBody>
          <a:bodyPr wrap="square" lIns="0" tIns="0" rIns="0" bIns="0" rtlCol="0" anchor="ctr"/>
          <a:lstStyle/>
          <a:p>
            <a:pPr indent="0" marL="0">
              <a:buNone/>
            </a:pPr>
            <a:r>
              <a:rPr lang="en-US" sz="1200" b="1" dirty="0">
                <a:solidFill>
                  <a:srgbClr val="1A2744"/>
                </a:solidFill>
              </a:rPr>
              <a:t>Executive Summary</a:t>
            </a:r>
            <a:endParaRPr lang="en-US" sz="1200" dirty="0"/>
          </a:p>
        </p:txBody>
      </p:sp>
      <p:sp>
        <p:nvSpPr>
          <p:cNvPr id="14" name="Shape 12"/>
          <p:cNvSpPr/>
          <p:nvPr/>
        </p:nvSpPr>
        <p:spPr>
          <a:xfrm>
            <a:off x="3200400" y="1673352"/>
            <a:ext cx="182880" cy="0"/>
          </a:xfrm>
          <a:prstGeom prst="line">
            <a:avLst/>
          </a:prstGeom>
          <a:noFill/>
          <a:ln w="12700">
            <a:solidFill>
              <a:srgbClr val="00B4C8"/>
            </a:solidFill>
            <a:prstDash val="solid"/>
          </a:ln>
        </p:spPr>
      </p:sp>
      <p:sp>
        <p:nvSpPr>
          <p:cNvPr id="15" name="Text 13"/>
          <p:cNvSpPr txBox="1"/>
          <p:nvPr/>
        </p:nvSpPr>
        <p:spPr>
          <a:xfrm>
            <a:off x="3429000" y="1472184"/>
            <a:ext cx="5349240" cy="384048"/>
          </a:xfrm>
          <a:prstGeom prst="rect">
            <a:avLst/>
          </a:prstGeom>
          <a:noFill/>
          <a:ln/>
        </p:spPr>
        <p:txBody>
          <a:bodyPr wrap="square" lIns="0" tIns="0" rIns="0" bIns="0" rtlCol="0" anchor="ctr"/>
          <a:lstStyle/>
          <a:p>
            <a:pPr indent="0" marL="0">
              <a:buNone/>
            </a:pPr>
            <a:r>
              <a:rPr lang="en-US" sz="1100" dirty="0">
                <a:solidFill>
                  <a:srgbClr val="2C3E50"/>
                </a:solidFill>
              </a:rPr>
              <a:t>Non-technical overview: what was tested, key risk level, headline findings, business impact</a:t>
            </a:r>
            <a:endParaRPr lang="en-US" sz="1100" dirty="0"/>
          </a:p>
        </p:txBody>
      </p:sp>
      <p:sp>
        <p:nvSpPr>
          <p:cNvPr id="16" name="Shape 14"/>
          <p:cNvSpPr/>
          <p:nvPr/>
        </p:nvSpPr>
        <p:spPr>
          <a:xfrm>
            <a:off x="320040" y="2112264"/>
            <a:ext cx="347472" cy="347472"/>
          </a:xfrm>
          <a:prstGeom prst="ellipse">
            <a:avLst/>
          </a:prstGeom>
          <a:solidFill>
            <a:srgbClr val="00B4C8"/>
          </a:solidFill>
          <a:ln w="12700">
            <a:solidFill>
              <a:srgbClr val="00B4C8"/>
            </a:solidFill>
            <a:prstDash val="solid"/>
          </a:ln>
        </p:spPr>
      </p:sp>
      <p:sp>
        <p:nvSpPr>
          <p:cNvPr id="17" name="Text 15"/>
          <p:cNvSpPr txBox="1"/>
          <p:nvPr/>
        </p:nvSpPr>
        <p:spPr>
          <a:xfrm>
            <a:off x="320040" y="2112264"/>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8" name="Text 16"/>
          <p:cNvSpPr txBox="1"/>
          <p:nvPr/>
        </p:nvSpPr>
        <p:spPr>
          <a:xfrm>
            <a:off x="777240" y="2075688"/>
            <a:ext cx="2377440" cy="384048"/>
          </a:xfrm>
          <a:prstGeom prst="rect">
            <a:avLst/>
          </a:prstGeom>
          <a:noFill/>
          <a:ln/>
        </p:spPr>
        <p:txBody>
          <a:bodyPr wrap="square" lIns="0" tIns="0" rIns="0" bIns="0" rtlCol="0" anchor="ctr"/>
          <a:lstStyle/>
          <a:p>
            <a:pPr indent="0" marL="0">
              <a:buNone/>
            </a:pPr>
            <a:r>
              <a:rPr lang="en-US" sz="1200" b="1" dirty="0">
                <a:solidFill>
                  <a:srgbClr val="1A2744"/>
                </a:solidFill>
              </a:rPr>
              <a:t>Risk Summary Table</a:t>
            </a:r>
            <a:endParaRPr lang="en-US" sz="1200" dirty="0"/>
          </a:p>
        </p:txBody>
      </p:sp>
      <p:sp>
        <p:nvSpPr>
          <p:cNvPr id="19" name="Shape 17"/>
          <p:cNvSpPr/>
          <p:nvPr/>
        </p:nvSpPr>
        <p:spPr>
          <a:xfrm>
            <a:off x="3200400" y="2276856"/>
            <a:ext cx="182880" cy="0"/>
          </a:xfrm>
          <a:prstGeom prst="line">
            <a:avLst/>
          </a:prstGeom>
          <a:noFill/>
          <a:ln w="12700">
            <a:solidFill>
              <a:srgbClr val="00B4C8"/>
            </a:solidFill>
            <a:prstDash val="solid"/>
          </a:ln>
        </p:spPr>
      </p:sp>
      <p:sp>
        <p:nvSpPr>
          <p:cNvPr id="20" name="Text 18"/>
          <p:cNvSpPr txBox="1"/>
          <p:nvPr/>
        </p:nvSpPr>
        <p:spPr>
          <a:xfrm>
            <a:off x="3429000" y="2075688"/>
            <a:ext cx="5349240" cy="384048"/>
          </a:xfrm>
          <a:prstGeom prst="rect">
            <a:avLst/>
          </a:prstGeom>
          <a:noFill/>
          <a:ln/>
        </p:spPr>
        <p:txBody>
          <a:bodyPr wrap="square" lIns="0" tIns="0" rIns="0" bIns="0" rtlCol="0" anchor="ctr"/>
          <a:lstStyle/>
          <a:p>
            <a:pPr indent="0" marL="0">
              <a:buNone/>
            </a:pPr>
            <a:r>
              <a:rPr lang="en-US" sz="1100" dirty="0">
                <a:solidFill>
                  <a:srgbClr val="2C3E50"/>
                </a:solidFill>
              </a:rPr>
              <a:t>All findings tabulated with ID, title, severity, CVSS score, status</a:t>
            </a:r>
            <a:endParaRPr lang="en-US" sz="1100" dirty="0"/>
          </a:p>
        </p:txBody>
      </p:sp>
      <p:sp>
        <p:nvSpPr>
          <p:cNvPr id="21" name="Shape 19"/>
          <p:cNvSpPr/>
          <p:nvPr/>
        </p:nvSpPr>
        <p:spPr>
          <a:xfrm>
            <a:off x="320040" y="2715768"/>
            <a:ext cx="347472" cy="347472"/>
          </a:xfrm>
          <a:prstGeom prst="ellipse">
            <a:avLst/>
          </a:prstGeom>
          <a:solidFill>
            <a:srgbClr val="00B4C8"/>
          </a:solidFill>
          <a:ln w="12700">
            <a:solidFill>
              <a:srgbClr val="00B4C8"/>
            </a:solidFill>
            <a:prstDash val="solid"/>
          </a:ln>
        </p:spPr>
      </p:sp>
      <p:sp>
        <p:nvSpPr>
          <p:cNvPr id="22" name="Text 20"/>
          <p:cNvSpPr txBox="1"/>
          <p:nvPr/>
        </p:nvSpPr>
        <p:spPr>
          <a:xfrm>
            <a:off x="320040" y="2715768"/>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23" name="Text 21"/>
          <p:cNvSpPr txBox="1"/>
          <p:nvPr/>
        </p:nvSpPr>
        <p:spPr>
          <a:xfrm>
            <a:off x="777240" y="2679192"/>
            <a:ext cx="2377440" cy="384048"/>
          </a:xfrm>
          <a:prstGeom prst="rect">
            <a:avLst/>
          </a:prstGeom>
          <a:noFill/>
          <a:ln/>
        </p:spPr>
        <p:txBody>
          <a:bodyPr wrap="square" lIns="0" tIns="0" rIns="0" bIns="0" rtlCol="0" anchor="ctr"/>
          <a:lstStyle/>
          <a:p>
            <a:pPr indent="0" marL="0">
              <a:buNone/>
            </a:pPr>
            <a:r>
              <a:rPr lang="en-US" sz="1200" b="1" dirty="0">
                <a:solidFill>
                  <a:srgbClr val="1A2744"/>
                </a:solidFill>
              </a:rPr>
              <a:t>Scope &amp; Methodology</a:t>
            </a:r>
            <a:endParaRPr lang="en-US" sz="1200" dirty="0"/>
          </a:p>
        </p:txBody>
      </p:sp>
      <p:sp>
        <p:nvSpPr>
          <p:cNvPr id="24" name="Shape 22"/>
          <p:cNvSpPr/>
          <p:nvPr/>
        </p:nvSpPr>
        <p:spPr>
          <a:xfrm>
            <a:off x="3200400" y="2880360"/>
            <a:ext cx="182880" cy="0"/>
          </a:xfrm>
          <a:prstGeom prst="line">
            <a:avLst/>
          </a:prstGeom>
          <a:noFill/>
          <a:ln w="12700">
            <a:solidFill>
              <a:srgbClr val="00B4C8"/>
            </a:solidFill>
            <a:prstDash val="solid"/>
          </a:ln>
        </p:spPr>
      </p:sp>
      <p:sp>
        <p:nvSpPr>
          <p:cNvPr id="25" name="Text 23"/>
          <p:cNvSpPr txBox="1"/>
          <p:nvPr/>
        </p:nvSpPr>
        <p:spPr>
          <a:xfrm>
            <a:off x="3429000" y="2679192"/>
            <a:ext cx="5349240" cy="384048"/>
          </a:xfrm>
          <a:prstGeom prst="rect">
            <a:avLst/>
          </a:prstGeom>
          <a:noFill/>
          <a:ln/>
        </p:spPr>
        <p:txBody>
          <a:bodyPr wrap="square" lIns="0" tIns="0" rIns="0" bIns="0" rtlCol="0" anchor="ctr"/>
          <a:lstStyle/>
          <a:p>
            <a:pPr indent="0" marL="0">
              <a:buNone/>
            </a:pPr>
            <a:r>
              <a:rPr lang="en-US" sz="1100" dirty="0">
                <a:solidFill>
                  <a:srgbClr val="2C3E50"/>
                </a:solidFill>
              </a:rPr>
              <a:t>Targets tested, testing approach (grey/black/white box), tools used, limitations</a:t>
            </a:r>
            <a:endParaRPr lang="en-US" sz="1100" dirty="0"/>
          </a:p>
        </p:txBody>
      </p:sp>
      <p:sp>
        <p:nvSpPr>
          <p:cNvPr id="26" name="Shape 24"/>
          <p:cNvSpPr/>
          <p:nvPr/>
        </p:nvSpPr>
        <p:spPr>
          <a:xfrm>
            <a:off x="320040" y="3319272"/>
            <a:ext cx="347472" cy="347472"/>
          </a:xfrm>
          <a:prstGeom prst="ellipse">
            <a:avLst/>
          </a:prstGeom>
          <a:solidFill>
            <a:srgbClr val="00B4C8"/>
          </a:solidFill>
          <a:ln w="12700">
            <a:solidFill>
              <a:srgbClr val="00B4C8"/>
            </a:solidFill>
            <a:prstDash val="solid"/>
          </a:ln>
        </p:spPr>
      </p:sp>
      <p:sp>
        <p:nvSpPr>
          <p:cNvPr id="27" name="Text 25"/>
          <p:cNvSpPr txBox="1"/>
          <p:nvPr/>
        </p:nvSpPr>
        <p:spPr>
          <a:xfrm>
            <a:off x="320040" y="3319272"/>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8" name="Text 26"/>
          <p:cNvSpPr txBox="1"/>
          <p:nvPr/>
        </p:nvSpPr>
        <p:spPr>
          <a:xfrm>
            <a:off x="777240" y="3282696"/>
            <a:ext cx="2377440" cy="384048"/>
          </a:xfrm>
          <a:prstGeom prst="rect">
            <a:avLst/>
          </a:prstGeom>
          <a:noFill/>
          <a:ln/>
        </p:spPr>
        <p:txBody>
          <a:bodyPr wrap="square" lIns="0" tIns="0" rIns="0" bIns="0" rtlCol="0" anchor="ctr"/>
          <a:lstStyle/>
          <a:p>
            <a:pPr indent="0" marL="0">
              <a:buNone/>
            </a:pPr>
            <a:r>
              <a:rPr lang="en-US" sz="1200" b="1" dirty="0">
                <a:solidFill>
                  <a:srgbClr val="1A2744"/>
                </a:solidFill>
              </a:rPr>
              <a:t>Technical Findings</a:t>
            </a:r>
            <a:endParaRPr lang="en-US" sz="1200" dirty="0"/>
          </a:p>
        </p:txBody>
      </p:sp>
      <p:sp>
        <p:nvSpPr>
          <p:cNvPr id="29" name="Shape 27"/>
          <p:cNvSpPr/>
          <p:nvPr/>
        </p:nvSpPr>
        <p:spPr>
          <a:xfrm>
            <a:off x="3200400" y="3483864"/>
            <a:ext cx="182880" cy="0"/>
          </a:xfrm>
          <a:prstGeom prst="line">
            <a:avLst/>
          </a:prstGeom>
          <a:noFill/>
          <a:ln w="12700">
            <a:solidFill>
              <a:srgbClr val="00B4C8"/>
            </a:solidFill>
            <a:prstDash val="solid"/>
          </a:ln>
        </p:spPr>
      </p:sp>
      <p:sp>
        <p:nvSpPr>
          <p:cNvPr id="30" name="Text 28"/>
          <p:cNvSpPr txBox="1"/>
          <p:nvPr/>
        </p:nvSpPr>
        <p:spPr>
          <a:xfrm>
            <a:off x="3429000" y="3282696"/>
            <a:ext cx="5349240" cy="384048"/>
          </a:xfrm>
          <a:prstGeom prst="rect">
            <a:avLst/>
          </a:prstGeom>
          <a:noFill/>
          <a:ln/>
        </p:spPr>
        <p:txBody>
          <a:bodyPr wrap="square" lIns="0" tIns="0" rIns="0" bIns="0" rtlCol="0" anchor="ctr"/>
          <a:lstStyle/>
          <a:p>
            <a:pPr indent="0" marL="0">
              <a:buNone/>
            </a:pPr>
            <a:r>
              <a:rPr lang="en-US" sz="1100" dirty="0">
                <a:solidFill>
                  <a:srgbClr val="2C3E50"/>
                </a:solidFill>
              </a:rPr>
              <a:t>Each finding: title, severity, CVSS, description, evidence (screenshots/output), remediation</a:t>
            </a:r>
            <a:endParaRPr lang="en-US" sz="1100" dirty="0"/>
          </a:p>
        </p:txBody>
      </p:sp>
      <p:sp>
        <p:nvSpPr>
          <p:cNvPr id="31" name="Shape 29"/>
          <p:cNvSpPr/>
          <p:nvPr/>
        </p:nvSpPr>
        <p:spPr>
          <a:xfrm>
            <a:off x="320040" y="3922776"/>
            <a:ext cx="347472" cy="347472"/>
          </a:xfrm>
          <a:prstGeom prst="ellipse">
            <a:avLst/>
          </a:prstGeom>
          <a:solidFill>
            <a:srgbClr val="00B4C8"/>
          </a:solidFill>
          <a:ln w="12700">
            <a:solidFill>
              <a:srgbClr val="00B4C8"/>
            </a:solidFill>
            <a:prstDash val="solid"/>
          </a:ln>
        </p:spPr>
      </p:sp>
      <p:sp>
        <p:nvSpPr>
          <p:cNvPr id="32" name="Text 30"/>
          <p:cNvSpPr txBox="1"/>
          <p:nvPr/>
        </p:nvSpPr>
        <p:spPr>
          <a:xfrm>
            <a:off x="320040" y="3922776"/>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33" name="Text 31"/>
          <p:cNvSpPr txBox="1"/>
          <p:nvPr/>
        </p:nvSpPr>
        <p:spPr>
          <a:xfrm>
            <a:off x="777240" y="3886200"/>
            <a:ext cx="2377440" cy="384048"/>
          </a:xfrm>
          <a:prstGeom prst="rect">
            <a:avLst/>
          </a:prstGeom>
          <a:noFill/>
          <a:ln/>
        </p:spPr>
        <p:txBody>
          <a:bodyPr wrap="square" lIns="0" tIns="0" rIns="0" bIns="0" rtlCol="0" anchor="ctr"/>
          <a:lstStyle/>
          <a:p>
            <a:pPr indent="0" marL="0">
              <a:buNone/>
            </a:pPr>
            <a:r>
              <a:rPr lang="en-US" sz="1200" b="1" dirty="0">
                <a:solidFill>
                  <a:srgbClr val="1A2744"/>
                </a:solidFill>
              </a:rPr>
              <a:t>Compliance Impact</a:t>
            </a:r>
            <a:endParaRPr lang="en-US" sz="1200" dirty="0"/>
          </a:p>
        </p:txBody>
      </p:sp>
      <p:sp>
        <p:nvSpPr>
          <p:cNvPr id="34" name="Shape 32"/>
          <p:cNvSpPr/>
          <p:nvPr/>
        </p:nvSpPr>
        <p:spPr>
          <a:xfrm>
            <a:off x="3200400" y="4087368"/>
            <a:ext cx="182880" cy="0"/>
          </a:xfrm>
          <a:prstGeom prst="line">
            <a:avLst/>
          </a:prstGeom>
          <a:noFill/>
          <a:ln w="12700">
            <a:solidFill>
              <a:srgbClr val="00B4C8"/>
            </a:solidFill>
            <a:prstDash val="solid"/>
          </a:ln>
        </p:spPr>
      </p:sp>
      <p:sp>
        <p:nvSpPr>
          <p:cNvPr id="35" name="Text 33"/>
          <p:cNvSpPr txBox="1"/>
          <p:nvPr/>
        </p:nvSpPr>
        <p:spPr>
          <a:xfrm>
            <a:off x="3429000" y="3886200"/>
            <a:ext cx="5349240" cy="384048"/>
          </a:xfrm>
          <a:prstGeom prst="rect">
            <a:avLst/>
          </a:prstGeom>
          <a:noFill/>
          <a:ln/>
        </p:spPr>
        <p:txBody>
          <a:bodyPr wrap="square" lIns="0" tIns="0" rIns="0" bIns="0" rtlCol="0" anchor="ctr"/>
          <a:lstStyle/>
          <a:p>
            <a:pPr indent="0" marL="0">
              <a:buNone/>
            </a:pPr>
            <a:r>
              <a:rPr lang="en-US" sz="1100" dirty="0">
                <a:solidFill>
                  <a:srgbClr val="2C3E50"/>
                </a:solidFill>
              </a:rPr>
              <a:t>Regulatory mapping - which findings breach PCI DSS, UK GDPR, FCA requirements</a:t>
            </a:r>
            <a:endParaRPr lang="en-US" sz="1100" dirty="0"/>
          </a:p>
        </p:txBody>
      </p:sp>
      <p:sp>
        <p:nvSpPr>
          <p:cNvPr id="36" name="Shape 34"/>
          <p:cNvSpPr/>
          <p:nvPr/>
        </p:nvSpPr>
        <p:spPr>
          <a:xfrm>
            <a:off x="320040" y="4526280"/>
            <a:ext cx="347472" cy="347472"/>
          </a:xfrm>
          <a:prstGeom prst="ellipse">
            <a:avLst/>
          </a:prstGeom>
          <a:solidFill>
            <a:srgbClr val="00B4C8"/>
          </a:solidFill>
          <a:ln w="12700">
            <a:solidFill>
              <a:srgbClr val="00B4C8"/>
            </a:solidFill>
            <a:prstDash val="solid"/>
          </a:ln>
        </p:spPr>
      </p:sp>
      <p:sp>
        <p:nvSpPr>
          <p:cNvPr id="37" name="Text 35"/>
          <p:cNvSpPr txBox="1"/>
          <p:nvPr/>
        </p:nvSpPr>
        <p:spPr>
          <a:xfrm>
            <a:off x="320040" y="4526280"/>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rPr>
              <a:t>7</a:t>
            </a:r>
            <a:endParaRPr lang="en-US" sz="1400" dirty="0"/>
          </a:p>
        </p:txBody>
      </p:sp>
      <p:sp>
        <p:nvSpPr>
          <p:cNvPr id="38" name="Text 36"/>
          <p:cNvSpPr txBox="1"/>
          <p:nvPr/>
        </p:nvSpPr>
        <p:spPr>
          <a:xfrm>
            <a:off x="777240" y="4489704"/>
            <a:ext cx="2377440" cy="384048"/>
          </a:xfrm>
          <a:prstGeom prst="rect">
            <a:avLst/>
          </a:prstGeom>
          <a:noFill/>
          <a:ln/>
        </p:spPr>
        <p:txBody>
          <a:bodyPr wrap="square" lIns="0" tIns="0" rIns="0" bIns="0" rtlCol="0" anchor="ctr"/>
          <a:lstStyle/>
          <a:p>
            <a:pPr indent="0" marL="0">
              <a:buNone/>
            </a:pPr>
            <a:r>
              <a:rPr lang="en-US" sz="1200" b="1" dirty="0">
                <a:solidFill>
                  <a:srgbClr val="1A2744"/>
                </a:solidFill>
              </a:rPr>
              <a:t>Remediation Roadmap</a:t>
            </a:r>
            <a:endParaRPr lang="en-US" sz="1200" dirty="0"/>
          </a:p>
        </p:txBody>
      </p:sp>
      <p:sp>
        <p:nvSpPr>
          <p:cNvPr id="39" name="Shape 37"/>
          <p:cNvSpPr/>
          <p:nvPr/>
        </p:nvSpPr>
        <p:spPr>
          <a:xfrm>
            <a:off x="3200400" y="4690872"/>
            <a:ext cx="182880" cy="0"/>
          </a:xfrm>
          <a:prstGeom prst="line">
            <a:avLst/>
          </a:prstGeom>
          <a:noFill/>
          <a:ln w="12700">
            <a:solidFill>
              <a:srgbClr val="00B4C8"/>
            </a:solidFill>
            <a:prstDash val="solid"/>
          </a:ln>
        </p:spPr>
      </p:sp>
      <p:sp>
        <p:nvSpPr>
          <p:cNvPr id="40" name="Text 38"/>
          <p:cNvSpPr txBox="1"/>
          <p:nvPr/>
        </p:nvSpPr>
        <p:spPr>
          <a:xfrm>
            <a:off x="3429000" y="4489704"/>
            <a:ext cx="5349240" cy="384048"/>
          </a:xfrm>
          <a:prstGeom prst="rect">
            <a:avLst/>
          </a:prstGeom>
          <a:noFill/>
          <a:ln/>
        </p:spPr>
        <p:txBody>
          <a:bodyPr wrap="square" lIns="0" tIns="0" rIns="0" bIns="0" rtlCol="0" anchor="ctr"/>
          <a:lstStyle/>
          <a:p>
            <a:pPr indent="0" marL="0">
              <a:buNone/>
            </a:pPr>
            <a:r>
              <a:rPr lang="en-US" sz="1100" dirty="0">
                <a:solidFill>
                  <a:srgbClr val="2C3E50"/>
                </a:solidFill>
              </a:rPr>
              <a:t>Prioritised action plan with immediate, short-term and long-term recommendations</a:t>
            </a:r>
            <a:endParaRPr lang="en-US" sz="1100" dirty="0"/>
          </a:p>
        </p:txBody>
      </p:sp>
      <p:sp>
        <p:nvSpPr>
          <p:cNvPr id="41" name="Text 39"/>
          <p:cNvSpPr txBox="1"/>
          <p:nvPr/>
        </p:nvSpPr>
        <p:spPr>
          <a:xfrm>
            <a:off x="0" y="4892040"/>
            <a:ext cx="9144000" cy="256032"/>
          </a:xfrm>
          <a:prstGeom prst="rect">
            <a:avLst/>
          </a:prstGeom>
          <a:noFill/>
          <a:ln/>
        </p:spPr>
        <p:txBody>
          <a:bodyPr wrap="square" lIns="0" tIns="0" rIns="0" bIns="0" rtlCol="0" anchor="ctr"/>
          <a:lstStyle/>
          <a:p>
            <a:pPr algn="ctr" indent="0" marL="0">
              <a:buNone/>
            </a:pPr>
            <a:r>
              <a:rPr lang="en-US" sz="900" dirty="0">
                <a:solidFill>
                  <a:srgbClr val="7F8C8D"/>
                </a:solidFill>
              </a:rPr>
              <a:t>My Cyber Academy | MCA CREST CPSA - Module A: Soft Skills</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w="12700">
            <a:solidFill>
              <a:srgbClr val="FFFFFF"/>
            </a:solidFill>
            <a:prstDash val="solid"/>
          </a:ln>
        </p:spPr>
      </p:sp>
      <p:sp>
        <p:nvSpPr>
          <p:cNvPr id="3" name="Shape 1"/>
          <p:cNvSpPr/>
          <p:nvPr/>
        </p:nvSpPr>
        <p:spPr>
          <a:xfrm>
            <a:off x="0" y="0"/>
            <a:ext cx="9144000" cy="73152"/>
          </a:xfrm>
          <a:prstGeom prst="rect">
            <a:avLst/>
          </a:prstGeom>
          <a:solidFill>
            <a:srgbClr val="00B4C8"/>
          </a:solidFill>
          <a:ln w="12700">
            <a:solidFill>
              <a:srgbClr val="00B4C8"/>
            </a:solidFill>
            <a:prstDash val="solid"/>
          </a:ln>
        </p:spPr>
      </p:sp>
      <p:sp>
        <p:nvSpPr>
          <p:cNvPr id="4" name="Text 2"/>
          <p:cNvSpPr txBox="1"/>
          <p:nvPr/>
        </p:nvSpPr>
        <p:spPr>
          <a:xfrm>
            <a:off x="365760" y="137160"/>
            <a:ext cx="8412480" cy="548640"/>
          </a:xfrm>
          <a:prstGeom prst="rect">
            <a:avLst/>
          </a:prstGeom>
          <a:noFill/>
          <a:ln/>
        </p:spPr>
        <p:txBody>
          <a:bodyPr wrap="square" lIns="0" tIns="0" rIns="0" bIns="0" rtlCol="0" anchor="ctr"/>
          <a:lstStyle/>
          <a:p>
            <a:pPr algn="l" indent="0" marL="0">
              <a:buNone/>
            </a:pPr>
            <a:r>
              <a:rPr lang="en-US" sz="2800" b="1" dirty="0">
                <a:solidFill>
                  <a:srgbClr val="1A2744"/>
                </a:solidFill>
              </a:rPr>
              <a:t>Anatomy of a Finding - Syntex Example</a:t>
            </a:r>
            <a:endParaRPr lang="en-US" sz="2800" dirty="0"/>
          </a:p>
        </p:txBody>
      </p:sp>
      <p:sp>
        <p:nvSpPr>
          <p:cNvPr id="5" name="Shape 3"/>
          <p:cNvSpPr/>
          <p:nvPr/>
        </p:nvSpPr>
        <p:spPr>
          <a:xfrm>
            <a:off x="365760" y="713232"/>
            <a:ext cx="8412480" cy="0"/>
          </a:xfrm>
          <a:prstGeom prst="line">
            <a:avLst/>
          </a:prstGeom>
          <a:noFill/>
          <a:ln w="19050">
            <a:solidFill>
              <a:srgbClr val="00B4C8"/>
            </a:solidFill>
            <a:prstDash val="solid"/>
          </a:ln>
        </p:spPr>
      </p:sp>
      <p:sp>
        <p:nvSpPr>
          <p:cNvPr id="6" name="Shape 4"/>
          <p:cNvSpPr/>
          <p:nvPr/>
        </p:nvSpPr>
        <p:spPr>
          <a:xfrm>
            <a:off x="274320" y="822960"/>
            <a:ext cx="8503920" cy="3840480"/>
          </a:xfrm>
          <a:prstGeom prst="rect">
            <a:avLst/>
          </a:prstGeom>
          <a:solidFill>
            <a:srgbClr val="EEF4FB"/>
          </a:solidFill>
          <a:ln w="25400">
            <a:solidFill>
              <a:srgbClr val="C0392B"/>
            </a:solidFill>
            <a:prstDash val="solid"/>
          </a:ln>
        </p:spPr>
      </p:sp>
      <p:sp>
        <p:nvSpPr>
          <p:cNvPr id="7" name="Shape 5"/>
          <p:cNvSpPr/>
          <p:nvPr/>
        </p:nvSpPr>
        <p:spPr>
          <a:xfrm>
            <a:off x="274320" y="822960"/>
            <a:ext cx="8503920" cy="457200"/>
          </a:xfrm>
          <a:prstGeom prst="rect">
            <a:avLst/>
          </a:prstGeom>
          <a:solidFill>
            <a:srgbClr val="C0392B"/>
          </a:solidFill>
          <a:ln w="12700">
            <a:solidFill>
              <a:srgbClr val="C0392B"/>
            </a:solidFill>
            <a:prstDash val="solid"/>
          </a:ln>
        </p:spPr>
      </p:sp>
      <p:sp>
        <p:nvSpPr>
          <p:cNvPr id="8" name="Text 6"/>
          <p:cNvSpPr txBox="1"/>
          <p:nvPr/>
        </p:nvSpPr>
        <p:spPr>
          <a:xfrm>
            <a:off x="411480" y="822960"/>
            <a:ext cx="8229600" cy="457200"/>
          </a:xfrm>
          <a:prstGeom prst="rect">
            <a:avLst/>
          </a:prstGeom>
          <a:noFill/>
          <a:ln/>
        </p:spPr>
        <p:txBody>
          <a:bodyPr wrap="square" lIns="0" tIns="0" rIns="0" bIns="0" rtlCol="0" anchor="ctr"/>
          <a:lstStyle/>
          <a:p>
            <a:pPr indent="0" marL="0">
              <a:buNone/>
            </a:pPr>
            <a:r>
              <a:rPr lang="en-US" sz="1300" b="1" dirty="0">
                <a:solidFill>
                  <a:srgbClr val="FFFFFF"/>
                </a:solidFill>
              </a:rPr>
              <a:t>CRITICAL | F-04 | Weak SSH Root Password - SYNTEX-LNX01</a:t>
            </a:r>
            <a:endParaRPr lang="en-US" sz="1300" dirty="0"/>
          </a:p>
        </p:txBody>
      </p:sp>
      <p:sp>
        <p:nvSpPr>
          <p:cNvPr id="9" name="Text 7"/>
          <p:cNvSpPr txBox="1"/>
          <p:nvPr/>
        </p:nvSpPr>
        <p:spPr>
          <a:xfrm>
            <a:off x="411480" y="1371600"/>
            <a:ext cx="3657600" cy="320040"/>
          </a:xfrm>
          <a:prstGeom prst="rect">
            <a:avLst/>
          </a:prstGeom>
          <a:noFill/>
          <a:ln/>
        </p:spPr>
        <p:txBody>
          <a:bodyPr wrap="square" lIns="0" tIns="0" rIns="0" bIns="0" rtlCol="0" anchor="ctr"/>
          <a:lstStyle/>
          <a:p>
            <a:pPr indent="0" marL="0">
              <a:buNone/>
            </a:pPr>
            <a:r>
              <a:rPr lang="en-US" sz="1200" b="1" dirty="0">
                <a:solidFill>
                  <a:srgbClr val="C0392B"/>
                </a:solidFill>
              </a:rPr>
              <a:t>CVSS v3.1 Base Score: 9.8 Critical</a:t>
            </a:r>
            <a:endParaRPr lang="en-US" sz="1200" dirty="0"/>
          </a:p>
        </p:txBody>
      </p:sp>
      <p:sp>
        <p:nvSpPr>
          <p:cNvPr id="10" name="Text 8"/>
          <p:cNvSpPr txBox="1"/>
          <p:nvPr/>
        </p:nvSpPr>
        <p:spPr>
          <a:xfrm>
            <a:off x="4114800" y="1371600"/>
            <a:ext cx="4480560" cy="320040"/>
          </a:xfrm>
          <a:prstGeom prst="rect">
            <a:avLst/>
          </a:prstGeom>
          <a:noFill/>
          <a:ln/>
        </p:spPr>
        <p:txBody>
          <a:bodyPr wrap="square" lIns="0" tIns="0" rIns="0" bIns="0" rtlCol="0" anchor="ctr"/>
          <a:lstStyle/>
          <a:p>
            <a:pPr indent="0" marL="0">
              <a:buNone/>
            </a:pPr>
            <a:r>
              <a:rPr lang="en-US" sz="1000" dirty="0">
                <a:solidFill>
                  <a:srgbClr val="7F8C8D"/>
                </a:solidFill>
                <a:latin typeface="Courier New" pitchFamily="34" charset="0"/>
                <a:ea typeface="Courier New" pitchFamily="34" charset="-122"/>
                <a:cs typeface="Courier New" pitchFamily="34" charset="-120"/>
              </a:rPr>
              <a:t>AV:N/AC:L/PR:N/UI:N/S:U/C:H/I:H/A:H</a:t>
            </a:r>
            <a:endParaRPr lang="en-US" sz="1000" dirty="0"/>
          </a:p>
        </p:txBody>
      </p:sp>
      <p:sp>
        <p:nvSpPr>
          <p:cNvPr id="11" name="Text 9"/>
          <p:cNvSpPr txBox="1"/>
          <p:nvPr/>
        </p:nvSpPr>
        <p:spPr>
          <a:xfrm>
            <a:off x="411480" y="1783080"/>
            <a:ext cx="8229600" cy="256032"/>
          </a:xfrm>
          <a:prstGeom prst="rect">
            <a:avLst/>
          </a:prstGeom>
          <a:noFill/>
          <a:ln/>
        </p:spPr>
        <p:txBody>
          <a:bodyPr wrap="square" lIns="0" tIns="0" rIns="0" bIns="0" rtlCol="0" anchor="ctr"/>
          <a:lstStyle/>
          <a:p>
            <a:pPr indent="0" marL="0">
              <a:buNone/>
            </a:pPr>
            <a:r>
              <a:rPr lang="en-US" sz="1100" b="1" dirty="0">
                <a:solidFill>
                  <a:srgbClr val="1A2744"/>
                </a:solidFill>
              </a:rPr>
              <a:t>Description</a:t>
            </a:r>
            <a:endParaRPr lang="en-US" sz="1100" dirty="0"/>
          </a:p>
        </p:txBody>
      </p:sp>
      <p:sp>
        <p:nvSpPr>
          <p:cNvPr id="12" name="Text 10"/>
          <p:cNvSpPr txBox="1"/>
          <p:nvPr/>
        </p:nvSpPr>
        <p:spPr>
          <a:xfrm>
            <a:off x="411480" y="2057400"/>
            <a:ext cx="8229600" cy="548640"/>
          </a:xfrm>
          <a:prstGeom prst="rect">
            <a:avLst/>
          </a:prstGeom>
          <a:noFill/>
          <a:ln/>
        </p:spPr>
        <p:txBody>
          <a:bodyPr wrap="square" lIns="0" tIns="0" rIns="0" bIns="0" rtlCol="0" anchor="ctr"/>
          <a:lstStyle/>
          <a:p>
            <a:pPr indent="0" marL="0">
              <a:buNone/>
            </a:pPr>
            <a:r>
              <a:rPr lang="en-US" sz="1100" dirty="0">
                <a:solidFill>
                  <a:srgbClr val="2C3E50"/>
                </a:solidFill>
              </a:rPr>
              <a:t>The root account on SYNTEX-LNX01 is accessible via SSH using the password "root123". This allows any attacker with network access to authenticate as root without any prior foothold on the system, resulting in immediate full system compromise.</a:t>
            </a:r>
            <a:endParaRPr lang="en-US" sz="1100" dirty="0"/>
          </a:p>
        </p:txBody>
      </p:sp>
      <p:sp>
        <p:nvSpPr>
          <p:cNvPr id="13" name="Text 11"/>
          <p:cNvSpPr txBox="1"/>
          <p:nvPr/>
        </p:nvSpPr>
        <p:spPr>
          <a:xfrm>
            <a:off x="411480" y="2651760"/>
            <a:ext cx="8229600" cy="256032"/>
          </a:xfrm>
          <a:prstGeom prst="rect">
            <a:avLst/>
          </a:prstGeom>
          <a:noFill/>
          <a:ln/>
        </p:spPr>
        <p:txBody>
          <a:bodyPr wrap="square" lIns="0" tIns="0" rIns="0" bIns="0" rtlCol="0" anchor="ctr"/>
          <a:lstStyle/>
          <a:p>
            <a:pPr indent="0" marL="0">
              <a:buNone/>
            </a:pPr>
            <a:r>
              <a:rPr lang="en-US" sz="1100" b="1" dirty="0">
                <a:solidFill>
                  <a:srgbClr val="1A2744"/>
                </a:solidFill>
              </a:rPr>
              <a:t>Evidence</a:t>
            </a:r>
            <a:endParaRPr lang="en-US" sz="1100" dirty="0"/>
          </a:p>
        </p:txBody>
      </p:sp>
      <p:sp>
        <p:nvSpPr>
          <p:cNvPr id="14" name="Shape 12"/>
          <p:cNvSpPr/>
          <p:nvPr/>
        </p:nvSpPr>
        <p:spPr>
          <a:xfrm>
            <a:off x="411480" y="2926080"/>
            <a:ext cx="8229600" cy="640080"/>
          </a:xfrm>
          <a:prstGeom prst="rect">
            <a:avLst/>
          </a:prstGeom>
          <a:solidFill>
            <a:srgbClr val="1A1A2E"/>
          </a:solidFill>
          <a:ln w="12700">
            <a:solidFill>
              <a:srgbClr val="2C3E50"/>
            </a:solidFill>
            <a:prstDash val="solid"/>
          </a:ln>
        </p:spPr>
      </p:sp>
      <p:sp>
        <p:nvSpPr>
          <p:cNvPr id="15" name="Text 13"/>
          <p:cNvSpPr txBox="1"/>
          <p:nvPr/>
        </p:nvSpPr>
        <p:spPr>
          <a:xfrm>
            <a:off x="502920" y="2944368"/>
            <a:ext cx="8046720" cy="603504"/>
          </a:xfrm>
          <a:prstGeom prst="rect">
            <a:avLst/>
          </a:prstGeom>
          <a:noFill/>
          <a:ln/>
        </p:spPr>
        <p:txBody>
          <a:bodyPr wrap="square" lIns="25400" tIns="25400" rIns="25400" bIns="25400" rtlCol="0" anchor="t"/>
          <a:lstStyle/>
          <a:p>
            <a:pPr indent="0" marL="0">
              <a:buNone/>
            </a:pPr>
            <a:r>
              <a:rPr lang="en-US" sz="900" dirty="0">
                <a:solidFill>
                  <a:srgbClr val="27AE60"/>
                </a:solidFill>
                <a:latin typeface="Courier New" pitchFamily="34" charset="0"/>
                <a:ea typeface="Courier New" pitchFamily="34" charset="-122"/>
                <a:cs typeface="Courier New" pitchFamily="34" charset="-120"/>
              </a:rPr>
              <a:t>hydra -l root -P /usr/share/wordlists/rockyou.txt 10.1.53.39 ssh</a:t>
            </a:r>
            <a:endParaRPr lang="en-US" sz="900" dirty="0"/>
          </a:p>
          <a:p>
            <a:pPr indent="0" marL="0">
              <a:buNone/>
            </a:pPr>
            <a:r>
              <a:rPr lang="en-US" sz="900" dirty="0">
                <a:solidFill>
                  <a:srgbClr val="27AE60"/>
                </a:solidFill>
                <a:latin typeface="Courier New" pitchFamily="34" charset="0"/>
                <a:ea typeface="Courier New" pitchFamily="34" charset="-122"/>
                <a:cs typeface="Courier New" pitchFamily="34" charset="-120"/>
              </a:rPr>
              <a:t>[22][ssh] host: 10.1.53.39   login: root   password: root123</a:t>
            </a:r>
            <a:endParaRPr lang="en-US" sz="900" dirty="0"/>
          </a:p>
        </p:txBody>
      </p:sp>
      <p:sp>
        <p:nvSpPr>
          <p:cNvPr id="16" name="Text 14"/>
          <p:cNvSpPr txBox="1"/>
          <p:nvPr/>
        </p:nvSpPr>
        <p:spPr>
          <a:xfrm>
            <a:off x="411480" y="3611880"/>
            <a:ext cx="8229600" cy="502920"/>
          </a:xfrm>
          <a:prstGeom prst="rect">
            <a:avLst/>
          </a:prstGeom>
          <a:noFill/>
          <a:ln/>
        </p:spPr>
        <p:txBody>
          <a:bodyPr wrap="square" lIns="0" tIns="0" rIns="0" bIns="0" rtlCol="0" anchor="ctr"/>
          <a:lstStyle/>
          <a:p>
            <a:pPr indent="0" marL="0">
              <a:buNone/>
            </a:pPr>
            <a:r>
              <a:rPr lang="en-US" sz="1100" dirty="0">
                <a:solidFill>
                  <a:srgbClr val="1A2744"/>
                </a:solidFill>
              </a:rPr>
              <a:t>Remediation: Disable direct root SSH login (PermitRootLogin no in /etc/ssh/sshd_config). Enforce strong passwords via PAM. Implement SSH key-based authentication.</a:t>
            </a:r>
            <a:endParaRPr lang="en-US" sz="1100" dirty="0"/>
          </a:p>
        </p:txBody>
      </p:sp>
      <p:sp>
        <p:nvSpPr>
          <p:cNvPr id="17" name="Text 15"/>
          <p:cNvSpPr txBox="1"/>
          <p:nvPr/>
        </p:nvSpPr>
        <p:spPr>
          <a:xfrm>
            <a:off x="0" y="4892040"/>
            <a:ext cx="9144000" cy="256032"/>
          </a:xfrm>
          <a:prstGeom prst="rect">
            <a:avLst/>
          </a:prstGeom>
          <a:noFill/>
          <a:ln/>
        </p:spPr>
        <p:txBody>
          <a:bodyPr wrap="square" lIns="0" tIns="0" rIns="0" bIns="0" rtlCol="0" anchor="ctr"/>
          <a:lstStyle/>
          <a:p>
            <a:pPr algn="ctr" indent="0" marL="0">
              <a:buNone/>
            </a:pPr>
            <a:r>
              <a:rPr lang="en-US" sz="900" dirty="0">
                <a:solidFill>
                  <a:srgbClr val="7F8C8D"/>
                </a:solidFill>
              </a:rPr>
              <a:t>My Cyber Academy | MCA CREST CPSA - Module A: Soft Skills</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w="12700">
            <a:solidFill>
              <a:srgbClr val="FFFFFF"/>
            </a:solidFill>
            <a:prstDash val="solid"/>
          </a:ln>
        </p:spPr>
      </p:sp>
      <p:sp>
        <p:nvSpPr>
          <p:cNvPr id="3" name="Shape 1"/>
          <p:cNvSpPr/>
          <p:nvPr/>
        </p:nvSpPr>
        <p:spPr>
          <a:xfrm>
            <a:off x="0" y="0"/>
            <a:ext cx="9144000" cy="73152"/>
          </a:xfrm>
          <a:prstGeom prst="rect">
            <a:avLst/>
          </a:prstGeom>
          <a:solidFill>
            <a:srgbClr val="00B4C8"/>
          </a:solidFill>
          <a:ln w="12700">
            <a:solidFill>
              <a:srgbClr val="00B4C8"/>
            </a:solidFill>
            <a:prstDash val="solid"/>
          </a:ln>
        </p:spPr>
      </p:sp>
      <p:sp>
        <p:nvSpPr>
          <p:cNvPr id="4" name="Text 2"/>
          <p:cNvSpPr txBox="1"/>
          <p:nvPr/>
        </p:nvSpPr>
        <p:spPr>
          <a:xfrm>
            <a:off x="365760" y="137160"/>
            <a:ext cx="8412480" cy="548640"/>
          </a:xfrm>
          <a:prstGeom prst="rect">
            <a:avLst/>
          </a:prstGeom>
          <a:noFill/>
          <a:ln/>
        </p:spPr>
        <p:txBody>
          <a:bodyPr wrap="square" lIns="0" tIns="0" rIns="0" bIns="0" rtlCol="0" anchor="ctr"/>
          <a:lstStyle/>
          <a:p>
            <a:pPr algn="l" indent="0" marL="0">
              <a:buNone/>
            </a:pPr>
            <a:r>
              <a:rPr lang="en-US" sz="2800" b="1" dirty="0">
                <a:solidFill>
                  <a:srgbClr val="1A2744"/>
                </a:solidFill>
              </a:rPr>
              <a:t>Writing for Two Audiences</a:t>
            </a:r>
            <a:endParaRPr lang="en-US" sz="2800" dirty="0"/>
          </a:p>
        </p:txBody>
      </p:sp>
      <p:sp>
        <p:nvSpPr>
          <p:cNvPr id="5" name="Shape 3"/>
          <p:cNvSpPr/>
          <p:nvPr/>
        </p:nvSpPr>
        <p:spPr>
          <a:xfrm>
            <a:off x="365760" y="713232"/>
            <a:ext cx="8412480" cy="0"/>
          </a:xfrm>
          <a:prstGeom prst="line">
            <a:avLst/>
          </a:prstGeom>
          <a:noFill/>
          <a:ln w="19050">
            <a:solidFill>
              <a:srgbClr val="00B4C8"/>
            </a:solidFill>
            <a:prstDash val="solid"/>
          </a:ln>
        </p:spPr>
      </p:sp>
      <p:sp>
        <p:nvSpPr>
          <p:cNvPr id="6" name="Shape 4"/>
          <p:cNvSpPr/>
          <p:nvPr/>
        </p:nvSpPr>
        <p:spPr>
          <a:xfrm>
            <a:off x="274320" y="868680"/>
            <a:ext cx="4114800" cy="3840480"/>
          </a:xfrm>
          <a:prstGeom prst="rect">
            <a:avLst/>
          </a:prstGeom>
          <a:solidFill>
            <a:srgbClr val="EEF4FB"/>
          </a:solidFill>
          <a:ln w="12700">
            <a:solidFill>
              <a:srgbClr val="0D3B5E"/>
            </a:solidFill>
            <a:prstDash val="solid"/>
          </a:ln>
        </p:spPr>
      </p:sp>
      <p:sp>
        <p:nvSpPr>
          <p:cNvPr id="7" name="Shape 5"/>
          <p:cNvSpPr/>
          <p:nvPr/>
        </p:nvSpPr>
        <p:spPr>
          <a:xfrm>
            <a:off x="274320" y="868680"/>
            <a:ext cx="4114800" cy="411480"/>
          </a:xfrm>
          <a:prstGeom prst="rect">
            <a:avLst/>
          </a:prstGeom>
          <a:solidFill>
            <a:srgbClr val="0D3B5E"/>
          </a:solidFill>
          <a:ln w="12700">
            <a:solidFill>
              <a:srgbClr val="0D3B5E"/>
            </a:solidFill>
            <a:prstDash val="solid"/>
          </a:ln>
        </p:spPr>
      </p:sp>
      <p:sp>
        <p:nvSpPr>
          <p:cNvPr id="8" name="Text 6"/>
          <p:cNvSpPr txBox="1"/>
          <p:nvPr/>
        </p:nvSpPr>
        <p:spPr>
          <a:xfrm>
            <a:off x="320040" y="868680"/>
            <a:ext cx="4023360" cy="411480"/>
          </a:xfrm>
          <a:prstGeom prst="rect">
            <a:avLst/>
          </a:prstGeom>
          <a:noFill/>
          <a:ln/>
        </p:spPr>
        <p:txBody>
          <a:bodyPr wrap="square" lIns="50800" tIns="50800" rIns="50800" bIns="50800" rtlCol="0" anchor="ctr"/>
          <a:lstStyle/>
          <a:p>
            <a:pPr indent="0" marL="0">
              <a:buNone/>
            </a:pPr>
            <a:r>
              <a:rPr lang="en-US" sz="1300" b="1" dirty="0">
                <a:solidFill>
                  <a:srgbClr val="FFFFFF"/>
                </a:solidFill>
              </a:rPr>
              <a:t>Executive Audience</a:t>
            </a:r>
            <a:endParaRPr lang="en-US" sz="1300" dirty="0"/>
          </a:p>
        </p:txBody>
      </p:sp>
      <p:sp>
        <p:nvSpPr>
          <p:cNvPr id="9" name="Text 7"/>
          <p:cNvSpPr txBox="1"/>
          <p:nvPr/>
        </p:nvSpPr>
        <p:spPr>
          <a:xfrm>
            <a:off x="411480" y="1371600"/>
            <a:ext cx="3886200" cy="2743200"/>
          </a:xfrm>
          <a:prstGeom prst="rect">
            <a:avLst/>
          </a:prstGeom>
          <a:noFill/>
          <a:ln/>
        </p:spPr>
        <p:txBody>
          <a:bodyPr wrap="square" lIns="0" tIns="50800" rIns="0" bIns="0" rtlCol="0" anchor="t"/>
          <a:lstStyle/>
          <a:p>
            <a:pPr algn="l">
              <a:spcAft>
                <a:spcPts val="600"/>
              </a:spcAft>
            </a:pPr>
            <a:r>
              <a:rPr lang="en-US" sz="1200" dirty="0">
                <a:solidFill>
                  <a:srgbClr val="2C3E50"/>
                </a:solidFill>
              </a:rPr>
              <a:t>Non-technical: avoids jargon</a:t>
            </a:r>
            <a:endParaRPr lang="en-US" sz="1200" dirty="0"/>
          </a:p>
          <a:p>
            <a:pPr algn="l">
              <a:spcAft>
                <a:spcPts val="600"/>
              </a:spcAft>
            </a:pPr>
            <a:r>
              <a:rPr lang="en-US" sz="1200" dirty="0">
                <a:solidFill>
                  <a:srgbClr val="2C3E50"/>
                </a:solidFill>
              </a:rPr>
              <a:t>Business risk framing: "card data at risk"</a:t>
            </a:r>
            <a:endParaRPr lang="en-US" sz="1200" dirty="0"/>
          </a:p>
          <a:p>
            <a:pPr algn="l">
              <a:spcAft>
                <a:spcPts val="600"/>
              </a:spcAft>
            </a:pPr>
            <a:r>
              <a:rPr lang="en-US" sz="1200" dirty="0">
                <a:solidFill>
                  <a:srgbClr val="2C3E50"/>
                </a:solidFill>
              </a:rPr>
              <a:t>Severity counts and overall risk rating</a:t>
            </a:r>
            <a:endParaRPr lang="en-US" sz="1200" dirty="0"/>
          </a:p>
          <a:p>
            <a:pPr algn="l">
              <a:spcAft>
                <a:spcPts val="600"/>
              </a:spcAft>
            </a:pPr>
            <a:r>
              <a:rPr lang="en-US" sz="1200" dirty="0">
                <a:solidFill>
                  <a:srgbClr val="2C3E50"/>
                </a:solidFill>
              </a:rPr>
              <a:t>Regulatory implications (PCI DSS breach risk)</a:t>
            </a:r>
            <a:endParaRPr lang="en-US" sz="1200" dirty="0"/>
          </a:p>
          <a:p>
            <a:pPr algn="l">
              <a:spcAft>
                <a:spcPts val="600"/>
              </a:spcAft>
            </a:pPr>
            <a:r>
              <a:rPr lang="en-US" sz="1200" dirty="0">
                <a:solidFill>
                  <a:srgbClr val="2C3E50"/>
                </a:solidFill>
              </a:rPr>
              <a:t>Prioritised remediation roadmap with timelines</a:t>
            </a:r>
            <a:endParaRPr lang="en-US" sz="1200" dirty="0"/>
          </a:p>
          <a:p>
            <a:pPr algn="l">
              <a:spcAft>
                <a:spcPts val="600"/>
              </a:spcAft>
            </a:pPr>
            <a:r>
              <a:rPr lang="en-US" sz="1200" dirty="0">
                <a:solidFill>
                  <a:srgbClr val="2C3E50"/>
                </a:solidFill>
              </a:rPr>
              <a:t>One page maximum for summary</a:t>
            </a:r>
            <a:endParaRPr lang="en-US" sz="1200" dirty="0"/>
          </a:p>
        </p:txBody>
      </p:sp>
      <p:sp>
        <p:nvSpPr>
          <p:cNvPr id="10" name="Text 8"/>
          <p:cNvSpPr txBox="1"/>
          <p:nvPr/>
        </p:nvSpPr>
        <p:spPr>
          <a:xfrm>
            <a:off x="365760" y="4297680"/>
            <a:ext cx="4023360" cy="320040"/>
          </a:xfrm>
          <a:prstGeom prst="rect">
            <a:avLst/>
          </a:prstGeom>
          <a:noFill/>
          <a:ln/>
        </p:spPr>
        <p:txBody>
          <a:bodyPr wrap="square" lIns="0" tIns="0" rIns="0" bIns="0" rtlCol="0" anchor="ctr"/>
          <a:lstStyle/>
          <a:p>
            <a:pPr indent="0" marL="0">
              <a:buNone/>
            </a:pPr>
            <a:r>
              <a:rPr lang="en-US" sz="1000" i="1" dirty="0">
                <a:solidFill>
                  <a:srgbClr val="0D3B5E"/>
                </a:solidFill>
              </a:rPr>
              <a:t>Goal: CEO reads this and understands the risk to the business</a:t>
            </a:r>
            <a:endParaRPr lang="en-US" sz="1000" dirty="0"/>
          </a:p>
        </p:txBody>
      </p:sp>
      <p:sp>
        <p:nvSpPr>
          <p:cNvPr id="11" name="Shape 9"/>
          <p:cNvSpPr/>
          <p:nvPr/>
        </p:nvSpPr>
        <p:spPr>
          <a:xfrm>
            <a:off x="4663440" y="868680"/>
            <a:ext cx="4114800" cy="3840480"/>
          </a:xfrm>
          <a:prstGeom prst="rect">
            <a:avLst/>
          </a:prstGeom>
          <a:solidFill>
            <a:srgbClr val="EEF4FB"/>
          </a:solidFill>
          <a:ln w="12700">
            <a:solidFill>
              <a:srgbClr val="00B4C8"/>
            </a:solidFill>
            <a:prstDash val="solid"/>
          </a:ln>
        </p:spPr>
      </p:sp>
      <p:sp>
        <p:nvSpPr>
          <p:cNvPr id="12" name="Shape 10"/>
          <p:cNvSpPr/>
          <p:nvPr/>
        </p:nvSpPr>
        <p:spPr>
          <a:xfrm>
            <a:off x="4663440" y="868680"/>
            <a:ext cx="4114800" cy="411480"/>
          </a:xfrm>
          <a:prstGeom prst="rect">
            <a:avLst/>
          </a:prstGeom>
          <a:solidFill>
            <a:srgbClr val="00B4C8"/>
          </a:solidFill>
          <a:ln w="12700">
            <a:solidFill>
              <a:srgbClr val="00B4C8"/>
            </a:solidFill>
            <a:prstDash val="solid"/>
          </a:ln>
        </p:spPr>
      </p:sp>
      <p:sp>
        <p:nvSpPr>
          <p:cNvPr id="13" name="Text 11"/>
          <p:cNvSpPr txBox="1"/>
          <p:nvPr/>
        </p:nvSpPr>
        <p:spPr>
          <a:xfrm>
            <a:off x="4709160" y="868680"/>
            <a:ext cx="4023360" cy="411480"/>
          </a:xfrm>
          <a:prstGeom prst="rect">
            <a:avLst/>
          </a:prstGeom>
          <a:noFill/>
          <a:ln/>
        </p:spPr>
        <p:txBody>
          <a:bodyPr wrap="square" lIns="50800" tIns="50800" rIns="50800" bIns="50800" rtlCol="0" anchor="ctr"/>
          <a:lstStyle/>
          <a:p>
            <a:pPr indent="0" marL="0">
              <a:buNone/>
            </a:pPr>
            <a:r>
              <a:rPr lang="en-US" sz="1300" b="1" dirty="0">
                <a:solidFill>
                  <a:srgbClr val="FFFFFF"/>
                </a:solidFill>
              </a:rPr>
              <a:t>Technical Audience</a:t>
            </a:r>
            <a:endParaRPr lang="en-US" sz="1300" dirty="0"/>
          </a:p>
        </p:txBody>
      </p:sp>
      <p:sp>
        <p:nvSpPr>
          <p:cNvPr id="14" name="Text 12"/>
          <p:cNvSpPr txBox="1"/>
          <p:nvPr/>
        </p:nvSpPr>
        <p:spPr>
          <a:xfrm>
            <a:off x="4800600" y="1371600"/>
            <a:ext cx="3886200" cy="2743200"/>
          </a:xfrm>
          <a:prstGeom prst="rect">
            <a:avLst/>
          </a:prstGeom>
          <a:noFill/>
          <a:ln/>
        </p:spPr>
        <p:txBody>
          <a:bodyPr wrap="square" lIns="0" tIns="50800" rIns="0" bIns="0" rtlCol="0" anchor="t"/>
          <a:lstStyle/>
          <a:p>
            <a:pPr algn="l">
              <a:spcAft>
                <a:spcPts val="600"/>
              </a:spcAft>
            </a:pPr>
            <a:r>
              <a:rPr lang="en-US" sz="1200" dirty="0">
                <a:solidFill>
                  <a:srgbClr val="2C3E50"/>
                </a:solidFill>
              </a:rPr>
              <a:t>Precise: tool names, CVE IDs, exact commands</a:t>
            </a:r>
            <a:endParaRPr lang="en-US" sz="1200" dirty="0"/>
          </a:p>
          <a:p>
            <a:pPr algn="l">
              <a:spcAft>
                <a:spcPts val="600"/>
              </a:spcAft>
            </a:pPr>
            <a:r>
              <a:rPr lang="en-US" sz="1200" dirty="0">
                <a:solidFill>
                  <a:srgbClr val="2C3E50"/>
                </a:solidFill>
              </a:rPr>
              <a:t>Evidence: screenshots, command output, logs</a:t>
            </a:r>
            <a:endParaRPr lang="en-US" sz="1200" dirty="0"/>
          </a:p>
          <a:p>
            <a:pPr algn="l">
              <a:spcAft>
                <a:spcPts val="600"/>
              </a:spcAft>
            </a:pPr>
            <a:r>
              <a:rPr lang="en-US" sz="1200" dirty="0">
                <a:solidFill>
                  <a:srgbClr val="2C3E50"/>
                </a:solidFill>
              </a:rPr>
              <a:t>CVSS vector string for reproducibility</a:t>
            </a:r>
            <a:endParaRPr lang="en-US" sz="1200" dirty="0"/>
          </a:p>
          <a:p>
            <a:pPr algn="l">
              <a:spcAft>
                <a:spcPts val="600"/>
              </a:spcAft>
            </a:pPr>
            <a:r>
              <a:rPr lang="en-US" sz="1200" dirty="0">
                <a:solidFill>
                  <a:srgbClr val="2C3E50"/>
                </a:solidFill>
              </a:rPr>
              <a:t>Specific remediation: file paths, config changes</a:t>
            </a:r>
            <a:endParaRPr lang="en-US" sz="1200" dirty="0"/>
          </a:p>
          <a:p>
            <a:pPr algn="l">
              <a:spcAft>
                <a:spcPts val="600"/>
              </a:spcAft>
            </a:pPr>
            <a:r>
              <a:rPr lang="en-US" sz="1200" dirty="0">
                <a:solidFill>
                  <a:srgbClr val="2C3E50"/>
                </a:solidFill>
              </a:rPr>
              <a:t>Sufficient detail to reproduce and verify fix</a:t>
            </a:r>
            <a:endParaRPr lang="en-US" sz="1200" dirty="0"/>
          </a:p>
          <a:p>
            <a:pPr algn="l">
              <a:spcAft>
                <a:spcPts val="600"/>
              </a:spcAft>
            </a:pPr>
            <a:r>
              <a:rPr lang="en-US" sz="1200" dirty="0">
                <a:solidFill>
                  <a:srgbClr val="2C3E50"/>
                </a:solidFill>
              </a:rPr>
              <a:t>Findings ordered by severity (Critical first)</a:t>
            </a:r>
            <a:endParaRPr lang="en-US" sz="1200" dirty="0"/>
          </a:p>
        </p:txBody>
      </p:sp>
      <p:sp>
        <p:nvSpPr>
          <p:cNvPr id="15" name="Text 13"/>
          <p:cNvSpPr txBox="1"/>
          <p:nvPr/>
        </p:nvSpPr>
        <p:spPr>
          <a:xfrm>
            <a:off x="4709160" y="4297680"/>
            <a:ext cx="4023360" cy="320040"/>
          </a:xfrm>
          <a:prstGeom prst="rect">
            <a:avLst/>
          </a:prstGeom>
          <a:noFill/>
          <a:ln/>
        </p:spPr>
        <p:txBody>
          <a:bodyPr wrap="square" lIns="0" tIns="0" rIns="0" bIns="0" rtlCol="0" anchor="ctr"/>
          <a:lstStyle/>
          <a:p>
            <a:pPr indent="0" marL="0">
              <a:buNone/>
            </a:pPr>
            <a:r>
              <a:rPr lang="en-US" sz="1000" i="1" dirty="0">
                <a:solidFill>
                  <a:srgbClr val="00B4C8"/>
                </a:solidFill>
              </a:rPr>
              <a:t>Goal: sysadmin reads this and knows exactly what to fix</a:t>
            </a:r>
            <a:endParaRPr lang="en-US" sz="1000" dirty="0"/>
          </a:p>
        </p:txBody>
      </p:sp>
      <p:sp>
        <p:nvSpPr>
          <p:cNvPr id="16" name="Text 14"/>
          <p:cNvSpPr txBox="1"/>
          <p:nvPr/>
        </p:nvSpPr>
        <p:spPr>
          <a:xfrm>
            <a:off x="0" y="4892040"/>
            <a:ext cx="9144000" cy="256032"/>
          </a:xfrm>
          <a:prstGeom prst="rect">
            <a:avLst/>
          </a:prstGeom>
          <a:noFill/>
          <a:ln/>
        </p:spPr>
        <p:txBody>
          <a:bodyPr wrap="square" lIns="0" tIns="0" rIns="0" bIns="0" rtlCol="0" anchor="ctr"/>
          <a:lstStyle/>
          <a:p>
            <a:pPr algn="ctr" indent="0" marL="0">
              <a:buNone/>
            </a:pPr>
            <a:r>
              <a:rPr lang="en-US" sz="900" dirty="0">
                <a:solidFill>
                  <a:srgbClr val="7F8C8D"/>
                </a:solidFill>
              </a:rPr>
              <a:t>My Cyber Academy | MCA CREST CPSA - Module A: Soft Skills</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A2744"/>
          </a:solidFill>
          <a:ln w="12700">
            <a:solidFill>
              <a:srgbClr val="1A2744"/>
            </a:solidFill>
            <a:prstDash val="solid"/>
          </a:ln>
        </p:spPr>
      </p:sp>
      <p:sp>
        <p:nvSpPr>
          <p:cNvPr id="3" name="Shape 1"/>
          <p:cNvSpPr/>
          <p:nvPr/>
        </p:nvSpPr>
        <p:spPr>
          <a:xfrm>
            <a:off x="0" y="0"/>
            <a:ext cx="228600" cy="5143500"/>
          </a:xfrm>
          <a:prstGeom prst="rect">
            <a:avLst/>
          </a:prstGeom>
          <a:solidFill>
            <a:srgbClr val="C0392B"/>
          </a:solidFill>
          <a:ln w="12700">
            <a:solidFill>
              <a:srgbClr val="C0392B"/>
            </a:solidFill>
            <a:prstDash val="solid"/>
          </a:ln>
        </p:spPr>
      </p:sp>
      <p:sp>
        <p:nvSpPr>
          <p:cNvPr id="4" name="Text 2"/>
          <p:cNvSpPr txBox="1"/>
          <p:nvPr/>
        </p:nvSpPr>
        <p:spPr>
          <a:xfrm>
            <a:off x="548640" y="1097280"/>
            <a:ext cx="2286000" cy="1097280"/>
          </a:xfrm>
          <a:prstGeom prst="rect">
            <a:avLst/>
          </a:prstGeom>
          <a:noFill/>
          <a:ln/>
        </p:spPr>
        <p:txBody>
          <a:bodyPr wrap="square" lIns="0" tIns="0" rIns="0" bIns="0" rtlCol="0" anchor="ctr"/>
          <a:lstStyle/>
          <a:p>
            <a:pPr algn="l" indent="0" marL="0">
              <a:buNone/>
            </a:pPr>
            <a:r>
              <a:rPr lang="en-US" sz="8000" b="1" dirty="0">
                <a:solidFill>
                  <a:srgbClr val="3D0000"/>
                </a:solidFill>
              </a:rPr>
              <a:t>A4</a:t>
            </a:r>
            <a:endParaRPr lang="en-US" sz="8000" dirty="0"/>
          </a:p>
        </p:txBody>
      </p:sp>
      <p:sp>
        <p:nvSpPr>
          <p:cNvPr id="5" name="Text 3"/>
          <p:cNvSpPr txBox="1"/>
          <p:nvPr/>
        </p:nvSpPr>
        <p:spPr>
          <a:xfrm>
            <a:off x="548640" y="2148840"/>
            <a:ext cx="8229600" cy="914400"/>
          </a:xfrm>
          <a:prstGeom prst="rect">
            <a:avLst/>
          </a:prstGeom>
          <a:noFill/>
          <a:ln/>
        </p:spPr>
        <p:txBody>
          <a:bodyPr wrap="square" lIns="0" tIns="0" rIns="0" bIns="0" rtlCol="0" anchor="ctr"/>
          <a:lstStyle/>
          <a:p>
            <a:pPr algn="l" indent="0" marL="0">
              <a:buNone/>
            </a:pPr>
            <a:r>
              <a:rPr lang="en-US" sz="3400" b="1" dirty="0">
                <a:solidFill>
                  <a:srgbClr val="FFFFFF"/>
                </a:solidFill>
              </a:rPr>
              <a:t>CVSS v3.1</a:t>
            </a:r>
            <a:endParaRPr lang="en-US" sz="3400" dirty="0"/>
          </a:p>
          <a:p>
            <a:pPr algn="l" indent="0" marL="0">
              <a:buNone/>
            </a:pPr>
            <a:r>
              <a:rPr lang="en-US" sz="3400" b="1" dirty="0">
                <a:solidFill>
                  <a:srgbClr val="FFFFFF"/>
                </a:solidFill>
              </a:rPr>
              <a:t>Scoring</a:t>
            </a:r>
            <a:endParaRPr lang="en-US" sz="3400" dirty="0"/>
          </a:p>
        </p:txBody>
      </p:sp>
      <p:sp>
        <p:nvSpPr>
          <p:cNvPr id="6" name="Text 4"/>
          <p:cNvSpPr txBox="1"/>
          <p:nvPr/>
        </p:nvSpPr>
        <p:spPr>
          <a:xfrm>
            <a:off x="548640" y="3154680"/>
            <a:ext cx="7772400" cy="457200"/>
          </a:xfrm>
          <a:prstGeom prst="rect">
            <a:avLst/>
          </a:prstGeom>
          <a:noFill/>
          <a:ln/>
        </p:spPr>
        <p:txBody>
          <a:bodyPr wrap="square" lIns="0" tIns="0" rIns="0" bIns="0" rtlCol="0" anchor="ctr"/>
          <a:lstStyle/>
          <a:p>
            <a:pPr algn="l" indent="0" marL="0">
              <a:buNone/>
            </a:pPr>
            <a:r>
              <a:rPr lang="en-US" sz="1600" dirty="0">
                <a:solidFill>
                  <a:srgbClr val="FF8A80"/>
                </a:solidFill>
              </a:rPr>
              <a:t>Common Vulnerability Scoring System - calculating consistent, reproducible risk scores</a:t>
            </a:r>
            <a:endParaRPr lang="en-US" sz="1600" dirty="0"/>
          </a:p>
        </p:txBody>
      </p:sp>
      <p:sp>
        <p:nvSpPr>
          <p:cNvPr id="7" name="Text 5"/>
          <p:cNvSpPr txBox="1"/>
          <p:nvPr/>
        </p:nvSpPr>
        <p:spPr>
          <a:xfrm>
            <a:off x="0" y="4892040"/>
            <a:ext cx="9144000" cy="256032"/>
          </a:xfrm>
          <a:prstGeom prst="rect">
            <a:avLst/>
          </a:prstGeom>
          <a:noFill/>
          <a:ln/>
        </p:spPr>
        <p:txBody>
          <a:bodyPr wrap="square" lIns="0" tIns="0" rIns="0" bIns="0" rtlCol="0" anchor="ctr"/>
          <a:lstStyle/>
          <a:p>
            <a:pPr algn="ctr" indent="0" marL="0">
              <a:buNone/>
            </a:pPr>
            <a:r>
              <a:rPr lang="en-US" sz="900" dirty="0">
                <a:solidFill>
                  <a:srgbClr val="5A7FAA"/>
                </a:solidFill>
              </a:rPr>
              <a:t>My Cyber Academy | MCA CREST CPSA - Module A: Soft Skills</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w="12700">
            <a:solidFill>
              <a:srgbClr val="FFFFFF"/>
            </a:solidFill>
            <a:prstDash val="solid"/>
          </a:ln>
        </p:spPr>
      </p:sp>
      <p:sp>
        <p:nvSpPr>
          <p:cNvPr id="3" name="Shape 1"/>
          <p:cNvSpPr/>
          <p:nvPr/>
        </p:nvSpPr>
        <p:spPr>
          <a:xfrm>
            <a:off x="0" y="0"/>
            <a:ext cx="9144000" cy="73152"/>
          </a:xfrm>
          <a:prstGeom prst="rect">
            <a:avLst/>
          </a:prstGeom>
          <a:solidFill>
            <a:srgbClr val="00B4C8"/>
          </a:solidFill>
          <a:ln w="12700">
            <a:solidFill>
              <a:srgbClr val="00B4C8"/>
            </a:solidFill>
            <a:prstDash val="solid"/>
          </a:ln>
        </p:spPr>
      </p:sp>
      <p:sp>
        <p:nvSpPr>
          <p:cNvPr id="4" name="Text 2"/>
          <p:cNvSpPr txBox="1"/>
          <p:nvPr/>
        </p:nvSpPr>
        <p:spPr>
          <a:xfrm>
            <a:off x="365760" y="137160"/>
            <a:ext cx="8412480" cy="548640"/>
          </a:xfrm>
          <a:prstGeom prst="rect">
            <a:avLst/>
          </a:prstGeom>
          <a:noFill/>
          <a:ln/>
        </p:spPr>
        <p:txBody>
          <a:bodyPr wrap="square" lIns="0" tIns="0" rIns="0" bIns="0" rtlCol="0" anchor="ctr"/>
          <a:lstStyle/>
          <a:p>
            <a:pPr algn="l" indent="0" marL="0">
              <a:buNone/>
            </a:pPr>
            <a:r>
              <a:rPr lang="en-US" sz="2800" b="1" dirty="0">
                <a:solidFill>
                  <a:srgbClr val="1A2744"/>
                </a:solidFill>
              </a:rPr>
              <a:t>CVSS v3.1 - The 8 Base Metrics</a:t>
            </a:r>
            <a:endParaRPr lang="en-US" sz="2800" dirty="0"/>
          </a:p>
        </p:txBody>
      </p:sp>
      <p:sp>
        <p:nvSpPr>
          <p:cNvPr id="5" name="Shape 3"/>
          <p:cNvSpPr/>
          <p:nvPr/>
        </p:nvSpPr>
        <p:spPr>
          <a:xfrm>
            <a:off x="365760" y="713232"/>
            <a:ext cx="8412480" cy="0"/>
          </a:xfrm>
          <a:prstGeom prst="line">
            <a:avLst/>
          </a:prstGeom>
          <a:noFill/>
          <a:ln w="19050">
            <a:solidFill>
              <a:srgbClr val="00B4C8"/>
            </a:solidFill>
            <a:prstDash val="solid"/>
          </a:ln>
        </p:spPr>
      </p:sp>
      <p:sp>
        <p:nvSpPr>
          <p:cNvPr id="6" name="Text 4"/>
          <p:cNvSpPr txBox="1"/>
          <p:nvPr/>
        </p:nvSpPr>
        <p:spPr>
          <a:xfrm>
            <a:off x="274320" y="868680"/>
            <a:ext cx="5029200" cy="274320"/>
          </a:xfrm>
          <a:prstGeom prst="rect">
            <a:avLst/>
          </a:prstGeom>
          <a:noFill/>
          <a:ln/>
        </p:spPr>
        <p:txBody>
          <a:bodyPr wrap="square" lIns="0" tIns="0" rIns="0" bIns="0" rtlCol="0" anchor="ctr"/>
          <a:lstStyle/>
          <a:p>
            <a:pPr indent="0" marL="0">
              <a:buNone/>
            </a:pPr>
            <a:r>
              <a:rPr lang="en-US" sz="1300" b="1" dirty="0">
                <a:solidFill>
                  <a:srgbClr val="00B4C8"/>
                </a:solidFill>
              </a:rPr>
              <a:t>Exploitability Metrics</a:t>
            </a:r>
            <a:endParaRPr lang="en-US" sz="1300" dirty="0"/>
          </a:p>
        </p:txBody>
      </p:sp>
      <p:sp>
        <p:nvSpPr>
          <p:cNvPr id="7" name="Shape 5"/>
          <p:cNvSpPr/>
          <p:nvPr/>
        </p:nvSpPr>
        <p:spPr>
          <a:xfrm>
            <a:off x="274320" y="1234440"/>
            <a:ext cx="438912" cy="438912"/>
          </a:xfrm>
          <a:prstGeom prst="rect">
            <a:avLst/>
          </a:prstGeom>
          <a:solidFill>
            <a:srgbClr val="0D3B5E"/>
          </a:solidFill>
          <a:ln w="12700">
            <a:solidFill>
              <a:srgbClr val="0D3B5E"/>
            </a:solidFill>
            <a:prstDash val="solid"/>
          </a:ln>
        </p:spPr>
      </p:sp>
      <p:sp>
        <p:nvSpPr>
          <p:cNvPr id="8" name="Text 6"/>
          <p:cNvSpPr txBox="1"/>
          <p:nvPr/>
        </p:nvSpPr>
        <p:spPr>
          <a:xfrm>
            <a:off x="274320" y="1234440"/>
            <a:ext cx="438912" cy="438912"/>
          </a:xfrm>
          <a:prstGeom prst="rect">
            <a:avLst/>
          </a:prstGeom>
          <a:noFill/>
          <a:ln/>
        </p:spPr>
        <p:txBody>
          <a:bodyPr wrap="square" lIns="0" tIns="0" rIns="0" bIns="0" rtlCol="0" anchor="ctr"/>
          <a:lstStyle/>
          <a:p>
            <a:pPr algn="ctr" indent="0" marL="0">
              <a:buNone/>
            </a:pPr>
            <a:r>
              <a:rPr lang="en-US" sz="1200" b="1" dirty="0">
                <a:solidFill>
                  <a:srgbClr val="FFFFFF"/>
                </a:solidFill>
              </a:rPr>
              <a:t>AV</a:t>
            </a:r>
            <a:endParaRPr lang="en-US" sz="1200" dirty="0"/>
          </a:p>
        </p:txBody>
      </p:sp>
      <p:sp>
        <p:nvSpPr>
          <p:cNvPr id="9" name="Text 7"/>
          <p:cNvSpPr txBox="1"/>
          <p:nvPr/>
        </p:nvSpPr>
        <p:spPr>
          <a:xfrm>
            <a:off x="804672" y="1234440"/>
            <a:ext cx="2011680" cy="228600"/>
          </a:xfrm>
          <a:prstGeom prst="rect">
            <a:avLst/>
          </a:prstGeom>
          <a:noFill/>
          <a:ln/>
        </p:spPr>
        <p:txBody>
          <a:bodyPr wrap="square" lIns="0" tIns="0" rIns="0" bIns="0" rtlCol="0" anchor="ctr"/>
          <a:lstStyle/>
          <a:p>
            <a:pPr indent="0" marL="0">
              <a:buNone/>
            </a:pPr>
            <a:r>
              <a:rPr lang="en-US" sz="1100" b="1" dirty="0">
                <a:solidFill>
                  <a:srgbClr val="1A2744"/>
                </a:solidFill>
              </a:rPr>
              <a:t>Attack Vector</a:t>
            </a:r>
            <a:endParaRPr lang="en-US" sz="1100" dirty="0"/>
          </a:p>
        </p:txBody>
      </p:sp>
      <p:sp>
        <p:nvSpPr>
          <p:cNvPr id="10" name="Text 8"/>
          <p:cNvSpPr txBox="1"/>
          <p:nvPr/>
        </p:nvSpPr>
        <p:spPr>
          <a:xfrm>
            <a:off x="804672" y="1463040"/>
            <a:ext cx="3931920" cy="182880"/>
          </a:xfrm>
          <a:prstGeom prst="rect">
            <a:avLst/>
          </a:prstGeom>
          <a:noFill/>
          <a:ln/>
        </p:spPr>
        <p:txBody>
          <a:bodyPr wrap="square" lIns="0" tIns="0" rIns="0" bIns="0" rtlCol="0" anchor="ctr"/>
          <a:lstStyle/>
          <a:p>
            <a:pPr indent="0" marL="0">
              <a:buNone/>
            </a:pPr>
            <a:r>
              <a:rPr lang="en-US" sz="900" dirty="0">
                <a:solidFill>
                  <a:srgbClr val="7F8C8D"/>
                </a:solidFill>
                <a:latin typeface="Courier New" pitchFamily="34" charset="0"/>
                <a:ea typeface="Courier New" pitchFamily="34" charset="-122"/>
                <a:cs typeface="Courier New" pitchFamily="34" charset="-120"/>
              </a:rPr>
              <a:t>N=Network | A=Adjacent | L=Local | P=Physical</a:t>
            </a:r>
            <a:endParaRPr lang="en-US" sz="900" dirty="0"/>
          </a:p>
        </p:txBody>
      </p:sp>
      <p:sp>
        <p:nvSpPr>
          <p:cNvPr id="11" name="Shape 9"/>
          <p:cNvSpPr/>
          <p:nvPr/>
        </p:nvSpPr>
        <p:spPr>
          <a:xfrm>
            <a:off x="274320" y="1801368"/>
            <a:ext cx="438912" cy="438912"/>
          </a:xfrm>
          <a:prstGeom prst="rect">
            <a:avLst/>
          </a:prstGeom>
          <a:solidFill>
            <a:srgbClr val="0D3B5E"/>
          </a:solidFill>
          <a:ln w="12700">
            <a:solidFill>
              <a:srgbClr val="0D3B5E"/>
            </a:solidFill>
            <a:prstDash val="solid"/>
          </a:ln>
        </p:spPr>
      </p:sp>
      <p:sp>
        <p:nvSpPr>
          <p:cNvPr id="12" name="Text 10"/>
          <p:cNvSpPr txBox="1"/>
          <p:nvPr/>
        </p:nvSpPr>
        <p:spPr>
          <a:xfrm>
            <a:off x="274320" y="1801368"/>
            <a:ext cx="438912" cy="438912"/>
          </a:xfrm>
          <a:prstGeom prst="rect">
            <a:avLst/>
          </a:prstGeom>
          <a:noFill/>
          <a:ln/>
        </p:spPr>
        <p:txBody>
          <a:bodyPr wrap="square" lIns="0" tIns="0" rIns="0" bIns="0" rtlCol="0" anchor="ctr"/>
          <a:lstStyle/>
          <a:p>
            <a:pPr algn="ctr" indent="0" marL="0">
              <a:buNone/>
            </a:pPr>
            <a:r>
              <a:rPr lang="en-US" sz="1200" b="1" dirty="0">
                <a:solidFill>
                  <a:srgbClr val="FFFFFF"/>
                </a:solidFill>
              </a:rPr>
              <a:t>AC</a:t>
            </a:r>
            <a:endParaRPr lang="en-US" sz="1200" dirty="0"/>
          </a:p>
        </p:txBody>
      </p:sp>
      <p:sp>
        <p:nvSpPr>
          <p:cNvPr id="13" name="Text 11"/>
          <p:cNvSpPr txBox="1"/>
          <p:nvPr/>
        </p:nvSpPr>
        <p:spPr>
          <a:xfrm>
            <a:off x="804672" y="1801368"/>
            <a:ext cx="2011680" cy="228600"/>
          </a:xfrm>
          <a:prstGeom prst="rect">
            <a:avLst/>
          </a:prstGeom>
          <a:noFill/>
          <a:ln/>
        </p:spPr>
        <p:txBody>
          <a:bodyPr wrap="square" lIns="0" tIns="0" rIns="0" bIns="0" rtlCol="0" anchor="ctr"/>
          <a:lstStyle/>
          <a:p>
            <a:pPr indent="0" marL="0">
              <a:buNone/>
            </a:pPr>
            <a:r>
              <a:rPr lang="en-US" sz="1100" b="1" dirty="0">
                <a:solidFill>
                  <a:srgbClr val="1A2744"/>
                </a:solidFill>
              </a:rPr>
              <a:t>Attack Complexity</a:t>
            </a:r>
            <a:endParaRPr lang="en-US" sz="1100" dirty="0"/>
          </a:p>
        </p:txBody>
      </p:sp>
      <p:sp>
        <p:nvSpPr>
          <p:cNvPr id="14" name="Text 12"/>
          <p:cNvSpPr txBox="1"/>
          <p:nvPr/>
        </p:nvSpPr>
        <p:spPr>
          <a:xfrm>
            <a:off x="804672" y="2029968"/>
            <a:ext cx="3931920" cy="182880"/>
          </a:xfrm>
          <a:prstGeom prst="rect">
            <a:avLst/>
          </a:prstGeom>
          <a:noFill/>
          <a:ln/>
        </p:spPr>
        <p:txBody>
          <a:bodyPr wrap="square" lIns="0" tIns="0" rIns="0" bIns="0" rtlCol="0" anchor="ctr"/>
          <a:lstStyle/>
          <a:p>
            <a:pPr indent="0" marL="0">
              <a:buNone/>
            </a:pPr>
            <a:r>
              <a:rPr lang="en-US" sz="900" dirty="0">
                <a:solidFill>
                  <a:srgbClr val="7F8C8D"/>
                </a:solidFill>
                <a:latin typeface="Courier New" pitchFamily="34" charset="0"/>
                <a:ea typeface="Courier New" pitchFamily="34" charset="-122"/>
                <a:cs typeface="Courier New" pitchFamily="34" charset="-120"/>
              </a:rPr>
              <a:t>L=Low | H=High</a:t>
            </a:r>
            <a:endParaRPr lang="en-US" sz="900" dirty="0"/>
          </a:p>
        </p:txBody>
      </p:sp>
      <p:sp>
        <p:nvSpPr>
          <p:cNvPr id="15" name="Shape 13"/>
          <p:cNvSpPr/>
          <p:nvPr/>
        </p:nvSpPr>
        <p:spPr>
          <a:xfrm>
            <a:off x="274320" y="2368296"/>
            <a:ext cx="438912" cy="438912"/>
          </a:xfrm>
          <a:prstGeom prst="rect">
            <a:avLst/>
          </a:prstGeom>
          <a:solidFill>
            <a:srgbClr val="0D3B5E"/>
          </a:solidFill>
          <a:ln w="12700">
            <a:solidFill>
              <a:srgbClr val="0D3B5E"/>
            </a:solidFill>
            <a:prstDash val="solid"/>
          </a:ln>
        </p:spPr>
      </p:sp>
      <p:sp>
        <p:nvSpPr>
          <p:cNvPr id="16" name="Text 14"/>
          <p:cNvSpPr txBox="1"/>
          <p:nvPr/>
        </p:nvSpPr>
        <p:spPr>
          <a:xfrm>
            <a:off x="274320" y="2368296"/>
            <a:ext cx="438912" cy="438912"/>
          </a:xfrm>
          <a:prstGeom prst="rect">
            <a:avLst/>
          </a:prstGeom>
          <a:noFill/>
          <a:ln/>
        </p:spPr>
        <p:txBody>
          <a:bodyPr wrap="square" lIns="0" tIns="0" rIns="0" bIns="0" rtlCol="0" anchor="ctr"/>
          <a:lstStyle/>
          <a:p>
            <a:pPr algn="ctr" indent="0" marL="0">
              <a:buNone/>
            </a:pPr>
            <a:r>
              <a:rPr lang="en-US" sz="1200" b="1" dirty="0">
                <a:solidFill>
                  <a:srgbClr val="FFFFFF"/>
                </a:solidFill>
              </a:rPr>
              <a:t>PR</a:t>
            </a:r>
            <a:endParaRPr lang="en-US" sz="1200" dirty="0"/>
          </a:p>
        </p:txBody>
      </p:sp>
      <p:sp>
        <p:nvSpPr>
          <p:cNvPr id="17" name="Text 15"/>
          <p:cNvSpPr txBox="1"/>
          <p:nvPr/>
        </p:nvSpPr>
        <p:spPr>
          <a:xfrm>
            <a:off x="804672" y="2368296"/>
            <a:ext cx="2011680" cy="228600"/>
          </a:xfrm>
          <a:prstGeom prst="rect">
            <a:avLst/>
          </a:prstGeom>
          <a:noFill/>
          <a:ln/>
        </p:spPr>
        <p:txBody>
          <a:bodyPr wrap="square" lIns="0" tIns="0" rIns="0" bIns="0" rtlCol="0" anchor="ctr"/>
          <a:lstStyle/>
          <a:p>
            <a:pPr indent="0" marL="0">
              <a:buNone/>
            </a:pPr>
            <a:r>
              <a:rPr lang="en-US" sz="1100" b="1" dirty="0">
                <a:solidFill>
                  <a:srgbClr val="1A2744"/>
                </a:solidFill>
              </a:rPr>
              <a:t>Privileges Required</a:t>
            </a:r>
            <a:endParaRPr lang="en-US" sz="1100" dirty="0"/>
          </a:p>
        </p:txBody>
      </p:sp>
      <p:sp>
        <p:nvSpPr>
          <p:cNvPr id="18" name="Text 16"/>
          <p:cNvSpPr txBox="1"/>
          <p:nvPr/>
        </p:nvSpPr>
        <p:spPr>
          <a:xfrm>
            <a:off x="804672" y="2596896"/>
            <a:ext cx="3931920" cy="182880"/>
          </a:xfrm>
          <a:prstGeom prst="rect">
            <a:avLst/>
          </a:prstGeom>
          <a:noFill/>
          <a:ln/>
        </p:spPr>
        <p:txBody>
          <a:bodyPr wrap="square" lIns="0" tIns="0" rIns="0" bIns="0" rtlCol="0" anchor="ctr"/>
          <a:lstStyle/>
          <a:p>
            <a:pPr indent="0" marL="0">
              <a:buNone/>
            </a:pPr>
            <a:r>
              <a:rPr lang="en-US" sz="900" dirty="0">
                <a:solidFill>
                  <a:srgbClr val="7F8C8D"/>
                </a:solidFill>
                <a:latin typeface="Courier New" pitchFamily="34" charset="0"/>
                <a:ea typeface="Courier New" pitchFamily="34" charset="-122"/>
                <a:cs typeface="Courier New" pitchFamily="34" charset="-120"/>
              </a:rPr>
              <a:t>N=None | L=Low | H=High</a:t>
            </a:r>
            <a:endParaRPr lang="en-US" sz="900" dirty="0"/>
          </a:p>
        </p:txBody>
      </p:sp>
      <p:sp>
        <p:nvSpPr>
          <p:cNvPr id="19" name="Shape 17"/>
          <p:cNvSpPr/>
          <p:nvPr/>
        </p:nvSpPr>
        <p:spPr>
          <a:xfrm>
            <a:off x="274320" y="2935224"/>
            <a:ext cx="438912" cy="438912"/>
          </a:xfrm>
          <a:prstGeom prst="rect">
            <a:avLst/>
          </a:prstGeom>
          <a:solidFill>
            <a:srgbClr val="0D3B5E"/>
          </a:solidFill>
          <a:ln w="12700">
            <a:solidFill>
              <a:srgbClr val="0D3B5E"/>
            </a:solidFill>
            <a:prstDash val="solid"/>
          </a:ln>
        </p:spPr>
      </p:sp>
      <p:sp>
        <p:nvSpPr>
          <p:cNvPr id="20" name="Text 18"/>
          <p:cNvSpPr txBox="1"/>
          <p:nvPr/>
        </p:nvSpPr>
        <p:spPr>
          <a:xfrm>
            <a:off x="274320" y="2935224"/>
            <a:ext cx="438912" cy="438912"/>
          </a:xfrm>
          <a:prstGeom prst="rect">
            <a:avLst/>
          </a:prstGeom>
          <a:noFill/>
          <a:ln/>
        </p:spPr>
        <p:txBody>
          <a:bodyPr wrap="square" lIns="0" tIns="0" rIns="0" bIns="0" rtlCol="0" anchor="ctr"/>
          <a:lstStyle/>
          <a:p>
            <a:pPr algn="ctr" indent="0" marL="0">
              <a:buNone/>
            </a:pPr>
            <a:r>
              <a:rPr lang="en-US" sz="1200" b="1" dirty="0">
                <a:solidFill>
                  <a:srgbClr val="FFFFFF"/>
                </a:solidFill>
              </a:rPr>
              <a:t>UI</a:t>
            </a:r>
            <a:endParaRPr lang="en-US" sz="1200" dirty="0"/>
          </a:p>
        </p:txBody>
      </p:sp>
      <p:sp>
        <p:nvSpPr>
          <p:cNvPr id="21" name="Text 19"/>
          <p:cNvSpPr txBox="1"/>
          <p:nvPr/>
        </p:nvSpPr>
        <p:spPr>
          <a:xfrm>
            <a:off x="804672" y="2935224"/>
            <a:ext cx="2011680" cy="228600"/>
          </a:xfrm>
          <a:prstGeom prst="rect">
            <a:avLst/>
          </a:prstGeom>
          <a:noFill/>
          <a:ln/>
        </p:spPr>
        <p:txBody>
          <a:bodyPr wrap="square" lIns="0" tIns="0" rIns="0" bIns="0" rtlCol="0" anchor="ctr"/>
          <a:lstStyle/>
          <a:p>
            <a:pPr indent="0" marL="0">
              <a:buNone/>
            </a:pPr>
            <a:r>
              <a:rPr lang="en-US" sz="1100" b="1" dirty="0">
                <a:solidFill>
                  <a:srgbClr val="1A2744"/>
                </a:solidFill>
              </a:rPr>
              <a:t>User Interaction</a:t>
            </a:r>
            <a:endParaRPr lang="en-US" sz="1100" dirty="0"/>
          </a:p>
        </p:txBody>
      </p:sp>
      <p:sp>
        <p:nvSpPr>
          <p:cNvPr id="22" name="Text 20"/>
          <p:cNvSpPr txBox="1"/>
          <p:nvPr/>
        </p:nvSpPr>
        <p:spPr>
          <a:xfrm>
            <a:off x="804672" y="3163824"/>
            <a:ext cx="3931920" cy="182880"/>
          </a:xfrm>
          <a:prstGeom prst="rect">
            <a:avLst/>
          </a:prstGeom>
          <a:noFill/>
          <a:ln/>
        </p:spPr>
        <p:txBody>
          <a:bodyPr wrap="square" lIns="0" tIns="0" rIns="0" bIns="0" rtlCol="0" anchor="ctr"/>
          <a:lstStyle/>
          <a:p>
            <a:pPr indent="0" marL="0">
              <a:buNone/>
            </a:pPr>
            <a:r>
              <a:rPr lang="en-US" sz="900" dirty="0">
                <a:solidFill>
                  <a:srgbClr val="7F8C8D"/>
                </a:solidFill>
                <a:latin typeface="Courier New" pitchFamily="34" charset="0"/>
                <a:ea typeface="Courier New" pitchFamily="34" charset="-122"/>
                <a:cs typeface="Courier New" pitchFamily="34" charset="-120"/>
              </a:rPr>
              <a:t>N=None | R=Required</a:t>
            </a:r>
            <a:endParaRPr lang="en-US" sz="900" dirty="0"/>
          </a:p>
        </p:txBody>
      </p:sp>
      <p:sp>
        <p:nvSpPr>
          <p:cNvPr id="23" name="Text 21"/>
          <p:cNvSpPr txBox="1"/>
          <p:nvPr/>
        </p:nvSpPr>
        <p:spPr>
          <a:xfrm>
            <a:off x="5029200" y="868680"/>
            <a:ext cx="3840480" cy="274320"/>
          </a:xfrm>
          <a:prstGeom prst="rect">
            <a:avLst/>
          </a:prstGeom>
          <a:noFill/>
          <a:ln/>
        </p:spPr>
        <p:txBody>
          <a:bodyPr wrap="square" lIns="0" tIns="0" rIns="0" bIns="0" rtlCol="0" anchor="ctr"/>
          <a:lstStyle/>
          <a:p>
            <a:pPr indent="0" marL="0">
              <a:buNone/>
            </a:pPr>
            <a:r>
              <a:rPr lang="en-US" sz="1300" b="1" dirty="0">
                <a:solidFill>
                  <a:srgbClr val="C0392B"/>
                </a:solidFill>
              </a:rPr>
              <a:t>Impact Metrics</a:t>
            </a:r>
            <a:endParaRPr lang="en-US" sz="1300" dirty="0"/>
          </a:p>
        </p:txBody>
      </p:sp>
      <p:sp>
        <p:nvSpPr>
          <p:cNvPr id="24" name="Shape 22"/>
          <p:cNvSpPr/>
          <p:nvPr/>
        </p:nvSpPr>
        <p:spPr>
          <a:xfrm>
            <a:off x="5029200" y="1234440"/>
            <a:ext cx="438912" cy="438912"/>
          </a:xfrm>
          <a:prstGeom prst="rect">
            <a:avLst/>
          </a:prstGeom>
          <a:solidFill>
            <a:srgbClr val="C0392B"/>
          </a:solidFill>
          <a:ln w="12700">
            <a:solidFill>
              <a:srgbClr val="C0392B"/>
            </a:solidFill>
            <a:prstDash val="solid"/>
          </a:ln>
        </p:spPr>
      </p:sp>
      <p:sp>
        <p:nvSpPr>
          <p:cNvPr id="25" name="Text 23"/>
          <p:cNvSpPr txBox="1"/>
          <p:nvPr/>
        </p:nvSpPr>
        <p:spPr>
          <a:xfrm>
            <a:off x="5029200" y="1234440"/>
            <a:ext cx="438912" cy="438912"/>
          </a:xfrm>
          <a:prstGeom prst="rect">
            <a:avLst/>
          </a:prstGeom>
          <a:noFill/>
          <a:ln/>
        </p:spPr>
        <p:txBody>
          <a:bodyPr wrap="square" lIns="0" tIns="0" rIns="0" bIns="0" rtlCol="0" anchor="ctr"/>
          <a:lstStyle/>
          <a:p>
            <a:pPr algn="ctr" indent="0" marL="0">
              <a:buNone/>
            </a:pPr>
            <a:r>
              <a:rPr lang="en-US" sz="1200" b="1" dirty="0">
                <a:solidFill>
                  <a:srgbClr val="FFFFFF"/>
                </a:solidFill>
              </a:rPr>
              <a:t>S</a:t>
            </a:r>
            <a:endParaRPr lang="en-US" sz="1200" dirty="0"/>
          </a:p>
        </p:txBody>
      </p:sp>
      <p:sp>
        <p:nvSpPr>
          <p:cNvPr id="26" name="Text 24"/>
          <p:cNvSpPr txBox="1"/>
          <p:nvPr/>
        </p:nvSpPr>
        <p:spPr>
          <a:xfrm>
            <a:off x="5559552" y="1234440"/>
            <a:ext cx="2194560" cy="228600"/>
          </a:xfrm>
          <a:prstGeom prst="rect">
            <a:avLst/>
          </a:prstGeom>
          <a:noFill/>
          <a:ln/>
        </p:spPr>
        <p:txBody>
          <a:bodyPr wrap="square" lIns="0" tIns="0" rIns="0" bIns="0" rtlCol="0" anchor="ctr"/>
          <a:lstStyle/>
          <a:p>
            <a:pPr indent="0" marL="0">
              <a:buNone/>
            </a:pPr>
            <a:r>
              <a:rPr lang="en-US" sz="1100" b="1" dirty="0">
                <a:solidFill>
                  <a:srgbClr val="1A2744"/>
                </a:solidFill>
              </a:rPr>
              <a:t>Scope</a:t>
            </a:r>
            <a:endParaRPr lang="en-US" sz="1100" dirty="0"/>
          </a:p>
        </p:txBody>
      </p:sp>
      <p:sp>
        <p:nvSpPr>
          <p:cNvPr id="27" name="Text 25"/>
          <p:cNvSpPr txBox="1"/>
          <p:nvPr/>
        </p:nvSpPr>
        <p:spPr>
          <a:xfrm>
            <a:off x="5559552" y="1463040"/>
            <a:ext cx="3200400" cy="182880"/>
          </a:xfrm>
          <a:prstGeom prst="rect">
            <a:avLst/>
          </a:prstGeom>
          <a:noFill/>
          <a:ln/>
        </p:spPr>
        <p:txBody>
          <a:bodyPr wrap="square" lIns="0" tIns="0" rIns="0" bIns="0" rtlCol="0" anchor="ctr"/>
          <a:lstStyle/>
          <a:p>
            <a:pPr indent="0" marL="0">
              <a:buNone/>
            </a:pPr>
            <a:r>
              <a:rPr lang="en-US" sz="900" dirty="0">
                <a:solidFill>
                  <a:srgbClr val="7F8C8D"/>
                </a:solidFill>
                <a:latin typeface="Courier New" pitchFamily="34" charset="0"/>
                <a:ea typeface="Courier New" pitchFamily="34" charset="-122"/>
                <a:cs typeface="Courier New" pitchFamily="34" charset="-120"/>
              </a:rPr>
              <a:t>U=Unchanged | C=Changed</a:t>
            </a:r>
            <a:endParaRPr lang="en-US" sz="900" dirty="0"/>
          </a:p>
        </p:txBody>
      </p:sp>
      <p:sp>
        <p:nvSpPr>
          <p:cNvPr id="28" name="Shape 26"/>
          <p:cNvSpPr/>
          <p:nvPr/>
        </p:nvSpPr>
        <p:spPr>
          <a:xfrm>
            <a:off x="5029200" y="1801368"/>
            <a:ext cx="438912" cy="438912"/>
          </a:xfrm>
          <a:prstGeom prst="rect">
            <a:avLst/>
          </a:prstGeom>
          <a:solidFill>
            <a:srgbClr val="C0392B"/>
          </a:solidFill>
          <a:ln w="12700">
            <a:solidFill>
              <a:srgbClr val="C0392B"/>
            </a:solidFill>
            <a:prstDash val="solid"/>
          </a:ln>
        </p:spPr>
      </p:sp>
      <p:sp>
        <p:nvSpPr>
          <p:cNvPr id="29" name="Text 27"/>
          <p:cNvSpPr txBox="1"/>
          <p:nvPr/>
        </p:nvSpPr>
        <p:spPr>
          <a:xfrm>
            <a:off x="5029200" y="1801368"/>
            <a:ext cx="438912" cy="438912"/>
          </a:xfrm>
          <a:prstGeom prst="rect">
            <a:avLst/>
          </a:prstGeom>
          <a:noFill/>
          <a:ln/>
        </p:spPr>
        <p:txBody>
          <a:bodyPr wrap="square" lIns="0" tIns="0" rIns="0" bIns="0" rtlCol="0" anchor="ctr"/>
          <a:lstStyle/>
          <a:p>
            <a:pPr algn="ctr" indent="0" marL="0">
              <a:buNone/>
            </a:pPr>
            <a:r>
              <a:rPr lang="en-US" sz="1200" b="1" dirty="0">
                <a:solidFill>
                  <a:srgbClr val="FFFFFF"/>
                </a:solidFill>
              </a:rPr>
              <a:t>C</a:t>
            </a:r>
            <a:endParaRPr lang="en-US" sz="1200" dirty="0"/>
          </a:p>
        </p:txBody>
      </p:sp>
      <p:sp>
        <p:nvSpPr>
          <p:cNvPr id="30" name="Text 28"/>
          <p:cNvSpPr txBox="1"/>
          <p:nvPr/>
        </p:nvSpPr>
        <p:spPr>
          <a:xfrm>
            <a:off x="5559552" y="1801368"/>
            <a:ext cx="2194560" cy="228600"/>
          </a:xfrm>
          <a:prstGeom prst="rect">
            <a:avLst/>
          </a:prstGeom>
          <a:noFill/>
          <a:ln/>
        </p:spPr>
        <p:txBody>
          <a:bodyPr wrap="square" lIns="0" tIns="0" rIns="0" bIns="0" rtlCol="0" anchor="ctr"/>
          <a:lstStyle/>
          <a:p>
            <a:pPr indent="0" marL="0">
              <a:buNone/>
            </a:pPr>
            <a:r>
              <a:rPr lang="en-US" sz="1100" b="1" dirty="0">
                <a:solidFill>
                  <a:srgbClr val="1A2744"/>
                </a:solidFill>
              </a:rPr>
              <a:t>Confidentiality</a:t>
            </a:r>
            <a:endParaRPr lang="en-US" sz="1100" dirty="0"/>
          </a:p>
        </p:txBody>
      </p:sp>
      <p:sp>
        <p:nvSpPr>
          <p:cNvPr id="31" name="Text 29"/>
          <p:cNvSpPr txBox="1"/>
          <p:nvPr/>
        </p:nvSpPr>
        <p:spPr>
          <a:xfrm>
            <a:off x="5559552" y="2029968"/>
            <a:ext cx="3200400" cy="182880"/>
          </a:xfrm>
          <a:prstGeom prst="rect">
            <a:avLst/>
          </a:prstGeom>
          <a:noFill/>
          <a:ln/>
        </p:spPr>
        <p:txBody>
          <a:bodyPr wrap="square" lIns="0" tIns="0" rIns="0" bIns="0" rtlCol="0" anchor="ctr"/>
          <a:lstStyle/>
          <a:p>
            <a:pPr indent="0" marL="0">
              <a:buNone/>
            </a:pPr>
            <a:r>
              <a:rPr lang="en-US" sz="900" dirty="0">
                <a:solidFill>
                  <a:srgbClr val="7F8C8D"/>
                </a:solidFill>
                <a:latin typeface="Courier New" pitchFamily="34" charset="0"/>
                <a:ea typeface="Courier New" pitchFamily="34" charset="-122"/>
                <a:cs typeface="Courier New" pitchFamily="34" charset="-120"/>
              </a:rPr>
              <a:t>N=None | L=Low | H=High</a:t>
            </a:r>
            <a:endParaRPr lang="en-US" sz="900" dirty="0"/>
          </a:p>
        </p:txBody>
      </p:sp>
      <p:sp>
        <p:nvSpPr>
          <p:cNvPr id="32" name="Shape 30"/>
          <p:cNvSpPr/>
          <p:nvPr/>
        </p:nvSpPr>
        <p:spPr>
          <a:xfrm>
            <a:off x="5029200" y="2368296"/>
            <a:ext cx="438912" cy="438912"/>
          </a:xfrm>
          <a:prstGeom prst="rect">
            <a:avLst/>
          </a:prstGeom>
          <a:solidFill>
            <a:srgbClr val="C0392B"/>
          </a:solidFill>
          <a:ln w="12700">
            <a:solidFill>
              <a:srgbClr val="C0392B"/>
            </a:solidFill>
            <a:prstDash val="solid"/>
          </a:ln>
        </p:spPr>
      </p:sp>
      <p:sp>
        <p:nvSpPr>
          <p:cNvPr id="33" name="Text 31"/>
          <p:cNvSpPr txBox="1"/>
          <p:nvPr/>
        </p:nvSpPr>
        <p:spPr>
          <a:xfrm>
            <a:off x="5029200" y="2368296"/>
            <a:ext cx="438912" cy="438912"/>
          </a:xfrm>
          <a:prstGeom prst="rect">
            <a:avLst/>
          </a:prstGeom>
          <a:noFill/>
          <a:ln/>
        </p:spPr>
        <p:txBody>
          <a:bodyPr wrap="square" lIns="0" tIns="0" rIns="0" bIns="0" rtlCol="0" anchor="ctr"/>
          <a:lstStyle/>
          <a:p>
            <a:pPr algn="ctr" indent="0" marL="0">
              <a:buNone/>
            </a:pPr>
            <a:r>
              <a:rPr lang="en-US" sz="1200" b="1" dirty="0">
                <a:solidFill>
                  <a:srgbClr val="FFFFFF"/>
                </a:solidFill>
              </a:rPr>
              <a:t>I</a:t>
            </a:r>
            <a:endParaRPr lang="en-US" sz="1200" dirty="0"/>
          </a:p>
        </p:txBody>
      </p:sp>
      <p:sp>
        <p:nvSpPr>
          <p:cNvPr id="34" name="Text 32"/>
          <p:cNvSpPr txBox="1"/>
          <p:nvPr/>
        </p:nvSpPr>
        <p:spPr>
          <a:xfrm>
            <a:off x="5559552" y="2368296"/>
            <a:ext cx="2194560" cy="228600"/>
          </a:xfrm>
          <a:prstGeom prst="rect">
            <a:avLst/>
          </a:prstGeom>
          <a:noFill/>
          <a:ln/>
        </p:spPr>
        <p:txBody>
          <a:bodyPr wrap="square" lIns="0" tIns="0" rIns="0" bIns="0" rtlCol="0" anchor="ctr"/>
          <a:lstStyle/>
          <a:p>
            <a:pPr indent="0" marL="0">
              <a:buNone/>
            </a:pPr>
            <a:r>
              <a:rPr lang="en-US" sz="1100" b="1" dirty="0">
                <a:solidFill>
                  <a:srgbClr val="1A2744"/>
                </a:solidFill>
              </a:rPr>
              <a:t>Integrity</a:t>
            </a:r>
            <a:endParaRPr lang="en-US" sz="1100" dirty="0"/>
          </a:p>
        </p:txBody>
      </p:sp>
      <p:sp>
        <p:nvSpPr>
          <p:cNvPr id="35" name="Text 33"/>
          <p:cNvSpPr txBox="1"/>
          <p:nvPr/>
        </p:nvSpPr>
        <p:spPr>
          <a:xfrm>
            <a:off x="5559552" y="2596896"/>
            <a:ext cx="3200400" cy="182880"/>
          </a:xfrm>
          <a:prstGeom prst="rect">
            <a:avLst/>
          </a:prstGeom>
          <a:noFill/>
          <a:ln/>
        </p:spPr>
        <p:txBody>
          <a:bodyPr wrap="square" lIns="0" tIns="0" rIns="0" bIns="0" rtlCol="0" anchor="ctr"/>
          <a:lstStyle/>
          <a:p>
            <a:pPr indent="0" marL="0">
              <a:buNone/>
            </a:pPr>
            <a:r>
              <a:rPr lang="en-US" sz="900" dirty="0">
                <a:solidFill>
                  <a:srgbClr val="7F8C8D"/>
                </a:solidFill>
                <a:latin typeface="Courier New" pitchFamily="34" charset="0"/>
                <a:ea typeface="Courier New" pitchFamily="34" charset="-122"/>
                <a:cs typeface="Courier New" pitchFamily="34" charset="-120"/>
              </a:rPr>
              <a:t>N=None | L=Low | H=High</a:t>
            </a:r>
            <a:endParaRPr lang="en-US" sz="900" dirty="0"/>
          </a:p>
        </p:txBody>
      </p:sp>
      <p:sp>
        <p:nvSpPr>
          <p:cNvPr id="36" name="Shape 34"/>
          <p:cNvSpPr/>
          <p:nvPr/>
        </p:nvSpPr>
        <p:spPr>
          <a:xfrm>
            <a:off x="5029200" y="2935224"/>
            <a:ext cx="438912" cy="438912"/>
          </a:xfrm>
          <a:prstGeom prst="rect">
            <a:avLst/>
          </a:prstGeom>
          <a:solidFill>
            <a:srgbClr val="C0392B"/>
          </a:solidFill>
          <a:ln w="12700">
            <a:solidFill>
              <a:srgbClr val="C0392B"/>
            </a:solidFill>
            <a:prstDash val="solid"/>
          </a:ln>
        </p:spPr>
      </p:sp>
      <p:sp>
        <p:nvSpPr>
          <p:cNvPr id="37" name="Text 35"/>
          <p:cNvSpPr txBox="1"/>
          <p:nvPr/>
        </p:nvSpPr>
        <p:spPr>
          <a:xfrm>
            <a:off x="5029200" y="2935224"/>
            <a:ext cx="438912" cy="438912"/>
          </a:xfrm>
          <a:prstGeom prst="rect">
            <a:avLst/>
          </a:prstGeom>
          <a:noFill/>
          <a:ln/>
        </p:spPr>
        <p:txBody>
          <a:bodyPr wrap="square" lIns="0" tIns="0" rIns="0" bIns="0" rtlCol="0" anchor="ctr"/>
          <a:lstStyle/>
          <a:p>
            <a:pPr algn="ctr" indent="0" marL="0">
              <a:buNone/>
            </a:pPr>
            <a:r>
              <a:rPr lang="en-US" sz="1200" b="1" dirty="0">
                <a:solidFill>
                  <a:srgbClr val="FFFFFF"/>
                </a:solidFill>
              </a:rPr>
              <a:t>A</a:t>
            </a:r>
            <a:endParaRPr lang="en-US" sz="1200" dirty="0"/>
          </a:p>
        </p:txBody>
      </p:sp>
      <p:sp>
        <p:nvSpPr>
          <p:cNvPr id="38" name="Text 36"/>
          <p:cNvSpPr txBox="1"/>
          <p:nvPr/>
        </p:nvSpPr>
        <p:spPr>
          <a:xfrm>
            <a:off x="5559552" y="2935224"/>
            <a:ext cx="2194560" cy="228600"/>
          </a:xfrm>
          <a:prstGeom prst="rect">
            <a:avLst/>
          </a:prstGeom>
          <a:noFill/>
          <a:ln/>
        </p:spPr>
        <p:txBody>
          <a:bodyPr wrap="square" lIns="0" tIns="0" rIns="0" bIns="0" rtlCol="0" anchor="ctr"/>
          <a:lstStyle/>
          <a:p>
            <a:pPr indent="0" marL="0">
              <a:buNone/>
            </a:pPr>
            <a:r>
              <a:rPr lang="en-US" sz="1100" b="1" dirty="0">
                <a:solidFill>
                  <a:srgbClr val="1A2744"/>
                </a:solidFill>
              </a:rPr>
              <a:t>Availability</a:t>
            </a:r>
            <a:endParaRPr lang="en-US" sz="1100" dirty="0"/>
          </a:p>
        </p:txBody>
      </p:sp>
      <p:sp>
        <p:nvSpPr>
          <p:cNvPr id="39" name="Text 37"/>
          <p:cNvSpPr txBox="1"/>
          <p:nvPr/>
        </p:nvSpPr>
        <p:spPr>
          <a:xfrm>
            <a:off x="5559552" y="3163824"/>
            <a:ext cx="3200400" cy="182880"/>
          </a:xfrm>
          <a:prstGeom prst="rect">
            <a:avLst/>
          </a:prstGeom>
          <a:noFill/>
          <a:ln/>
        </p:spPr>
        <p:txBody>
          <a:bodyPr wrap="square" lIns="0" tIns="0" rIns="0" bIns="0" rtlCol="0" anchor="ctr"/>
          <a:lstStyle/>
          <a:p>
            <a:pPr indent="0" marL="0">
              <a:buNone/>
            </a:pPr>
            <a:r>
              <a:rPr lang="en-US" sz="900" dirty="0">
                <a:solidFill>
                  <a:srgbClr val="7F8C8D"/>
                </a:solidFill>
                <a:latin typeface="Courier New" pitchFamily="34" charset="0"/>
                <a:ea typeface="Courier New" pitchFamily="34" charset="-122"/>
                <a:cs typeface="Courier New" pitchFamily="34" charset="-120"/>
              </a:rPr>
              <a:t>N=None | L=Low | H=High</a:t>
            </a:r>
            <a:endParaRPr lang="en-US" sz="900" dirty="0"/>
          </a:p>
        </p:txBody>
      </p:sp>
      <p:sp>
        <p:nvSpPr>
          <p:cNvPr id="40" name="Shape 38"/>
          <p:cNvSpPr/>
          <p:nvPr/>
        </p:nvSpPr>
        <p:spPr>
          <a:xfrm>
            <a:off x="274320" y="3657600"/>
            <a:ext cx="8503920" cy="777240"/>
          </a:xfrm>
          <a:prstGeom prst="rect">
            <a:avLst/>
          </a:prstGeom>
          <a:solidFill>
            <a:srgbClr val="EEF4FB"/>
          </a:solidFill>
          <a:ln w="12700">
            <a:solidFill>
              <a:srgbClr val="00B4C8"/>
            </a:solidFill>
            <a:prstDash val="solid"/>
          </a:ln>
        </p:spPr>
      </p:sp>
      <p:sp>
        <p:nvSpPr>
          <p:cNvPr id="41" name="Text 39"/>
          <p:cNvSpPr txBox="1"/>
          <p:nvPr/>
        </p:nvSpPr>
        <p:spPr>
          <a:xfrm>
            <a:off x="411480" y="3730752"/>
            <a:ext cx="1097280" cy="274320"/>
          </a:xfrm>
          <a:prstGeom prst="rect">
            <a:avLst/>
          </a:prstGeom>
          <a:noFill/>
          <a:ln/>
        </p:spPr>
        <p:txBody>
          <a:bodyPr wrap="square" lIns="0" tIns="0" rIns="0" bIns="0" rtlCol="0" anchor="ctr"/>
          <a:lstStyle/>
          <a:p>
            <a:pPr indent="0" marL="0">
              <a:buNone/>
            </a:pPr>
            <a:r>
              <a:rPr lang="en-US" sz="1100" b="1" dirty="0">
                <a:solidFill>
                  <a:srgbClr val="1A2744"/>
                </a:solidFill>
              </a:rPr>
              <a:t>Score Ranges:</a:t>
            </a:r>
            <a:endParaRPr lang="en-US" sz="1100" dirty="0"/>
          </a:p>
        </p:txBody>
      </p:sp>
      <p:sp>
        <p:nvSpPr>
          <p:cNvPr id="42" name="Shape 40"/>
          <p:cNvSpPr/>
          <p:nvPr/>
        </p:nvSpPr>
        <p:spPr>
          <a:xfrm>
            <a:off x="1600200" y="3749040"/>
            <a:ext cx="1325880" cy="548640"/>
          </a:xfrm>
          <a:prstGeom prst="rect">
            <a:avLst/>
          </a:prstGeom>
          <a:solidFill>
            <a:srgbClr val="7F8C8D"/>
          </a:solidFill>
          <a:ln w="12700">
            <a:solidFill>
              <a:srgbClr val="7F8C8D"/>
            </a:solidFill>
            <a:prstDash val="solid"/>
          </a:ln>
        </p:spPr>
      </p:sp>
      <p:sp>
        <p:nvSpPr>
          <p:cNvPr id="43" name="Text 41"/>
          <p:cNvSpPr txBox="1"/>
          <p:nvPr/>
        </p:nvSpPr>
        <p:spPr>
          <a:xfrm>
            <a:off x="1600200" y="3749040"/>
            <a:ext cx="1325880" cy="548640"/>
          </a:xfrm>
          <a:prstGeom prst="rect">
            <a:avLst/>
          </a:prstGeom>
          <a:noFill/>
          <a:ln/>
        </p:spPr>
        <p:txBody>
          <a:bodyPr wrap="square" lIns="0" tIns="0" rIns="0" bIns="0" rtlCol="0" anchor="ctr"/>
          <a:lstStyle/>
          <a:p>
            <a:pPr algn="ctr" indent="0" marL="0">
              <a:buNone/>
            </a:pPr>
            <a:r>
              <a:rPr lang="en-US" sz="1000" b="1" dirty="0">
                <a:solidFill>
                  <a:srgbClr val="FFFFFF"/>
                </a:solidFill>
              </a:rPr>
              <a:t>0.0</a:t>
            </a:r>
            <a:endParaRPr lang="en-US" sz="1000" dirty="0"/>
          </a:p>
          <a:p>
            <a:pPr algn="ctr" indent="0" marL="0">
              <a:buNone/>
            </a:pPr>
            <a:r>
              <a:rPr lang="en-US" sz="1000" b="1" dirty="0">
                <a:solidFill>
                  <a:srgbClr val="FFFFFF"/>
                </a:solidFill>
              </a:rPr>
              <a:t>None</a:t>
            </a:r>
            <a:endParaRPr lang="en-US" sz="1000" dirty="0"/>
          </a:p>
        </p:txBody>
      </p:sp>
      <p:sp>
        <p:nvSpPr>
          <p:cNvPr id="44" name="Shape 42"/>
          <p:cNvSpPr/>
          <p:nvPr/>
        </p:nvSpPr>
        <p:spPr>
          <a:xfrm>
            <a:off x="3063240" y="3749040"/>
            <a:ext cx="1325880" cy="548640"/>
          </a:xfrm>
          <a:prstGeom prst="rect">
            <a:avLst/>
          </a:prstGeom>
          <a:solidFill>
            <a:srgbClr val="27AE60"/>
          </a:solidFill>
          <a:ln w="12700">
            <a:solidFill>
              <a:srgbClr val="27AE60"/>
            </a:solidFill>
            <a:prstDash val="solid"/>
          </a:ln>
        </p:spPr>
      </p:sp>
      <p:sp>
        <p:nvSpPr>
          <p:cNvPr id="45" name="Text 43"/>
          <p:cNvSpPr txBox="1"/>
          <p:nvPr/>
        </p:nvSpPr>
        <p:spPr>
          <a:xfrm>
            <a:off x="3063240" y="3749040"/>
            <a:ext cx="1325880" cy="548640"/>
          </a:xfrm>
          <a:prstGeom prst="rect">
            <a:avLst/>
          </a:prstGeom>
          <a:noFill/>
          <a:ln/>
        </p:spPr>
        <p:txBody>
          <a:bodyPr wrap="square" lIns="0" tIns="0" rIns="0" bIns="0" rtlCol="0" anchor="ctr"/>
          <a:lstStyle/>
          <a:p>
            <a:pPr algn="ctr" indent="0" marL="0">
              <a:buNone/>
            </a:pPr>
            <a:r>
              <a:rPr lang="en-US" sz="1000" b="1" dirty="0">
                <a:solidFill>
                  <a:srgbClr val="FFFFFF"/>
                </a:solidFill>
              </a:rPr>
              <a:t>0.1-3.9</a:t>
            </a:r>
            <a:endParaRPr lang="en-US" sz="1000" dirty="0"/>
          </a:p>
          <a:p>
            <a:pPr algn="ctr" indent="0" marL="0">
              <a:buNone/>
            </a:pPr>
            <a:r>
              <a:rPr lang="en-US" sz="1000" b="1" dirty="0">
                <a:solidFill>
                  <a:srgbClr val="FFFFFF"/>
                </a:solidFill>
              </a:rPr>
              <a:t>Low</a:t>
            </a:r>
            <a:endParaRPr lang="en-US" sz="1000" dirty="0"/>
          </a:p>
        </p:txBody>
      </p:sp>
      <p:sp>
        <p:nvSpPr>
          <p:cNvPr id="46" name="Shape 44"/>
          <p:cNvSpPr/>
          <p:nvPr/>
        </p:nvSpPr>
        <p:spPr>
          <a:xfrm>
            <a:off x="4526280" y="3749040"/>
            <a:ext cx="1325880" cy="548640"/>
          </a:xfrm>
          <a:prstGeom prst="rect">
            <a:avLst/>
          </a:prstGeom>
          <a:solidFill>
            <a:srgbClr val="E8A020"/>
          </a:solidFill>
          <a:ln w="12700">
            <a:solidFill>
              <a:srgbClr val="E8A020"/>
            </a:solidFill>
            <a:prstDash val="solid"/>
          </a:ln>
        </p:spPr>
      </p:sp>
      <p:sp>
        <p:nvSpPr>
          <p:cNvPr id="47" name="Text 45"/>
          <p:cNvSpPr txBox="1"/>
          <p:nvPr/>
        </p:nvSpPr>
        <p:spPr>
          <a:xfrm>
            <a:off x="4526280" y="3749040"/>
            <a:ext cx="1325880" cy="548640"/>
          </a:xfrm>
          <a:prstGeom prst="rect">
            <a:avLst/>
          </a:prstGeom>
          <a:noFill/>
          <a:ln/>
        </p:spPr>
        <p:txBody>
          <a:bodyPr wrap="square" lIns="0" tIns="0" rIns="0" bIns="0" rtlCol="0" anchor="ctr"/>
          <a:lstStyle/>
          <a:p>
            <a:pPr algn="ctr" indent="0" marL="0">
              <a:buNone/>
            </a:pPr>
            <a:r>
              <a:rPr lang="en-US" sz="1000" b="1" dirty="0">
                <a:solidFill>
                  <a:srgbClr val="FFFFFF"/>
                </a:solidFill>
              </a:rPr>
              <a:t>4.0-6.9</a:t>
            </a:r>
            <a:endParaRPr lang="en-US" sz="1000" dirty="0"/>
          </a:p>
          <a:p>
            <a:pPr algn="ctr" indent="0" marL="0">
              <a:buNone/>
            </a:pPr>
            <a:r>
              <a:rPr lang="en-US" sz="1000" b="1" dirty="0">
                <a:solidFill>
                  <a:srgbClr val="FFFFFF"/>
                </a:solidFill>
              </a:rPr>
              <a:t>Medium</a:t>
            </a:r>
            <a:endParaRPr lang="en-US" sz="1000" dirty="0"/>
          </a:p>
        </p:txBody>
      </p:sp>
      <p:sp>
        <p:nvSpPr>
          <p:cNvPr id="48" name="Shape 46"/>
          <p:cNvSpPr/>
          <p:nvPr/>
        </p:nvSpPr>
        <p:spPr>
          <a:xfrm>
            <a:off x="5989320" y="3749040"/>
            <a:ext cx="1325880" cy="548640"/>
          </a:xfrm>
          <a:prstGeom prst="rect">
            <a:avLst/>
          </a:prstGeom>
          <a:solidFill>
            <a:srgbClr val="D35400"/>
          </a:solidFill>
          <a:ln w="12700">
            <a:solidFill>
              <a:srgbClr val="D35400"/>
            </a:solidFill>
            <a:prstDash val="solid"/>
          </a:ln>
        </p:spPr>
      </p:sp>
      <p:sp>
        <p:nvSpPr>
          <p:cNvPr id="49" name="Text 47"/>
          <p:cNvSpPr txBox="1"/>
          <p:nvPr/>
        </p:nvSpPr>
        <p:spPr>
          <a:xfrm>
            <a:off x="5989320" y="3749040"/>
            <a:ext cx="1325880" cy="548640"/>
          </a:xfrm>
          <a:prstGeom prst="rect">
            <a:avLst/>
          </a:prstGeom>
          <a:noFill/>
          <a:ln/>
        </p:spPr>
        <p:txBody>
          <a:bodyPr wrap="square" lIns="0" tIns="0" rIns="0" bIns="0" rtlCol="0" anchor="ctr"/>
          <a:lstStyle/>
          <a:p>
            <a:pPr algn="ctr" indent="0" marL="0">
              <a:buNone/>
            </a:pPr>
            <a:r>
              <a:rPr lang="en-US" sz="1000" b="1" dirty="0">
                <a:solidFill>
                  <a:srgbClr val="FFFFFF"/>
                </a:solidFill>
              </a:rPr>
              <a:t>7.0-8.9</a:t>
            </a:r>
            <a:endParaRPr lang="en-US" sz="1000" dirty="0"/>
          </a:p>
          <a:p>
            <a:pPr algn="ctr" indent="0" marL="0">
              <a:buNone/>
            </a:pPr>
            <a:r>
              <a:rPr lang="en-US" sz="1000" b="1" dirty="0">
                <a:solidFill>
                  <a:srgbClr val="FFFFFF"/>
                </a:solidFill>
              </a:rPr>
              <a:t>High</a:t>
            </a:r>
            <a:endParaRPr lang="en-US" sz="1000" dirty="0"/>
          </a:p>
        </p:txBody>
      </p:sp>
      <p:sp>
        <p:nvSpPr>
          <p:cNvPr id="50" name="Shape 48"/>
          <p:cNvSpPr/>
          <p:nvPr/>
        </p:nvSpPr>
        <p:spPr>
          <a:xfrm>
            <a:off x="7452360" y="3749040"/>
            <a:ext cx="1325880" cy="548640"/>
          </a:xfrm>
          <a:prstGeom prst="rect">
            <a:avLst/>
          </a:prstGeom>
          <a:solidFill>
            <a:srgbClr val="C0392B"/>
          </a:solidFill>
          <a:ln w="12700">
            <a:solidFill>
              <a:srgbClr val="C0392B"/>
            </a:solidFill>
            <a:prstDash val="solid"/>
          </a:ln>
        </p:spPr>
      </p:sp>
      <p:sp>
        <p:nvSpPr>
          <p:cNvPr id="51" name="Text 49"/>
          <p:cNvSpPr txBox="1"/>
          <p:nvPr/>
        </p:nvSpPr>
        <p:spPr>
          <a:xfrm>
            <a:off x="7452360" y="3749040"/>
            <a:ext cx="1325880" cy="548640"/>
          </a:xfrm>
          <a:prstGeom prst="rect">
            <a:avLst/>
          </a:prstGeom>
          <a:noFill/>
          <a:ln/>
        </p:spPr>
        <p:txBody>
          <a:bodyPr wrap="square" lIns="0" tIns="0" rIns="0" bIns="0" rtlCol="0" anchor="ctr"/>
          <a:lstStyle/>
          <a:p>
            <a:pPr algn="ctr" indent="0" marL="0">
              <a:buNone/>
            </a:pPr>
            <a:r>
              <a:rPr lang="en-US" sz="1000" b="1" dirty="0">
                <a:solidFill>
                  <a:srgbClr val="FFFFFF"/>
                </a:solidFill>
              </a:rPr>
              <a:t>9.0-10.0</a:t>
            </a:r>
            <a:endParaRPr lang="en-US" sz="1000" dirty="0"/>
          </a:p>
          <a:p>
            <a:pPr algn="ctr" indent="0" marL="0">
              <a:buNone/>
            </a:pPr>
            <a:r>
              <a:rPr lang="en-US" sz="1000" b="1" dirty="0">
                <a:solidFill>
                  <a:srgbClr val="FFFFFF"/>
                </a:solidFill>
              </a:rPr>
              <a:t>Critical</a:t>
            </a:r>
            <a:endParaRPr lang="en-US" sz="1000" dirty="0"/>
          </a:p>
        </p:txBody>
      </p:sp>
      <p:sp>
        <p:nvSpPr>
          <p:cNvPr id="52" name="Text 50"/>
          <p:cNvSpPr txBox="1"/>
          <p:nvPr/>
        </p:nvSpPr>
        <p:spPr>
          <a:xfrm>
            <a:off x="0" y="4892040"/>
            <a:ext cx="9144000" cy="256032"/>
          </a:xfrm>
          <a:prstGeom prst="rect">
            <a:avLst/>
          </a:prstGeom>
          <a:noFill/>
          <a:ln/>
        </p:spPr>
        <p:txBody>
          <a:bodyPr wrap="square" lIns="0" tIns="0" rIns="0" bIns="0" rtlCol="0" anchor="ctr"/>
          <a:lstStyle/>
          <a:p>
            <a:pPr algn="ctr" indent="0" marL="0">
              <a:buNone/>
            </a:pPr>
            <a:r>
              <a:rPr lang="en-US" sz="900" dirty="0">
                <a:solidFill>
                  <a:srgbClr val="7F8C8D"/>
                </a:solidFill>
              </a:rPr>
              <a:t>My Cyber Academy | MCA CREST CPSA - Module A: Soft Skills</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w="12700">
            <a:solidFill>
              <a:srgbClr val="FFFFFF"/>
            </a:solidFill>
            <a:prstDash val="solid"/>
          </a:ln>
        </p:spPr>
      </p:sp>
      <p:sp>
        <p:nvSpPr>
          <p:cNvPr id="3" name="Shape 1"/>
          <p:cNvSpPr/>
          <p:nvPr/>
        </p:nvSpPr>
        <p:spPr>
          <a:xfrm>
            <a:off x="0" y="0"/>
            <a:ext cx="9144000" cy="73152"/>
          </a:xfrm>
          <a:prstGeom prst="rect">
            <a:avLst/>
          </a:prstGeom>
          <a:solidFill>
            <a:srgbClr val="00B4C8"/>
          </a:solidFill>
          <a:ln w="12700">
            <a:solidFill>
              <a:srgbClr val="00B4C8"/>
            </a:solidFill>
            <a:prstDash val="solid"/>
          </a:ln>
        </p:spPr>
      </p:sp>
      <p:sp>
        <p:nvSpPr>
          <p:cNvPr id="4" name="Text 2"/>
          <p:cNvSpPr txBox="1"/>
          <p:nvPr/>
        </p:nvSpPr>
        <p:spPr>
          <a:xfrm>
            <a:off x="365760" y="137160"/>
            <a:ext cx="8412480" cy="548640"/>
          </a:xfrm>
          <a:prstGeom prst="rect">
            <a:avLst/>
          </a:prstGeom>
          <a:noFill/>
          <a:ln/>
        </p:spPr>
        <p:txBody>
          <a:bodyPr wrap="square" lIns="0" tIns="0" rIns="0" bIns="0" rtlCol="0" anchor="ctr"/>
          <a:lstStyle/>
          <a:p>
            <a:pPr algn="l" indent="0" marL="0">
              <a:buNone/>
            </a:pPr>
            <a:r>
              <a:rPr lang="en-US" sz="2800" b="1" dirty="0">
                <a:solidFill>
                  <a:srgbClr val="1A2744"/>
                </a:solidFill>
              </a:rPr>
              <a:t>The Scope Metric - A Critical Distinction</a:t>
            </a:r>
            <a:endParaRPr lang="en-US" sz="2800" dirty="0"/>
          </a:p>
        </p:txBody>
      </p:sp>
      <p:sp>
        <p:nvSpPr>
          <p:cNvPr id="5" name="Shape 3"/>
          <p:cNvSpPr/>
          <p:nvPr/>
        </p:nvSpPr>
        <p:spPr>
          <a:xfrm>
            <a:off x="365760" y="713232"/>
            <a:ext cx="8412480" cy="0"/>
          </a:xfrm>
          <a:prstGeom prst="line">
            <a:avLst/>
          </a:prstGeom>
          <a:noFill/>
          <a:ln w="19050">
            <a:solidFill>
              <a:srgbClr val="00B4C8"/>
            </a:solidFill>
            <a:prstDash val="solid"/>
          </a:ln>
        </p:spPr>
      </p:sp>
      <p:sp>
        <p:nvSpPr>
          <p:cNvPr id="6" name="Shape 4"/>
          <p:cNvSpPr/>
          <p:nvPr/>
        </p:nvSpPr>
        <p:spPr>
          <a:xfrm>
            <a:off x="274320" y="868680"/>
            <a:ext cx="4023360" cy="3840480"/>
          </a:xfrm>
          <a:prstGeom prst="rect">
            <a:avLst/>
          </a:prstGeom>
          <a:solidFill>
            <a:srgbClr val="EEF4FB"/>
          </a:solidFill>
          <a:ln w="19050">
            <a:solidFill>
              <a:srgbClr val="27AE60"/>
            </a:solidFill>
            <a:prstDash val="solid"/>
          </a:ln>
        </p:spPr>
      </p:sp>
      <p:sp>
        <p:nvSpPr>
          <p:cNvPr id="7" name="Shape 5"/>
          <p:cNvSpPr/>
          <p:nvPr/>
        </p:nvSpPr>
        <p:spPr>
          <a:xfrm>
            <a:off x="274320" y="868680"/>
            <a:ext cx="4023360" cy="502920"/>
          </a:xfrm>
          <a:prstGeom prst="rect">
            <a:avLst/>
          </a:prstGeom>
          <a:solidFill>
            <a:srgbClr val="27AE60"/>
          </a:solidFill>
          <a:ln w="12700">
            <a:solidFill>
              <a:srgbClr val="27AE60"/>
            </a:solidFill>
            <a:prstDash val="solid"/>
          </a:ln>
        </p:spPr>
      </p:sp>
      <p:sp>
        <p:nvSpPr>
          <p:cNvPr id="8" name="Text 6"/>
          <p:cNvSpPr txBox="1"/>
          <p:nvPr/>
        </p:nvSpPr>
        <p:spPr>
          <a:xfrm>
            <a:off x="320040" y="868680"/>
            <a:ext cx="3931920" cy="502920"/>
          </a:xfrm>
          <a:prstGeom prst="rect">
            <a:avLst/>
          </a:prstGeom>
          <a:noFill/>
          <a:ln/>
        </p:spPr>
        <p:txBody>
          <a:bodyPr wrap="square" lIns="50800" tIns="50800" rIns="50800" bIns="50800" rtlCol="0" anchor="ctr"/>
          <a:lstStyle/>
          <a:p>
            <a:pPr indent="0" marL="0">
              <a:buNone/>
            </a:pPr>
            <a:r>
              <a:rPr lang="en-US" sz="1300" b="1" dirty="0">
                <a:solidFill>
                  <a:srgbClr val="FFFFFF"/>
                </a:solidFill>
              </a:rPr>
              <a:t>Scope Unchanged (S:U)</a:t>
            </a:r>
            <a:endParaRPr lang="en-US" sz="1300" dirty="0"/>
          </a:p>
        </p:txBody>
      </p:sp>
      <p:sp>
        <p:nvSpPr>
          <p:cNvPr id="9" name="Text 7"/>
          <p:cNvSpPr txBox="1"/>
          <p:nvPr/>
        </p:nvSpPr>
        <p:spPr>
          <a:xfrm>
            <a:off x="411480" y="1463040"/>
            <a:ext cx="3794760" cy="2286000"/>
          </a:xfrm>
          <a:prstGeom prst="rect">
            <a:avLst/>
          </a:prstGeom>
          <a:noFill/>
          <a:ln/>
        </p:spPr>
        <p:txBody>
          <a:bodyPr wrap="square" lIns="0" tIns="50800" rIns="0" bIns="0" rtlCol="0" anchor="t"/>
          <a:lstStyle/>
          <a:p>
            <a:pPr algn="l">
              <a:spcAft>
                <a:spcPts val="600"/>
              </a:spcAft>
            </a:pPr>
            <a:r>
              <a:rPr lang="en-US" sz="1200" dirty="0">
                <a:solidFill>
                  <a:srgbClr val="2C3E50"/>
                </a:solidFill>
              </a:rPr>
              <a:t>Exploit stays within the vulnerable component</a:t>
            </a:r>
            <a:endParaRPr lang="en-US" sz="1200" dirty="0"/>
          </a:p>
          <a:p>
            <a:pPr algn="l">
              <a:spcAft>
                <a:spcPts val="600"/>
              </a:spcAft>
            </a:pPr>
            <a:r>
              <a:rPr lang="en-US" sz="1200" dirty="0">
                <a:solidFill>
                  <a:srgbClr val="2C3E50"/>
                </a:solidFill>
              </a:rPr>
              <a:t>A database RCE that only affects the database</a:t>
            </a:r>
            <a:endParaRPr lang="en-US" sz="1200" dirty="0"/>
          </a:p>
          <a:p>
            <a:pPr algn="l">
              <a:spcAft>
                <a:spcPts val="600"/>
              </a:spcAft>
            </a:pPr>
            <a:r>
              <a:rPr lang="en-US" sz="1200" dirty="0">
                <a:solidFill>
                  <a:srgbClr val="2C3E50"/>
                </a:solidFill>
              </a:rPr>
              <a:t>PR weight: None=0.85, Low=0.62, High=0.27</a:t>
            </a:r>
            <a:endParaRPr lang="en-US" sz="1200" dirty="0"/>
          </a:p>
          <a:p>
            <a:pPr algn="l">
              <a:spcAft>
                <a:spcPts val="600"/>
              </a:spcAft>
            </a:pPr>
            <a:r>
              <a:rPr lang="en-US" sz="1200" dirty="0">
                <a:solidFill>
                  <a:srgbClr val="2C3E50"/>
                </a:solidFill>
              </a:rPr>
              <a:t>Example: Apache Struts RCE (S:U) = 9.8 Critical</a:t>
            </a:r>
            <a:endParaRPr lang="en-US" sz="1200" dirty="0"/>
          </a:p>
          <a:p>
            <a:pPr algn="l">
              <a:spcAft>
                <a:spcPts val="600"/>
              </a:spcAft>
            </a:pPr>
            <a:r>
              <a:rPr lang="en-US" sz="1200" dirty="0">
                <a:solidFill>
                  <a:srgbClr val="2C3E50"/>
                </a:solidFill>
              </a:rPr>
              <a:t>Impact only on the exploited system</a:t>
            </a:r>
            <a:endParaRPr lang="en-US" sz="1200" dirty="0"/>
          </a:p>
        </p:txBody>
      </p:sp>
      <p:sp>
        <p:nvSpPr>
          <p:cNvPr id="10" name="Text 8"/>
          <p:cNvSpPr txBox="1"/>
          <p:nvPr/>
        </p:nvSpPr>
        <p:spPr>
          <a:xfrm>
            <a:off x="365760" y="3886200"/>
            <a:ext cx="3886200" cy="365760"/>
          </a:xfrm>
          <a:prstGeom prst="rect">
            <a:avLst/>
          </a:prstGeom>
          <a:noFill/>
          <a:ln/>
        </p:spPr>
        <p:txBody>
          <a:bodyPr wrap="square" lIns="50800" tIns="50800" rIns="50800" bIns="50800" rtlCol="0" anchor="ctr"/>
          <a:lstStyle/>
          <a:p>
            <a:pPr indent="0" marL="0">
              <a:buNone/>
            </a:pPr>
            <a:r>
              <a:rPr lang="en-US" sz="1000" b="1" dirty="0">
                <a:solidFill>
                  <a:srgbClr val="27AE60"/>
                </a:solidFill>
                <a:latin typeface="Courier New" pitchFamily="34" charset="0"/>
                <a:ea typeface="Courier New" pitchFamily="34" charset="-122"/>
                <a:cs typeface="Courier New" pitchFamily="34" charset="-120"/>
              </a:rPr>
              <a:t>AV:N/AC:L/PR:N/UI:N/S:U/C:H/I:H/A:H = 9.8</a:t>
            </a:r>
            <a:endParaRPr lang="en-US" sz="1000" dirty="0"/>
          </a:p>
        </p:txBody>
      </p:sp>
      <p:sp>
        <p:nvSpPr>
          <p:cNvPr id="11" name="Shape 9"/>
          <p:cNvSpPr/>
          <p:nvPr/>
        </p:nvSpPr>
        <p:spPr>
          <a:xfrm>
            <a:off x="4572000" y="868680"/>
            <a:ext cx="4206240" cy="3840480"/>
          </a:xfrm>
          <a:prstGeom prst="rect">
            <a:avLst/>
          </a:prstGeom>
          <a:solidFill>
            <a:srgbClr val="EEF4FB"/>
          </a:solidFill>
          <a:ln w="19050">
            <a:solidFill>
              <a:srgbClr val="C0392B"/>
            </a:solidFill>
            <a:prstDash val="solid"/>
          </a:ln>
        </p:spPr>
      </p:sp>
      <p:sp>
        <p:nvSpPr>
          <p:cNvPr id="12" name="Shape 10"/>
          <p:cNvSpPr/>
          <p:nvPr/>
        </p:nvSpPr>
        <p:spPr>
          <a:xfrm>
            <a:off x="4572000" y="868680"/>
            <a:ext cx="4206240" cy="502920"/>
          </a:xfrm>
          <a:prstGeom prst="rect">
            <a:avLst/>
          </a:prstGeom>
          <a:solidFill>
            <a:srgbClr val="C0392B"/>
          </a:solidFill>
          <a:ln w="12700">
            <a:solidFill>
              <a:srgbClr val="C0392B"/>
            </a:solidFill>
            <a:prstDash val="solid"/>
          </a:ln>
        </p:spPr>
      </p:sp>
      <p:sp>
        <p:nvSpPr>
          <p:cNvPr id="13" name="Text 11"/>
          <p:cNvSpPr txBox="1"/>
          <p:nvPr/>
        </p:nvSpPr>
        <p:spPr>
          <a:xfrm>
            <a:off x="4617720" y="868680"/>
            <a:ext cx="4114800" cy="502920"/>
          </a:xfrm>
          <a:prstGeom prst="rect">
            <a:avLst/>
          </a:prstGeom>
          <a:noFill/>
          <a:ln/>
        </p:spPr>
        <p:txBody>
          <a:bodyPr wrap="square" lIns="50800" tIns="50800" rIns="50800" bIns="50800" rtlCol="0" anchor="ctr"/>
          <a:lstStyle/>
          <a:p>
            <a:pPr indent="0" marL="0">
              <a:buNone/>
            </a:pPr>
            <a:r>
              <a:rPr lang="en-US" sz="1300" b="1" dirty="0">
                <a:solidFill>
                  <a:srgbClr val="FFFFFF"/>
                </a:solidFill>
              </a:rPr>
              <a:t>Scope Changed (S:C)</a:t>
            </a:r>
            <a:endParaRPr lang="en-US" sz="1300" dirty="0"/>
          </a:p>
        </p:txBody>
      </p:sp>
      <p:sp>
        <p:nvSpPr>
          <p:cNvPr id="14" name="Text 12"/>
          <p:cNvSpPr txBox="1"/>
          <p:nvPr/>
        </p:nvSpPr>
        <p:spPr>
          <a:xfrm>
            <a:off x="4709160" y="1463040"/>
            <a:ext cx="3977640" cy="2286000"/>
          </a:xfrm>
          <a:prstGeom prst="rect">
            <a:avLst/>
          </a:prstGeom>
          <a:noFill/>
          <a:ln/>
        </p:spPr>
        <p:txBody>
          <a:bodyPr wrap="square" lIns="0" tIns="50800" rIns="0" bIns="0" rtlCol="0" anchor="t"/>
          <a:lstStyle/>
          <a:p>
            <a:pPr algn="l">
              <a:spcAft>
                <a:spcPts val="600"/>
              </a:spcAft>
            </a:pPr>
            <a:r>
              <a:rPr lang="en-US" sz="1200" dirty="0">
                <a:solidFill>
                  <a:srgbClr val="2C3E50"/>
                </a:solidFill>
              </a:rPr>
              <a:t>Exploit impacts systems BEYOND the vulnerable component</a:t>
            </a:r>
            <a:endParaRPr lang="en-US" sz="1200" dirty="0"/>
          </a:p>
          <a:p>
            <a:pPr algn="l">
              <a:spcAft>
                <a:spcPts val="600"/>
              </a:spcAft>
            </a:pPr>
            <a:r>
              <a:rPr lang="en-US" sz="1200" dirty="0">
                <a:solidFill>
                  <a:srgbClr val="2C3E50"/>
                </a:solidFill>
              </a:rPr>
              <a:t>A hypervisor escape that compromises the host</a:t>
            </a:r>
            <a:endParaRPr lang="en-US" sz="1200" dirty="0"/>
          </a:p>
          <a:p>
            <a:pPr algn="l">
              <a:spcAft>
                <a:spcPts val="600"/>
              </a:spcAft>
            </a:pPr>
            <a:r>
              <a:rPr lang="en-US" sz="1200" dirty="0">
                <a:solidFill>
                  <a:srgbClr val="2C3E50"/>
                </a:solidFill>
              </a:rPr>
              <a:t>PR weight: None=0.85, Low=0.68, High=0.50</a:t>
            </a:r>
            <a:endParaRPr lang="en-US" sz="1200" dirty="0"/>
          </a:p>
          <a:p>
            <a:pPr algn="l">
              <a:spcAft>
                <a:spcPts val="600"/>
              </a:spcAft>
            </a:pPr>
            <a:r>
              <a:rPr lang="en-US" sz="1200" dirty="0">
                <a:solidFill>
                  <a:srgbClr val="2C3E50"/>
                </a:solidFill>
              </a:rPr>
              <a:t>Example: Kerberoasting (S:C) = 9.9 Critical</a:t>
            </a:r>
            <a:endParaRPr lang="en-US" sz="1200" dirty="0"/>
          </a:p>
          <a:p>
            <a:pPr algn="l">
              <a:spcAft>
                <a:spcPts val="600"/>
              </a:spcAft>
            </a:pPr>
            <a:r>
              <a:rPr lang="en-US" sz="1200" dirty="0">
                <a:solidFill>
                  <a:srgbClr val="2C3E50"/>
                </a:solidFill>
              </a:rPr>
              <a:t>Active Directory compromise impacts entire domain</a:t>
            </a:r>
            <a:endParaRPr lang="en-US" sz="1200" dirty="0"/>
          </a:p>
        </p:txBody>
      </p:sp>
      <p:sp>
        <p:nvSpPr>
          <p:cNvPr id="15" name="Text 13"/>
          <p:cNvSpPr txBox="1"/>
          <p:nvPr/>
        </p:nvSpPr>
        <p:spPr>
          <a:xfrm>
            <a:off x="4663440" y="3886200"/>
            <a:ext cx="4023360" cy="365760"/>
          </a:xfrm>
          <a:prstGeom prst="rect">
            <a:avLst/>
          </a:prstGeom>
          <a:noFill/>
          <a:ln/>
        </p:spPr>
        <p:txBody>
          <a:bodyPr wrap="square" lIns="50800" tIns="50800" rIns="50800" bIns="50800" rtlCol="0" anchor="ctr"/>
          <a:lstStyle/>
          <a:p>
            <a:pPr indent="0" marL="0">
              <a:buNone/>
            </a:pPr>
            <a:r>
              <a:rPr lang="en-US" sz="1000" b="1" dirty="0">
                <a:solidFill>
                  <a:srgbClr val="C0392B"/>
                </a:solidFill>
                <a:latin typeface="Courier New" pitchFamily="34" charset="0"/>
                <a:ea typeface="Courier New" pitchFamily="34" charset="-122"/>
                <a:cs typeface="Courier New" pitchFamily="34" charset="-120"/>
              </a:rPr>
              <a:t>AV:N/AC:L/PR:L/UI:N/S:C/C:H/I:H/A:H = 9.9</a:t>
            </a:r>
            <a:endParaRPr lang="en-US" sz="1000" dirty="0"/>
          </a:p>
        </p:txBody>
      </p:sp>
      <p:sp>
        <p:nvSpPr>
          <p:cNvPr id="16" name="Text 14"/>
          <p:cNvSpPr txBox="1"/>
          <p:nvPr/>
        </p:nvSpPr>
        <p:spPr>
          <a:xfrm>
            <a:off x="0" y="4892040"/>
            <a:ext cx="9144000" cy="256032"/>
          </a:xfrm>
          <a:prstGeom prst="rect">
            <a:avLst/>
          </a:prstGeom>
          <a:noFill/>
          <a:ln/>
        </p:spPr>
        <p:txBody>
          <a:bodyPr wrap="square" lIns="0" tIns="0" rIns="0" bIns="0" rtlCol="0" anchor="ctr"/>
          <a:lstStyle/>
          <a:p>
            <a:pPr algn="ctr" indent="0" marL="0">
              <a:buNone/>
            </a:pPr>
            <a:r>
              <a:rPr lang="en-US" sz="900" dirty="0">
                <a:solidFill>
                  <a:srgbClr val="7F8C8D"/>
                </a:solidFill>
              </a:rPr>
              <a:t>My Cyber Academy | MCA CREST CPSA - Module A: Soft Skills</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w="12700">
            <a:solidFill>
              <a:srgbClr val="FFFFFF"/>
            </a:solidFill>
            <a:prstDash val="solid"/>
          </a:ln>
        </p:spPr>
      </p:sp>
      <p:sp>
        <p:nvSpPr>
          <p:cNvPr id="3" name="Shape 1"/>
          <p:cNvSpPr/>
          <p:nvPr/>
        </p:nvSpPr>
        <p:spPr>
          <a:xfrm>
            <a:off x="0" y="0"/>
            <a:ext cx="9144000" cy="73152"/>
          </a:xfrm>
          <a:prstGeom prst="rect">
            <a:avLst/>
          </a:prstGeom>
          <a:solidFill>
            <a:srgbClr val="00B4C8"/>
          </a:solidFill>
          <a:ln w="12700">
            <a:solidFill>
              <a:srgbClr val="00B4C8"/>
            </a:solidFill>
            <a:prstDash val="solid"/>
          </a:ln>
        </p:spPr>
      </p:sp>
      <p:sp>
        <p:nvSpPr>
          <p:cNvPr id="4" name="Text 2"/>
          <p:cNvSpPr txBox="1"/>
          <p:nvPr/>
        </p:nvSpPr>
        <p:spPr>
          <a:xfrm>
            <a:off x="365760" y="137160"/>
            <a:ext cx="8412480" cy="548640"/>
          </a:xfrm>
          <a:prstGeom prst="rect">
            <a:avLst/>
          </a:prstGeom>
          <a:noFill/>
          <a:ln/>
        </p:spPr>
        <p:txBody>
          <a:bodyPr wrap="square" lIns="0" tIns="0" rIns="0" bIns="0" rtlCol="0" anchor="ctr"/>
          <a:lstStyle/>
          <a:p>
            <a:pPr algn="l" indent="0" marL="0">
              <a:buNone/>
            </a:pPr>
            <a:r>
              <a:rPr lang="en-US" sz="2800" b="1" dirty="0">
                <a:solidFill>
                  <a:srgbClr val="1A2744"/>
                </a:solidFill>
              </a:rPr>
              <a:t>Syntex CVSS Worked Examples</a:t>
            </a:r>
            <a:endParaRPr lang="en-US" sz="2800" dirty="0"/>
          </a:p>
        </p:txBody>
      </p:sp>
      <p:sp>
        <p:nvSpPr>
          <p:cNvPr id="5" name="Shape 3"/>
          <p:cNvSpPr/>
          <p:nvPr/>
        </p:nvSpPr>
        <p:spPr>
          <a:xfrm>
            <a:off x="365760" y="713232"/>
            <a:ext cx="8412480" cy="0"/>
          </a:xfrm>
          <a:prstGeom prst="line">
            <a:avLst/>
          </a:prstGeom>
          <a:noFill/>
          <a:ln w="19050">
            <a:solidFill>
              <a:srgbClr val="00B4C8"/>
            </a:solidFill>
            <a:prstDash val="solid"/>
          </a:ln>
        </p:spPr>
      </p:sp>
      <p:sp>
        <p:nvSpPr>
          <p:cNvPr id="6" name="Shape 4"/>
          <p:cNvSpPr/>
          <p:nvPr/>
        </p:nvSpPr>
        <p:spPr>
          <a:xfrm>
            <a:off x="274320" y="914400"/>
            <a:ext cx="502920" cy="347472"/>
          </a:xfrm>
          <a:prstGeom prst="rect">
            <a:avLst/>
          </a:prstGeom>
          <a:solidFill>
            <a:srgbClr val="0D3B5E"/>
          </a:solidFill>
          <a:ln w="12700">
            <a:solidFill>
              <a:srgbClr val="0D3B5E"/>
            </a:solidFill>
            <a:prstDash val="solid"/>
          </a:ln>
        </p:spPr>
      </p:sp>
      <p:sp>
        <p:nvSpPr>
          <p:cNvPr id="7" name="Text 5"/>
          <p:cNvSpPr txBox="1"/>
          <p:nvPr/>
        </p:nvSpPr>
        <p:spPr>
          <a:xfrm>
            <a:off x="320040" y="914400"/>
            <a:ext cx="502920" cy="347472"/>
          </a:xfrm>
          <a:prstGeom prst="rect">
            <a:avLst/>
          </a:prstGeom>
          <a:noFill/>
          <a:ln/>
        </p:spPr>
        <p:txBody>
          <a:bodyPr wrap="square" lIns="0" tIns="0" rIns="0" bIns="0" rtlCol="0" anchor="ctr"/>
          <a:lstStyle/>
          <a:p>
            <a:pPr indent="0" marL="0">
              <a:buNone/>
            </a:pPr>
            <a:r>
              <a:rPr lang="en-US" sz="1100" b="1" dirty="0">
                <a:solidFill>
                  <a:srgbClr val="FFFFFF"/>
                </a:solidFill>
              </a:rPr>
              <a:t>ID</a:t>
            </a:r>
            <a:endParaRPr lang="en-US" sz="1100" dirty="0"/>
          </a:p>
        </p:txBody>
      </p:sp>
      <p:sp>
        <p:nvSpPr>
          <p:cNvPr id="8" name="Shape 6"/>
          <p:cNvSpPr/>
          <p:nvPr/>
        </p:nvSpPr>
        <p:spPr>
          <a:xfrm>
            <a:off x="822960" y="914400"/>
            <a:ext cx="868680" cy="347472"/>
          </a:xfrm>
          <a:prstGeom prst="rect">
            <a:avLst/>
          </a:prstGeom>
          <a:solidFill>
            <a:srgbClr val="0D3B5E"/>
          </a:solidFill>
          <a:ln w="12700">
            <a:solidFill>
              <a:srgbClr val="0D3B5E"/>
            </a:solidFill>
            <a:prstDash val="solid"/>
          </a:ln>
        </p:spPr>
      </p:sp>
      <p:sp>
        <p:nvSpPr>
          <p:cNvPr id="9" name="Text 7"/>
          <p:cNvSpPr txBox="1"/>
          <p:nvPr/>
        </p:nvSpPr>
        <p:spPr>
          <a:xfrm>
            <a:off x="868680" y="914400"/>
            <a:ext cx="868680" cy="347472"/>
          </a:xfrm>
          <a:prstGeom prst="rect">
            <a:avLst/>
          </a:prstGeom>
          <a:noFill/>
          <a:ln/>
        </p:spPr>
        <p:txBody>
          <a:bodyPr wrap="square" lIns="0" tIns="0" rIns="0" bIns="0" rtlCol="0" anchor="ctr"/>
          <a:lstStyle/>
          <a:p>
            <a:pPr indent="0" marL="0">
              <a:buNone/>
            </a:pPr>
            <a:r>
              <a:rPr lang="en-US" sz="1100" b="1" dirty="0">
                <a:solidFill>
                  <a:srgbClr val="FFFFFF"/>
                </a:solidFill>
              </a:rPr>
              <a:t>Finding</a:t>
            </a:r>
            <a:endParaRPr lang="en-US" sz="1100" dirty="0"/>
          </a:p>
        </p:txBody>
      </p:sp>
      <p:sp>
        <p:nvSpPr>
          <p:cNvPr id="10" name="Shape 8"/>
          <p:cNvSpPr/>
          <p:nvPr/>
        </p:nvSpPr>
        <p:spPr>
          <a:xfrm>
            <a:off x="1737360" y="914400"/>
            <a:ext cx="4069080" cy="347472"/>
          </a:xfrm>
          <a:prstGeom prst="rect">
            <a:avLst/>
          </a:prstGeom>
          <a:solidFill>
            <a:srgbClr val="0D3B5E"/>
          </a:solidFill>
          <a:ln w="12700">
            <a:solidFill>
              <a:srgbClr val="0D3B5E"/>
            </a:solidFill>
            <a:prstDash val="solid"/>
          </a:ln>
        </p:spPr>
      </p:sp>
      <p:sp>
        <p:nvSpPr>
          <p:cNvPr id="11" name="Text 9"/>
          <p:cNvSpPr txBox="1"/>
          <p:nvPr/>
        </p:nvSpPr>
        <p:spPr>
          <a:xfrm>
            <a:off x="1783080" y="914400"/>
            <a:ext cx="4069080" cy="347472"/>
          </a:xfrm>
          <a:prstGeom prst="rect">
            <a:avLst/>
          </a:prstGeom>
          <a:noFill/>
          <a:ln/>
        </p:spPr>
        <p:txBody>
          <a:bodyPr wrap="square" lIns="0" tIns="0" rIns="0" bIns="0" rtlCol="0" anchor="ctr"/>
          <a:lstStyle/>
          <a:p>
            <a:pPr indent="0" marL="0">
              <a:buNone/>
            </a:pPr>
            <a:r>
              <a:rPr lang="en-US" sz="1100" b="1" dirty="0">
                <a:solidFill>
                  <a:srgbClr val="FFFFFF"/>
                </a:solidFill>
              </a:rPr>
              <a:t>CVSS Vector</a:t>
            </a:r>
            <a:endParaRPr lang="en-US" sz="1100" dirty="0"/>
          </a:p>
        </p:txBody>
      </p:sp>
      <p:sp>
        <p:nvSpPr>
          <p:cNvPr id="12" name="Shape 10"/>
          <p:cNvSpPr/>
          <p:nvPr/>
        </p:nvSpPr>
        <p:spPr>
          <a:xfrm>
            <a:off x="5852160" y="914400"/>
            <a:ext cx="960120" cy="347472"/>
          </a:xfrm>
          <a:prstGeom prst="rect">
            <a:avLst/>
          </a:prstGeom>
          <a:solidFill>
            <a:srgbClr val="0D3B5E"/>
          </a:solidFill>
          <a:ln w="12700">
            <a:solidFill>
              <a:srgbClr val="0D3B5E"/>
            </a:solidFill>
            <a:prstDash val="solid"/>
          </a:ln>
        </p:spPr>
      </p:sp>
      <p:sp>
        <p:nvSpPr>
          <p:cNvPr id="13" name="Text 11"/>
          <p:cNvSpPr txBox="1"/>
          <p:nvPr/>
        </p:nvSpPr>
        <p:spPr>
          <a:xfrm>
            <a:off x="5897880" y="914400"/>
            <a:ext cx="960120" cy="347472"/>
          </a:xfrm>
          <a:prstGeom prst="rect">
            <a:avLst/>
          </a:prstGeom>
          <a:noFill/>
          <a:ln/>
        </p:spPr>
        <p:txBody>
          <a:bodyPr wrap="square" lIns="0" tIns="0" rIns="0" bIns="0" rtlCol="0" anchor="ctr"/>
          <a:lstStyle/>
          <a:p>
            <a:pPr indent="0" marL="0">
              <a:buNone/>
            </a:pPr>
            <a:r>
              <a:rPr lang="en-US" sz="1100" b="1" dirty="0">
                <a:solidFill>
                  <a:srgbClr val="FFFFFF"/>
                </a:solidFill>
              </a:rPr>
              <a:t>Score</a:t>
            </a:r>
            <a:endParaRPr lang="en-US" sz="1100" dirty="0"/>
          </a:p>
        </p:txBody>
      </p:sp>
      <p:sp>
        <p:nvSpPr>
          <p:cNvPr id="14" name="Shape 12"/>
          <p:cNvSpPr/>
          <p:nvPr/>
        </p:nvSpPr>
        <p:spPr>
          <a:xfrm>
            <a:off x="6858000" y="914400"/>
            <a:ext cx="868680" cy="347472"/>
          </a:xfrm>
          <a:prstGeom prst="rect">
            <a:avLst/>
          </a:prstGeom>
          <a:solidFill>
            <a:srgbClr val="0D3B5E"/>
          </a:solidFill>
          <a:ln w="12700">
            <a:solidFill>
              <a:srgbClr val="0D3B5E"/>
            </a:solidFill>
            <a:prstDash val="solid"/>
          </a:ln>
        </p:spPr>
      </p:sp>
      <p:sp>
        <p:nvSpPr>
          <p:cNvPr id="15" name="Text 13"/>
          <p:cNvSpPr txBox="1"/>
          <p:nvPr/>
        </p:nvSpPr>
        <p:spPr>
          <a:xfrm>
            <a:off x="6903720" y="914400"/>
            <a:ext cx="868680" cy="347472"/>
          </a:xfrm>
          <a:prstGeom prst="rect">
            <a:avLst/>
          </a:prstGeom>
          <a:noFill/>
          <a:ln/>
        </p:spPr>
        <p:txBody>
          <a:bodyPr wrap="square" lIns="0" tIns="0" rIns="0" bIns="0" rtlCol="0" anchor="ctr"/>
          <a:lstStyle/>
          <a:p>
            <a:pPr indent="0" marL="0">
              <a:buNone/>
            </a:pPr>
            <a:r>
              <a:rPr lang="en-US" sz="1100" b="1" dirty="0">
                <a:solidFill>
                  <a:srgbClr val="FFFFFF"/>
                </a:solidFill>
              </a:rPr>
              <a:t>Sev.</a:t>
            </a:r>
            <a:endParaRPr lang="en-US" sz="1100" dirty="0"/>
          </a:p>
        </p:txBody>
      </p:sp>
      <p:sp>
        <p:nvSpPr>
          <p:cNvPr id="16" name="Shape 14"/>
          <p:cNvSpPr/>
          <p:nvPr/>
        </p:nvSpPr>
        <p:spPr>
          <a:xfrm>
            <a:off x="7772400" y="914400"/>
            <a:ext cx="1097280" cy="347472"/>
          </a:xfrm>
          <a:prstGeom prst="rect">
            <a:avLst/>
          </a:prstGeom>
          <a:solidFill>
            <a:srgbClr val="0D3B5E"/>
          </a:solidFill>
          <a:ln w="12700">
            <a:solidFill>
              <a:srgbClr val="0D3B5E"/>
            </a:solidFill>
            <a:prstDash val="solid"/>
          </a:ln>
        </p:spPr>
      </p:sp>
      <p:sp>
        <p:nvSpPr>
          <p:cNvPr id="17" name="Text 15"/>
          <p:cNvSpPr txBox="1"/>
          <p:nvPr/>
        </p:nvSpPr>
        <p:spPr>
          <a:xfrm>
            <a:off x="7818120" y="914400"/>
            <a:ext cx="1097280" cy="347472"/>
          </a:xfrm>
          <a:prstGeom prst="rect">
            <a:avLst/>
          </a:prstGeom>
          <a:noFill/>
          <a:ln/>
        </p:spPr>
        <p:txBody>
          <a:bodyPr wrap="square" lIns="0" tIns="0" rIns="0" bIns="0" rtlCol="0" anchor="ctr"/>
          <a:lstStyle/>
          <a:p>
            <a:pPr indent="0" marL="0">
              <a:buNone/>
            </a:pPr>
            <a:endParaRPr lang="en-US" sz="1100" dirty="0"/>
          </a:p>
        </p:txBody>
      </p:sp>
      <p:sp>
        <p:nvSpPr>
          <p:cNvPr id="18" name="Shape 16"/>
          <p:cNvSpPr/>
          <p:nvPr/>
        </p:nvSpPr>
        <p:spPr>
          <a:xfrm>
            <a:off x="274320" y="1325880"/>
            <a:ext cx="8503920" cy="502920"/>
          </a:xfrm>
          <a:prstGeom prst="rect">
            <a:avLst/>
          </a:prstGeom>
          <a:solidFill>
            <a:srgbClr val="FFFFFF"/>
          </a:solidFill>
          <a:ln w="6350">
            <a:solidFill>
              <a:srgbClr val="DDDDDD"/>
            </a:solidFill>
            <a:prstDash val="solid"/>
          </a:ln>
        </p:spPr>
      </p:sp>
      <p:sp>
        <p:nvSpPr>
          <p:cNvPr id="19" name="Text 17"/>
          <p:cNvSpPr txBox="1"/>
          <p:nvPr/>
        </p:nvSpPr>
        <p:spPr>
          <a:xfrm>
            <a:off x="320040" y="1325880"/>
            <a:ext cx="502920" cy="502920"/>
          </a:xfrm>
          <a:prstGeom prst="rect">
            <a:avLst/>
          </a:prstGeom>
          <a:noFill/>
          <a:ln/>
        </p:spPr>
        <p:txBody>
          <a:bodyPr wrap="square" lIns="25400" tIns="25400" rIns="25400" bIns="25400" rtlCol="0" anchor="ctr"/>
          <a:lstStyle/>
          <a:p>
            <a:pPr indent="0" marL="0">
              <a:buNone/>
            </a:pPr>
            <a:r>
              <a:rPr lang="en-US" sz="1000" b="1" dirty="0">
                <a:solidFill>
                  <a:srgbClr val="1A2744"/>
                </a:solidFill>
                <a:latin typeface="Courier New" pitchFamily="34" charset="0"/>
                <a:ea typeface="Courier New" pitchFamily="34" charset="-122"/>
                <a:cs typeface="Courier New" pitchFamily="34" charset="-120"/>
              </a:rPr>
              <a:t>F-01</a:t>
            </a:r>
            <a:endParaRPr lang="en-US" sz="1000" dirty="0"/>
          </a:p>
        </p:txBody>
      </p:sp>
      <p:sp>
        <p:nvSpPr>
          <p:cNvPr id="20" name="Text 18"/>
          <p:cNvSpPr txBox="1"/>
          <p:nvPr/>
        </p:nvSpPr>
        <p:spPr>
          <a:xfrm>
            <a:off x="868680" y="1325880"/>
            <a:ext cx="822960" cy="502920"/>
          </a:xfrm>
          <a:prstGeom prst="rect">
            <a:avLst/>
          </a:prstGeom>
          <a:noFill/>
          <a:ln/>
        </p:spPr>
        <p:txBody>
          <a:bodyPr wrap="square" lIns="25400" tIns="25400" rIns="25400" bIns="25400" rtlCol="0" anchor="ctr"/>
          <a:lstStyle/>
          <a:p>
            <a:pPr indent="0" marL="0">
              <a:buNone/>
            </a:pPr>
            <a:r>
              <a:rPr lang="en-US" sz="1100" dirty="0">
                <a:solidFill>
                  <a:srgbClr val="1A2744"/>
                </a:solidFill>
              </a:rPr>
              <a:t>Apache Struts RCE</a:t>
            </a:r>
            <a:endParaRPr lang="en-US" sz="1100" dirty="0"/>
          </a:p>
        </p:txBody>
      </p:sp>
      <p:sp>
        <p:nvSpPr>
          <p:cNvPr id="21" name="Text 19"/>
          <p:cNvSpPr txBox="1"/>
          <p:nvPr/>
        </p:nvSpPr>
        <p:spPr>
          <a:xfrm>
            <a:off x="1783080" y="1325880"/>
            <a:ext cx="4023360" cy="502920"/>
          </a:xfrm>
          <a:prstGeom prst="rect">
            <a:avLst/>
          </a:prstGeom>
          <a:noFill/>
          <a:ln/>
        </p:spPr>
        <p:txBody>
          <a:bodyPr wrap="square" lIns="25400" tIns="25400" rIns="25400" bIns="25400" rtlCol="0" anchor="ctr"/>
          <a:lstStyle/>
          <a:p>
            <a:pPr indent="0" marL="0">
              <a:buNone/>
            </a:pPr>
            <a:r>
              <a:rPr lang="en-US" sz="900" dirty="0">
                <a:solidFill>
                  <a:srgbClr val="2C3E50"/>
                </a:solidFill>
                <a:latin typeface="Courier New" pitchFamily="34" charset="0"/>
                <a:ea typeface="Courier New" pitchFamily="34" charset="-122"/>
                <a:cs typeface="Courier New" pitchFamily="34" charset="-120"/>
              </a:rPr>
              <a:t>AV:N/AC:L/PR:N/UI:N/S:U/C:H/I:H/A:H</a:t>
            </a:r>
            <a:endParaRPr lang="en-US" sz="900" dirty="0"/>
          </a:p>
        </p:txBody>
      </p:sp>
      <p:sp>
        <p:nvSpPr>
          <p:cNvPr id="22" name="Text 20"/>
          <p:cNvSpPr txBox="1"/>
          <p:nvPr/>
        </p:nvSpPr>
        <p:spPr>
          <a:xfrm>
            <a:off x="5897880" y="1325880"/>
            <a:ext cx="914400" cy="502920"/>
          </a:xfrm>
          <a:prstGeom prst="rect">
            <a:avLst/>
          </a:prstGeom>
          <a:noFill/>
          <a:ln/>
        </p:spPr>
        <p:txBody>
          <a:bodyPr wrap="square" lIns="0" tIns="0" rIns="0" bIns="0" rtlCol="0" anchor="ctr"/>
          <a:lstStyle/>
          <a:p>
            <a:pPr algn="ctr" indent="0" marL="0">
              <a:buNone/>
            </a:pPr>
            <a:r>
              <a:rPr lang="en-US" sz="1300" b="1" dirty="0">
                <a:solidFill>
                  <a:srgbClr val="C0392B"/>
                </a:solidFill>
              </a:rPr>
              <a:t>9.8</a:t>
            </a:r>
            <a:endParaRPr lang="en-US" sz="1300" dirty="0"/>
          </a:p>
        </p:txBody>
      </p:sp>
      <p:sp>
        <p:nvSpPr>
          <p:cNvPr id="23" name="Shape 21"/>
          <p:cNvSpPr/>
          <p:nvPr/>
        </p:nvSpPr>
        <p:spPr>
          <a:xfrm>
            <a:off x="6903720" y="1399032"/>
            <a:ext cx="777240" cy="347472"/>
          </a:xfrm>
          <a:prstGeom prst="rect">
            <a:avLst/>
          </a:prstGeom>
          <a:solidFill>
            <a:srgbClr val="C0392B"/>
          </a:solidFill>
          <a:ln w="12700">
            <a:solidFill>
              <a:srgbClr val="C0392B"/>
            </a:solidFill>
            <a:prstDash val="solid"/>
          </a:ln>
        </p:spPr>
      </p:sp>
      <p:sp>
        <p:nvSpPr>
          <p:cNvPr id="24" name="Text 22"/>
          <p:cNvSpPr txBox="1"/>
          <p:nvPr/>
        </p:nvSpPr>
        <p:spPr>
          <a:xfrm>
            <a:off x="6903720" y="1399032"/>
            <a:ext cx="777240" cy="347472"/>
          </a:xfrm>
          <a:prstGeom prst="rect">
            <a:avLst/>
          </a:prstGeom>
          <a:noFill/>
          <a:ln/>
        </p:spPr>
        <p:txBody>
          <a:bodyPr wrap="square" lIns="0" tIns="0" rIns="0" bIns="0" rtlCol="0" anchor="ctr"/>
          <a:lstStyle/>
          <a:p>
            <a:pPr algn="ctr" indent="0" marL="0">
              <a:buNone/>
            </a:pPr>
            <a:r>
              <a:rPr lang="en-US" sz="1000" b="1" dirty="0">
                <a:solidFill>
                  <a:srgbClr val="FFFFFF"/>
                </a:solidFill>
              </a:rPr>
              <a:t>Critical</a:t>
            </a:r>
            <a:endParaRPr lang="en-US" sz="1000" dirty="0"/>
          </a:p>
        </p:txBody>
      </p:sp>
      <p:sp>
        <p:nvSpPr>
          <p:cNvPr id="25" name="Shape 23"/>
          <p:cNvSpPr/>
          <p:nvPr/>
        </p:nvSpPr>
        <p:spPr>
          <a:xfrm>
            <a:off x="274320" y="1892808"/>
            <a:ext cx="8503920" cy="502920"/>
          </a:xfrm>
          <a:prstGeom prst="rect">
            <a:avLst/>
          </a:prstGeom>
          <a:solidFill>
            <a:srgbClr val="EEF4FB"/>
          </a:solidFill>
          <a:ln w="6350">
            <a:solidFill>
              <a:srgbClr val="DDDDDD"/>
            </a:solidFill>
            <a:prstDash val="solid"/>
          </a:ln>
        </p:spPr>
      </p:sp>
      <p:sp>
        <p:nvSpPr>
          <p:cNvPr id="26" name="Text 24"/>
          <p:cNvSpPr txBox="1"/>
          <p:nvPr/>
        </p:nvSpPr>
        <p:spPr>
          <a:xfrm>
            <a:off x="320040" y="1892808"/>
            <a:ext cx="502920" cy="502920"/>
          </a:xfrm>
          <a:prstGeom prst="rect">
            <a:avLst/>
          </a:prstGeom>
          <a:noFill/>
          <a:ln/>
        </p:spPr>
        <p:txBody>
          <a:bodyPr wrap="square" lIns="25400" tIns="25400" rIns="25400" bIns="25400" rtlCol="0" anchor="ctr"/>
          <a:lstStyle/>
          <a:p>
            <a:pPr indent="0" marL="0">
              <a:buNone/>
            </a:pPr>
            <a:r>
              <a:rPr lang="en-US" sz="1000" b="1" dirty="0">
                <a:solidFill>
                  <a:srgbClr val="1A2744"/>
                </a:solidFill>
                <a:latin typeface="Courier New" pitchFamily="34" charset="0"/>
                <a:ea typeface="Courier New" pitchFamily="34" charset="-122"/>
                <a:cs typeface="Courier New" pitchFamily="34" charset="-120"/>
              </a:rPr>
              <a:t>F-04</a:t>
            </a:r>
            <a:endParaRPr lang="en-US" sz="1000" dirty="0"/>
          </a:p>
        </p:txBody>
      </p:sp>
      <p:sp>
        <p:nvSpPr>
          <p:cNvPr id="27" name="Text 25"/>
          <p:cNvSpPr txBox="1"/>
          <p:nvPr/>
        </p:nvSpPr>
        <p:spPr>
          <a:xfrm>
            <a:off x="868680" y="1892808"/>
            <a:ext cx="822960" cy="502920"/>
          </a:xfrm>
          <a:prstGeom prst="rect">
            <a:avLst/>
          </a:prstGeom>
          <a:noFill/>
          <a:ln/>
        </p:spPr>
        <p:txBody>
          <a:bodyPr wrap="square" lIns="25400" tIns="25400" rIns="25400" bIns="25400" rtlCol="0" anchor="ctr"/>
          <a:lstStyle/>
          <a:p>
            <a:pPr indent="0" marL="0">
              <a:buNone/>
            </a:pPr>
            <a:r>
              <a:rPr lang="en-US" sz="1100" dirty="0">
                <a:solidFill>
                  <a:srgbClr val="1A2744"/>
                </a:solidFill>
              </a:rPr>
              <a:t>Weak SSH Root Password</a:t>
            </a:r>
            <a:endParaRPr lang="en-US" sz="1100" dirty="0"/>
          </a:p>
        </p:txBody>
      </p:sp>
      <p:sp>
        <p:nvSpPr>
          <p:cNvPr id="28" name="Text 26"/>
          <p:cNvSpPr txBox="1"/>
          <p:nvPr/>
        </p:nvSpPr>
        <p:spPr>
          <a:xfrm>
            <a:off x="1783080" y="1892808"/>
            <a:ext cx="4023360" cy="502920"/>
          </a:xfrm>
          <a:prstGeom prst="rect">
            <a:avLst/>
          </a:prstGeom>
          <a:noFill/>
          <a:ln/>
        </p:spPr>
        <p:txBody>
          <a:bodyPr wrap="square" lIns="25400" tIns="25400" rIns="25400" bIns="25400" rtlCol="0" anchor="ctr"/>
          <a:lstStyle/>
          <a:p>
            <a:pPr indent="0" marL="0">
              <a:buNone/>
            </a:pPr>
            <a:r>
              <a:rPr lang="en-US" sz="900" dirty="0">
                <a:solidFill>
                  <a:srgbClr val="2C3E50"/>
                </a:solidFill>
                <a:latin typeface="Courier New" pitchFamily="34" charset="0"/>
                <a:ea typeface="Courier New" pitchFamily="34" charset="-122"/>
                <a:cs typeface="Courier New" pitchFamily="34" charset="-120"/>
              </a:rPr>
              <a:t>AV:N/AC:L/PR:N/UI:N/S:U/C:H/I:H/A:H</a:t>
            </a:r>
            <a:endParaRPr lang="en-US" sz="900" dirty="0"/>
          </a:p>
        </p:txBody>
      </p:sp>
      <p:sp>
        <p:nvSpPr>
          <p:cNvPr id="29" name="Text 27"/>
          <p:cNvSpPr txBox="1"/>
          <p:nvPr/>
        </p:nvSpPr>
        <p:spPr>
          <a:xfrm>
            <a:off x="5897880" y="1892808"/>
            <a:ext cx="914400" cy="502920"/>
          </a:xfrm>
          <a:prstGeom prst="rect">
            <a:avLst/>
          </a:prstGeom>
          <a:noFill/>
          <a:ln/>
        </p:spPr>
        <p:txBody>
          <a:bodyPr wrap="square" lIns="0" tIns="0" rIns="0" bIns="0" rtlCol="0" anchor="ctr"/>
          <a:lstStyle/>
          <a:p>
            <a:pPr algn="ctr" indent="0" marL="0">
              <a:buNone/>
            </a:pPr>
            <a:r>
              <a:rPr lang="en-US" sz="1300" b="1" dirty="0">
                <a:solidFill>
                  <a:srgbClr val="C0392B"/>
                </a:solidFill>
              </a:rPr>
              <a:t>9.8</a:t>
            </a:r>
            <a:endParaRPr lang="en-US" sz="1300" dirty="0"/>
          </a:p>
        </p:txBody>
      </p:sp>
      <p:sp>
        <p:nvSpPr>
          <p:cNvPr id="30" name="Shape 28"/>
          <p:cNvSpPr/>
          <p:nvPr/>
        </p:nvSpPr>
        <p:spPr>
          <a:xfrm>
            <a:off x="6903720" y="1965960"/>
            <a:ext cx="777240" cy="347472"/>
          </a:xfrm>
          <a:prstGeom prst="rect">
            <a:avLst/>
          </a:prstGeom>
          <a:solidFill>
            <a:srgbClr val="C0392B"/>
          </a:solidFill>
          <a:ln w="12700">
            <a:solidFill>
              <a:srgbClr val="C0392B"/>
            </a:solidFill>
            <a:prstDash val="solid"/>
          </a:ln>
        </p:spPr>
      </p:sp>
      <p:sp>
        <p:nvSpPr>
          <p:cNvPr id="31" name="Text 29"/>
          <p:cNvSpPr txBox="1"/>
          <p:nvPr/>
        </p:nvSpPr>
        <p:spPr>
          <a:xfrm>
            <a:off x="6903720" y="1965960"/>
            <a:ext cx="777240" cy="347472"/>
          </a:xfrm>
          <a:prstGeom prst="rect">
            <a:avLst/>
          </a:prstGeom>
          <a:noFill/>
          <a:ln/>
        </p:spPr>
        <p:txBody>
          <a:bodyPr wrap="square" lIns="0" tIns="0" rIns="0" bIns="0" rtlCol="0" anchor="ctr"/>
          <a:lstStyle/>
          <a:p>
            <a:pPr algn="ctr" indent="0" marL="0">
              <a:buNone/>
            </a:pPr>
            <a:r>
              <a:rPr lang="en-US" sz="1000" b="1" dirty="0">
                <a:solidFill>
                  <a:srgbClr val="FFFFFF"/>
                </a:solidFill>
              </a:rPr>
              <a:t>Critical</a:t>
            </a:r>
            <a:endParaRPr lang="en-US" sz="1000" dirty="0"/>
          </a:p>
        </p:txBody>
      </p:sp>
      <p:sp>
        <p:nvSpPr>
          <p:cNvPr id="32" name="Shape 30"/>
          <p:cNvSpPr/>
          <p:nvPr/>
        </p:nvSpPr>
        <p:spPr>
          <a:xfrm>
            <a:off x="274320" y="2459736"/>
            <a:ext cx="8503920" cy="502920"/>
          </a:xfrm>
          <a:prstGeom prst="rect">
            <a:avLst/>
          </a:prstGeom>
          <a:solidFill>
            <a:srgbClr val="FFFFFF"/>
          </a:solidFill>
          <a:ln w="6350">
            <a:solidFill>
              <a:srgbClr val="DDDDDD"/>
            </a:solidFill>
            <a:prstDash val="solid"/>
          </a:ln>
        </p:spPr>
      </p:sp>
      <p:sp>
        <p:nvSpPr>
          <p:cNvPr id="33" name="Text 31"/>
          <p:cNvSpPr txBox="1"/>
          <p:nvPr/>
        </p:nvSpPr>
        <p:spPr>
          <a:xfrm>
            <a:off x="320040" y="2459736"/>
            <a:ext cx="502920" cy="502920"/>
          </a:xfrm>
          <a:prstGeom prst="rect">
            <a:avLst/>
          </a:prstGeom>
          <a:noFill/>
          <a:ln/>
        </p:spPr>
        <p:txBody>
          <a:bodyPr wrap="square" lIns="25400" tIns="25400" rIns="25400" bIns="25400" rtlCol="0" anchor="ctr"/>
          <a:lstStyle/>
          <a:p>
            <a:pPr indent="0" marL="0">
              <a:buNone/>
            </a:pPr>
            <a:r>
              <a:rPr lang="en-US" sz="1000" b="1" dirty="0">
                <a:solidFill>
                  <a:srgbClr val="1A2744"/>
                </a:solidFill>
                <a:latin typeface="Courier New" pitchFamily="34" charset="0"/>
                <a:ea typeface="Courier New" pitchFamily="34" charset="-122"/>
                <a:cs typeface="Courier New" pitchFamily="34" charset="-120"/>
              </a:rPr>
              <a:t>F-05</a:t>
            </a:r>
            <a:endParaRPr lang="en-US" sz="1000" dirty="0"/>
          </a:p>
        </p:txBody>
      </p:sp>
      <p:sp>
        <p:nvSpPr>
          <p:cNvPr id="34" name="Text 32"/>
          <p:cNvSpPr txBox="1"/>
          <p:nvPr/>
        </p:nvSpPr>
        <p:spPr>
          <a:xfrm>
            <a:off x="868680" y="2459736"/>
            <a:ext cx="822960" cy="502920"/>
          </a:xfrm>
          <a:prstGeom prst="rect">
            <a:avLst/>
          </a:prstGeom>
          <a:noFill/>
          <a:ln/>
        </p:spPr>
        <p:txBody>
          <a:bodyPr wrap="square" lIns="25400" tIns="25400" rIns="25400" bIns="25400" rtlCol="0" anchor="ctr"/>
          <a:lstStyle/>
          <a:p>
            <a:pPr indent="0" marL="0">
              <a:buNone/>
            </a:pPr>
            <a:r>
              <a:rPr lang="en-US" sz="1100" dirty="0">
                <a:solidFill>
                  <a:srgbClr val="1A2744"/>
                </a:solidFill>
              </a:rPr>
              <a:t>Kerberoasting</a:t>
            </a:r>
            <a:endParaRPr lang="en-US" sz="1100" dirty="0"/>
          </a:p>
        </p:txBody>
      </p:sp>
      <p:sp>
        <p:nvSpPr>
          <p:cNvPr id="35" name="Text 33"/>
          <p:cNvSpPr txBox="1"/>
          <p:nvPr/>
        </p:nvSpPr>
        <p:spPr>
          <a:xfrm>
            <a:off x="1783080" y="2459736"/>
            <a:ext cx="4023360" cy="502920"/>
          </a:xfrm>
          <a:prstGeom prst="rect">
            <a:avLst/>
          </a:prstGeom>
          <a:noFill/>
          <a:ln/>
        </p:spPr>
        <p:txBody>
          <a:bodyPr wrap="square" lIns="25400" tIns="25400" rIns="25400" bIns="25400" rtlCol="0" anchor="ctr"/>
          <a:lstStyle/>
          <a:p>
            <a:pPr indent="0" marL="0">
              <a:buNone/>
            </a:pPr>
            <a:r>
              <a:rPr lang="en-US" sz="900" dirty="0">
                <a:solidFill>
                  <a:srgbClr val="2C3E50"/>
                </a:solidFill>
                <a:latin typeface="Courier New" pitchFamily="34" charset="0"/>
                <a:ea typeface="Courier New" pitchFamily="34" charset="-122"/>
                <a:cs typeface="Courier New" pitchFamily="34" charset="-120"/>
              </a:rPr>
              <a:t>AV:N/AC:L/PR:L/UI:N/S:C/C:H/I:H/A:H</a:t>
            </a:r>
            <a:endParaRPr lang="en-US" sz="900" dirty="0"/>
          </a:p>
        </p:txBody>
      </p:sp>
      <p:sp>
        <p:nvSpPr>
          <p:cNvPr id="36" name="Text 34"/>
          <p:cNvSpPr txBox="1"/>
          <p:nvPr/>
        </p:nvSpPr>
        <p:spPr>
          <a:xfrm>
            <a:off x="5897880" y="2459736"/>
            <a:ext cx="914400" cy="502920"/>
          </a:xfrm>
          <a:prstGeom prst="rect">
            <a:avLst/>
          </a:prstGeom>
          <a:noFill/>
          <a:ln/>
        </p:spPr>
        <p:txBody>
          <a:bodyPr wrap="square" lIns="0" tIns="0" rIns="0" bIns="0" rtlCol="0" anchor="ctr"/>
          <a:lstStyle/>
          <a:p>
            <a:pPr algn="ctr" indent="0" marL="0">
              <a:buNone/>
            </a:pPr>
            <a:r>
              <a:rPr lang="en-US" sz="1300" b="1" dirty="0">
                <a:solidFill>
                  <a:srgbClr val="C0392B"/>
                </a:solidFill>
              </a:rPr>
              <a:t>9.9</a:t>
            </a:r>
            <a:endParaRPr lang="en-US" sz="1300" dirty="0"/>
          </a:p>
        </p:txBody>
      </p:sp>
      <p:sp>
        <p:nvSpPr>
          <p:cNvPr id="37" name="Shape 35"/>
          <p:cNvSpPr/>
          <p:nvPr/>
        </p:nvSpPr>
        <p:spPr>
          <a:xfrm>
            <a:off x="6903720" y="2532888"/>
            <a:ext cx="777240" cy="347472"/>
          </a:xfrm>
          <a:prstGeom prst="rect">
            <a:avLst/>
          </a:prstGeom>
          <a:solidFill>
            <a:srgbClr val="C0392B"/>
          </a:solidFill>
          <a:ln w="12700">
            <a:solidFill>
              <a:srgbClr val="C0392B"/>
            </a:solidFill>
            <a:prstDash val="solid"/>
          </a:ln>
        </p:spPr>
      </p:sp>
      <p:sp>
        <p:nvSpPr>
          <p:cNvPr id="38" name="Text 36"/>
          <p:cNvSpPr txBox="1"/>
          <p:nvPr/>
        </p:nvSpPr>
        <p:spPr>
          <a:xfrm>
            <a:off x="6903720" y="2532888"/>
            <a:ext cx="777240" cy="347472"/>
          </a:xfrm>
          <a:prstGeom prst="rect">
            <a:avLst/>
          </a:prstGeom>
          <a:noFill/>
          <a:ln/>
        </p:spPr>
        <p:txBody>
          <a:bodyPr wrap="square" lIns="0" tIns="0" rIns="0" bIns="0" rtlCol="0" anchor="ctr"/>
          <a:lstStyle/>
          <a:p>
            <a:pPr algn="ctr" indent="0" marL="0">
              <a:buNone/>
            </a:pPr>
            <a:r>
              <a:rPr lang="en-US" sz="1000" b="1" dirty="0">
                <a:solidFill>
                  <a:srgbClr val="FFFFFF"/>
                </a:solidFill>
              </a:rPr>
              <a:t>Critical</a:t>
            </a:r>
            <a:endParaRPr lang="en-US" sz="1000" dirty="0"/>
          </a:p>
        </p:txBody>
      </p:sp>
      <p:sp>
        <p:nvSpPr>
          <p:cNvPr id="39" name="Shape 37"/>
          <p:cNvSpPr/>
          <p:nvPr/>
        </p:nvSpPr>
        <p:spPr>
          <a:xfrm>
            <a:off x="274320" y="3026664"/>
            <a:ext cx="8503920" cy="502920"/>
          </a:xfrm>
          <a:prstGeom prst="rect">
            <a:avLst/>
          </a:prstGeom>
          <a:solidFill>
            <a:srgbClr val="EEF4FB"/>
          </a:solidFill>
          <a:ln w="6350">
            <a:solidFill>
              <a:srgbClr val="DDDDDD"/>
            </a:solidFill>
            <a:prstDash val="solid"/>
          </a:ln>
        </p:spPr>
      </p:sp>
      <p:sp>
        <p:nvSpPr>
          <p:cNvPr id="40" name="Text 38"/>
          <p:cNvSpPr txBox="1"/>
          <p:nvPr/>
        </p:nvSpPr>
        <p:spPr>
          <a:xfrm>
            <a:off x="320040" y="3026664"/>
            <a:ext cx="502920" cy="502920"/>
          </a:xfrm>
          <a:prstGeom prst="rect">
            <a:avLst/>
          </a:prstGeom>
          <a:noFill/>
          <a:ln/>
        </p:spPr>
        <p:txBody>
          <a:bodyPr wrap="square" lIns="25400" tIns="25400" rIns="25400" bIns="25400" rtlCol="0" anchor="ctr"/>
          <a:lstStyle/>
          <a:p>
            <a:pPr indent="0" marL="0">
              <a:buNone/>
            </a:pPr>
            <a:r>
              <a:rPr lang="en-US" sz="1000" b="1" dirty="0">
                <a:solidFill>
                  <a:srgbClr val="1A2744"/>
                </a:solidFill>
                <a:latin typeface="Courier New" pitchFamily="34" charset="0"/>
                <a:ea typeface="Courier New" pitchFamily="34" charset="-122"/>
                <a:cs typeface="Courier New" pitchFamily="34" charset="-120"/>
              </a:rPr>
              <a:t>F-03</a:t>
            </a:r>
            <a:endParaRPr lang="en-US" sz="1000" dirty="0"/>
          </a:p>
        </p:txBody>
      </p:sp>
      <p:sp>
        <p:nvSpPr>
          <p:cNvPr id="41" name="Text 39"/>
          <p:cNvSpPr txBox="1"/>
          <p:nvPr/>
        </p:nvSpPr>
        <p:spPr>
          <a:xfrm>
            <a:off x="868680" y="3026664"/>
            <a:ext cx="822960" cy="502920"/>
          </a:xfrm>
          <a:prstGeom prst="rect">
            <a:avLst/>
          </a:prstGeom>
          <a:noFill/>
          <a:ln/>
        </p:spPr>
        <p:txBody>
          <a:bodyPr wrap="square" lIns="25400" tIns="25400" rIns="25400" bIns="25400" rtlCol="0" anchor="ctr"/>
          <a:lstStyle/>
          <a:p>
            <a:pPr indent="0" marL="0">
              <a:buNone/>
            </a:pPr>
            <a:r>
              <a:rPr lang="en-US" sz="1100" dirty="0">
                <a:solidFill>
                  <a:srgbClr val="1A2744"/>
                </a:solidFill>
              </a:rPr>
              <a:t>Cleartext FTP Creds</a:t>
            </a:r>
            <a:endParaRPr lang="en-US" sz="1100" dirty="0"/>
          </a:p>
        </p:txBody>
      </p:sp>
      <p:sp>
        <p:nvSpPr>
          <p:cNvPr id="42" name="Text 40"/>
          <p:cNvSpPr txBox="1"/>
          <p:nvPr/>
        </p:nvSpPr>
        <p:spPr>
          <a:xfrm>
            <a:off x="1783080" y="3026664"/>
            <a:ext cx="4023360" cy="502920"/>
          </a:xfrm>
          <a:prstGeom prst="rect">
            <a:avLst/>
          </a:prstGeom>
          <a:noFill/>
          <a:ln/>
        </p:spPr>
        <p:txBody>
          <a:bodyPr wrap="square" lIns="25400" tIns="25400" rIns="25400" bIns="25400" rtlCol="0" anchor="ctr"/>
          <a:lstStyle/>
          <a:p>
            <a:pPr indent="0" marL="0">
              <a:buNone/>
            </a:pPr>
            <a:r>
              <a:rPr lang="en-US" sz="900" dirty="0">
                <a:solidFill>
                  <a:srgbClr val="2C3E50"/>
                </a:solidFill>
                <a:latin typeface="Courier New" pitchFamily="34" charset="0"/>
                <a:ea typeface="Courier New" pitchFamily="34" charset="-122"/>
                <a:cs typeface="Courier New" pitchFamily="34" charset="-120"/>
              </a:rPr>
              <a:t>AV:L/AC:L/PR:L/UI:N/S:U/C:H/I:H/A:H</a:t>
            </a:r>
            <a:endParaRPr lang="en-US" sz="900" dirty="0"/>
          </a:p>
        </p:txBody>
      </p:sp>
      <p:sp>
        <p:nvSpPr>
          <p:cNvPr id="43" name="Text 41"/>
          <p:cNvSpPr txBox="1"/>
          <p:nvPr/>
        </p:nvSpPr>
        <p:spPr>
          <a:xfrm>
            <a:off x="5897880" y="3026664"/>
            <a:ext cx="914400" cy="502920"/>
          </a:xfrm>
          <a:prstGeom prst="rect">
            <a:avLst/>
          </a:prstGeom>
          <a:noFill/>
          <a:ln/>
        </p:spPr>
        <p:txBody>
          <a:bodyPr wrap="square" lIns="0" tIns="0" rIns="0" bIns="0" rtlCol="0" anchor="ctr"/>
          <a:lstStyle/>
          <a:p>
            <a:pPr algn="ctr" indent="0" marL="0">
              <a:buNone/>
            </a:pPr>
            <a:r>
              <a:rPr lang="en-US" sz="1300" b="1" dirty="0">
                <a:solidFill>
                  <a:srgbClr val="D35400"/>
                </a:solidFill>
              </a:rPr>
              <a:t>7.8</a:t>
            </a:r>
            <a:endParaRPr lang="en-US" sz="1300" dirty="0"/>
          </a:p>
        </p:txBody>
      </p:sp>
      <p:sp>
        <p:nvSpPr>
          <p:cNvPr id="44" name="Shape 42"/>
          <p:cNvSpPr/>
          <p:nvPr/>
        </p:nvSpPr>
        <p:spPr>
          <a:xfrm>
            <a:off x="6903720" y="3099816"/>
            <a:ext cx="777240" cy="347472"/>
          </a:xfrm>
          <a:prstGeom prst="rect">
            <a:avLst/>
          </a:prstGeom>
          <a:solidFill>
            <a:srgbClr val="D35400"/>
          </a:solidFill>
          <a:ln w="12700">
            <a:solidFill>
              <a:srgbClr val="D35400"/>
            </a:solidFill>
            <a:prstDash val="solid"/>
          </a:ln>
        </p:spPr>
      </p:sp>
      <p:sp>
        <p:nvSpPr>
          <p:cNvPr id="45" name="Text 43"/>
          <p:cNvSpPr txBox="1"/>
          <p:nvPr/>
        </p:nvSpPr>
        <p:spPr>
          <a:xfrm>
            <a:off x="6903720" y="3099816"/>
            <a:ext cx="777240" cy="347472"/>
          </a:xfrm>
          <a:prstGeom prst="rect">
            <a:avLst/>
          </a:prstGeom>
          <a:noFill/>
          <a:ln/>
        </p:spPr>
        <p:txBody>
          <a:bodyPr wrap="square" lIns="0" tIns="0" rIns="0" bIns="0" rtlCol="0" anchor="ctr"/>
          <a:lstStyle/>
          <a:p>
            <a:pPr algn="ctr" indent="0" marL="0">
              <a:buNone/>
            </a:pPr>
            <a:r>
              <a:rPr lang="en-US" sz="1000" b="1" dirty="0">
                <a:solidFill>
                  <a:srgbClr val="FFFFFF"/>
                </a:solidFill>
              </a:rPr>
              <a:t>High</a:t>
            </a:r>
            <a:endParaRPr lang="en-US" sz="1000" dirty="0"/>
          </a:p>
        </p:txBody>
      </p:sp>
      <p:sp>
        <p:nvSpPr>
          <p:cNvPr id="46" name="Shape 44"/>
          <p:cNvSpPr/>
          <p:nvPr/>
        </p:nvSpPr>
        <p:spPr>
          <a:xfrm>
            <a:off x="274320" y="3593592"/>
            <a:ext cx="8503920" cy="502920"/>
          </a:xfrm>
          <a:prstGeom prst="rect">
            <a:avLst/>
          </a:prstGeom>
          <a:solidFill>
            <a:srgbClr val="FFFFFF"/>
          </a:solidFill>
          <a:ln w="6350">
            <a:solidFill>
              <a:srgbClr val="DDDDDD"/>
            </a:solidFill>
            <a:prstDash val="solid"/>
          </a:ln>
        </p:spPr>
      </p:sp>
      <p:sp>
        <p:nvSpPr>
          <p:cNvPr id="47" name="Text 45"/>
          <p:cNvSpPr txBox="1"/>
          <p:nvPr/>
        </p:nvSpPr>
        <p:spPr>
          <a:xfrm>
            <a:off x="320040" y="3593592"/>
            <a:ext cx="502920" cy="502920"/>
          </a:xfrm>
          <a:prstGeom prst="rect">
            <a:avLst/>
          </a:prstGeom>
          <a:noFill/>
          <a:ln/>
        </p:spPr>
        <p:txBody>
          <a:bodyPr wrap="square" lIns="25400" tIns="25400" rIns="25400" bIns="25400" rtlCol="0" anchor="ctr"/>
          <a:lstStyle/>
          <a:p>
            <a:pPr indent="0" marL="0">
              <a:buNone/>
            </a:pPr>
            <a:r>
              <a:rPr lang="en-US" sz="1000" b="1" dirty="0">
                <a:solidFill>
                  <a:srgbClr val="1A2744"/>
                </a:solidFill>
                <a:latin typeface="Courier New" pitchFamily="34" charset="0"/>
                <a:ea typeface="Courier New" pitchFamily="34" charset="-122"/>
                <a:cs typeface="Courier New" pitchFamily="34" charset="-120"/>
              </a:rPr>
              <a:t>F-02</a:t>
            </a:r>
            <a:endParaRPr lang="en-US" sz="1000" dirty="0"/>
          </a:p>
        </p:txBody>
      </p:sp>
      <p:sp>
        <p:nvSpPr>
          <p:cNvPr id="48" name="Text 46"/>
          <p:cNvSpPr txBox="1"/>
          <p:nvPr/>
        </p:nvSpPr>
        <p:spPr>
          <a:xfrm>
            <a:off x="868680" y="3593592"/>
            <a:ext cx="822960" cy="502920"/>
          </a:xfrm>
          <a:prstGeom prst="rect">
            <a:avLst/>
          </a:prstGeom>
          <a:noFill/>
          <a:ln/>
        </p:spPr>
        <p:txBody>
          <a:bodyPr wrap="square" lIns="25400" tIns="25400" rIns="25400" bIns="25400" rtlCol="0" anchor="ctr"/>
          <a:lstStyle/>
          <a:p>
            <a:pPr indent="0" marL="0">
              <a:buNone/>
            </a:pPr>
            <a:r>
              <a:rPr lang="en-US" sz="1100" dirty="0">
                <a:solidFill>
                  <a:srgbClr val="1A2744"/>
                </a:solidFill>
              </a:rPr>
              <a:t>SMB Null Session</a:t>
            </a:r>
            <a:endParaRPr lang="en-US" sz="1100" dirty="0"/>
          </a:p>
        </p:txBody>
      </p:sp>
      <p:sp>
        <p:nvSpPr>
          <p:cNvPr id="49" name="Text 47"/>
          <p:cNvSpPr txBox="1"/>
          <p:nvPr/>
        </p:nvSpPr>
        <p:spPr>
          <a:xfrm>
            <a:off x="1783080" y="3593592"/>
            <a:ext cx="4023360" cy="502920"/>
          </a:xfrm>
          <a:prstGeom prst="rect">
            <a:avLst/>
          </a:prstGeom>
          <a:noFill/>
          <a:ln/>
        </p:spPr>
        <p:txBody>
          <a:bodyPr wrap="square" lIns="25400" tIns="25400" rIns="25400" bIns="25400" rtlCol="0" anchor="ctr"/>
          <a:lstStyle/>
          <a:p>
            <a:pPr indent="0" marL="0">
              <a:buNone/>
            </a:pPr>
            <a:r>
              <a:rPr lang="en-US" sz="900" dirty="0">
                <a:solidFill>
                  <a:srgbClr val="2C3E50"/>
                </a:solidFill>
                <a:latin typeface="Courier New" pitchFamily="34" charset="0"/>
                <a:ea typeface="Courier New" pitchFamily="34" charset="-122"/>
                <a:cs typeface="Courier New" pitchFamily="34" charset="-120"/>
              </a:rPr>
              <a:t>AV:N/AC:L/PR:N/UI:N/S:U/C:L/I:N/A:N</a:t>
            </a:r>
            <a:endParaRPr lang="en-US" sz="900" dirty="0"/>
          </a:p>
        </p:txBody>
      </p:sp>
      <p:sp>
        <p:nvSpPr>
          <p:cNvPr id="50" name="Text 48"/>
          <p:cNvSpPr txBox="1"/>
          <p:nvPr/>
        </p:nvSpPr>
        <p:spPr>
          <a:xfrm>
            <a:off x="5897880" y="3593592"/>
            <a:ext cx="914400" cy="502920"/>
          </a:xfrm>
          <a:prstGeom prst="rect">
            <a:avLst/>
          </a:prstGeom>
          <a:noFill/>
          <a:ln/>
        </p:spPr>
        <p:txBody>
          <a:bodyPr wrap="square" lIns="0" tIns="0" rIns="0" bIns="0" rtlCol="0" anchor="ctr"/>
          <a:lstStyle/>
          <a:p>
            <a:pPr algn="ctr" indent="0" marL="0">
              <a:buNone/>
            </a:pPr>
            <a:r>
              <a:rPr lang="en-US" sz="1300" b="1" dirty="0">
                <a:solidFill>
                  <a:srgbClr val="E8A020"/>
                </a:solidFill>
              </a:rPr>
              <a:t>5.3</a:t>
            </a:r>
            <a:endParaRPr lang="en-US" sz="1300" dirty="0"/>
          </a:p>
        </p:txBody>
      </p:sp>
      <p:sp>
        <p:nvSpPr>
          <p:cNvPr id="51" name="Shape 49"/>
          <p:cNvSpPr/>
          <p:nvPr/>
        </p:nvSpPr>
        <p:spPr>
          <a:xfrm>
            <a:off x="6903720" y="3666744"/>
            <a:ext cx="777240" cy="347472"/>
          </a:xfrm>
          <a:prstGeom prst="rect">
            <a:avLst/>
          </a:prstGeom>
          <a:solidFill>
            <a:srgbClr val="E8A020"/>
          </a:solidFill>
          <a:ln w="12700">
            <a:solidFill>
              <a:srgbClr val="E8A020"/>
            </a:solidFill>
            <a:prstDash val="solid"/>
          </a:ln>
        </p:spPr>
      </p:sp>
      <p:sp>
        <p:nvSpPr>
          <p:cNvPr id="52" name="Text 50"/>
          <p:cNvSpPr txBox="1"/>
          <p:nvPr/>
        </p:nvSpPr>
        <p:spPr>
          <a:xfrm>
            <a:off x="6903720" y="3666744"/>
            <a:ext cx="777240" cy="347472"/>
          </a:xfrm>
          <a:prstGeom prst="rect">
            <a:avLst/>
          </a:prstGeom>
          <a:noFill/>
          <a:ln/>
        </p:spPr>
        <p:txBody>
          <a:bodyPr wrap="square" lIns="0" tIns="0" rIns="0" bIns="0" rtlCol="0" anchor="ctr"/>
          <a:lstStyle/>
          <a:p>
            <a:pPr algn="ctr" indent="0" marL="0">
              <a:buNone/>
            </a:pPr>
            <a:r>
              <a:rPr lang="en-US" sz="1000" b="1" dirty="0">
                <a:solidFill>
                  <a:srgbClr val="FFFFFF"/>
                </a:solidFill>
              </a:rPr>
              <a:t>Medium</a:t>
            </a:r>
            <a:endParaRPr lang="en-US" sz="1000" dirty="0"/>
          </a:p>
        </p:txBody>
      </p:sp>
      <p:sp>
        <p:nvSpPr>
          <p:cNvPr id="53" name="Shape 51"/>
          <p:cNvSpPr/>
          <p:nvPr/>
        </p:nvSpPr>
        <p:spPr>
          <a:xfrm>
            <a:off x="274320" y="4160520"/>
            <a:ext cx="8503920" cy="502920"/>
          </a:xfrm>
          <a:prstGeom prst="rect">
            <a:avLst/>
          </a:prstGeom>
          <a:solidFill>
            <a:srgbClr val="EEF4FB"/>
          </a:solidFill>
          <a:ln w="6350">
            <a:solidFill>
              <a:srgbClr val="DDDDDD"/>
            </a:solidFill>
            <a:prstDash val="solid"/>
          </a:ln>
        </p:spPr>
      </p:sp>
      <p:sp>
        <p:nvSpPr>
          <p:cNvPr id="54" name="Text 52"/>
          <p:cNvSpPr txBox="1"/>
          <p:nvPr/>
        </p:nvSpPr>
        <p:spPr>
          <a:xfrm>
            <a:off x="320040" y="4160520"/>
            <a:ext cx="502920" cy="502920"/>
          </a:xfrm>
          <a:prstGeom prst="rect">
            <a:avLst/>
          </a:prstGeom>
          <a:noFill/>
          <a:ln/>
        </p:spPr>
        <p:txBody>
          <a:bodyPr wrap="square" lIns="25400" tIns="25400" rIns="25400" bIns="25400" rtlCol="0" anchor="ctr"/>
          <a:lstStyle/>
          <a:p>
            <a:pPr indent="0" marL="0">
              <a:buNone/>
            </a:pPr>
            <a:r>
              <a:rPr lang="en-US" sz="1000" b="1" dirty="0">
                <a:solidFill>
                  <a:srgbClr val="1A2744"/>
                </a:solidFill>
                <a:latin typeface="Courier New" pitchFamily="34" charset="0"/>
                <a:ea typeface="Courier New" pitchFamily="34" charset="-122"/>
                <a:cs typeface="Courier New" pitchFamily="34" charset="-120"/>
              </a:rPr>
              <a:t>F-06</a:t>
            </a:r>
            <a:endParaRPr lang="en-US" sz="1000" dirty="0"/>
          </a:p>
        </p:txBody>
      </p:sp>
      <p:sp>
        <p:nvSpPr>
          <p:cNvPr id="55" name="Text 53"/>
          <p:cNvSpPr txBox="1"/>
          <p:nvPr/>
        </p:nvSpPr>
        <p:spPr>
          <a:xfrm>
            <a:off x="868680" y="4160520"/>
            <a:ext cx="822960" cy="502920"/>
          </a:xfrm>
          <a:prstGeom prst="rect">
            <a:avLst/>
          </a:prstGeom>
          <a:noFill/>
          <a:ln/>
        </p:spPr>
        <p:txBody>
          <a:bodyPr wrap="square" lIns="25400" tIns="25400" rIns="25400" bIns="25400" rtlCol="0" anchor="ctr"/>
          <a:lstStyle/>
          <a:p>
            <a:pPr indent="0" marL="0">
              <a:buNone/>
            </a:pPr>
            <a:r>
              <a:rPr lang="en-US" sz="1100" dirty="0">
                <a:solidFill>
                  <a:srgbClr val="1A2744"/>
                </a:solidFill>
              </a:rPr>
              <a:t>Self-signed TLS Cert</a:t>
            </a:r>
            <a:endParaRPr lang="en-US" sz="1100" dirty="0"/>
          </a:p>
        </p:txBody>
      </p:sp>
      <p:sp>
        <p:nvSpPr>
          <p:cNvPr id="56" name="Text 54"/>
          <p:cNvSpPr txBox="1"/>
          <p:nvPr/>
        </p:nvSpPr>
        <p:spPr>
          <a:xfrm>
            <a:off x="1783080" y="4160520"/>
            <a:ext cx="4023360" cy="502920"/>
          </a:xfrm>
          <a:prstGeom prst="rect">
            <a:avLst/>
          </a:prstGeom>
          <a:noFill/>
          <a:ln/>
        </p:spPr>
        <p:txBody>
          <a:bodyPr wrap="square" lIns="25400" tIns="25400" rIns="25400" bIns="25400" rtlCol="0" anchor="ctr"/>
          <a:lstStyle/>
          <a:p>
            <a:pPr indent="0" marL="0">
              <a:buNone/>
            </a:pPr>
            <a:r>
              <a:rPr lang="en-US" sz="900" dirty="0">
                <a:solidFill>
                  <a:srgbClr val="2C3E50"/>
                </a:solidFill>
                <a:latin typeface="Courier New" pitchFamily="34" charset="0"/>
                <a:ea typeface="Courier New" pitchFamily="34" charset="-122"/>
                <a:cs typeface="Courier New" pitchFamily="34" charset="-120"/>
              </a:rPr>
              <a:t>AV:A/AC:H/PR:N/UI:R/S:U/C:L/I:N/A:N</a:t>
            </a:r>
            <a:endParaRPr lang="en-US" sz="900" dirty="0"/>
          </a:p>
        </p:txBody>
      </p:sp>
      <p:sp>
        <p:nvSpPr>
          <p:cNvPr id="57" name="Text 55"/>
          <p:cNvSpPr txBox="1"/>
          <p:nvPr/>
        </p:nvSpPr>
        <p:spPr>
          <a:xfrm>
            <a:off x="5897880" y="4160520"/>
            <a:ext cx="914400" cy="502920"/>
          </a:xfrm>
          <a:prstGeom prst="rect">
            <a:avLst/>
          </a:prstGeom>
          <a:noFill/>
          <a:ln/>
        </p:spPr>
        <p:txBody>
          <a:bodyPr wrap="square" lIns="0" tIns="0" rIns="0" bIns="0" rtlCol="0" anchor="ctr"/>
          <a:lstStyle/>
          <a:p>
            <a:pPr algn="ctr" indent="0" marL="0">
              <a:buNone/>
            </a:pPr>
            <a:r>
              <a:rPr lang="en-US" sz="1300" b="1" dirty="0">
                <a:solidFill>
                  <a:srgbClr val="27AE60"/>
                </a:solidFill>
              </a:rPr>
              <a:t>3.1</a:t>
            </a:r>
            <a:endParaRPr lang="en-US" sz="1300" dirty="0"/>
          </a:p>
        </p:txBody>
      </p:sp>
      <p:sp>
        <p:nvSpPr>
          <p:cNvPr id="58" name="Shape 56"/>
          <p:cNvSpPr/>
          <p:nvPr/>
        </p:nvSpPr>
        <p:spPr>
          <a:xfrm>
            <a:off x="6903720" y="4233672"/>
            <a:ext cx="777240" cy="347472"/>
          </a:xfrm>
          <a:prstGeom prst="rect">
            <a:avLst/>
          </a:prstGeom>
          <a:solidFill>
            <a:srgbClr val="27AE60"/>
          </a:solidFill>
          <a:ln w="12700">
            <a:solidFill>
              <a:srgbClr val="27AE60"/>
            </a:solidFill>
            <a:prstDash val="solid"/>
          </a:ln>
        </p:spPr>
      </p:sp>
      <p:sp>
        <p:nvSpPr>
          <p:cNvPr id="59" name="Text 57"/>
          <p:cNvSpPr txBox="1"/>
          <p:nvPr/>
        </p:nvSpPr>
        <p:spPr>
          <a:xfrm>
            <a:off x="6903720" y="4233672"/>
            <a:ext cx="777240" cy="347472"/>
          </a:xfrm>
          <a:prstGeom prst="rect">
            <a:avLst/>
          </a:prstGeom>
          <a:noFill/>
          <a:ln/>
        </p:spPr>
        <p:txBody>
          <a:bodyPr wrap="square" lIns="0" tIns="0" rIns="0" bIns="0" rtlCol="0" anchor="ctr"/>
          <a:lstStyle/>
          <a:p>
            <a:pPr algn="ctr" indent="0" marL="0">
              <a:buNone/>
            </a:pPr>
            <a:r>
              <a:rPr lang="en-US" sz="1000" b="1" dirty="0">
                <a:solidFill>
                  <a:srgbClr val="FFFFFF"/>
                </a:solidFill>
              </a:rPr>
              <a:t>Low</a:t>
            </a:r>
            <a:endParaRPr lang="en-US" sz="1000" dirty="0"/>
          </a:p>
        </p:txBody>
      </p:sp>
      <p:sp>
        <p:nvSpPr>
          <p:cNvPr id="60" name="Text 58"/>
          <p:cNvSpPr txBox="1"/>
          <p:nvPr/>
        </p:nvSpPr>
        <p:spPr>
          <a:xfrm>
            <a:off x="274320" y="4736592"/>
            <a:ext cx="8503920" cy="256032"/>
          </a:xfrm>
          <a:prstGeom prst="rect">
            <a:avLst/>
          </a:prstGeom>
          <a:noFill/>
          <a:ln/>
        </p:spPr>
        <p:txBody>
          <a:bodyPr wrap="square" lIns="0" tIns="0" rIns="0" bIns="0" rtlCol="0" anchor="ctr"/>
          <a:lstStyle/>
          <a:p>
            <a:pPr indent="0" marL="0">
              <a:buNone/>
            </a:pPr>
            <a:r>
              <a:rPr lang="en-US" sz="1000" i="1" dirty="0">
                <a:solidFill>
                  <a:srgbClr val="00B4C8"/>
                </a:solidFill>
              </a:rPr>
              <a:t>Lab A4 - CVSS Worksheet: calculate these scores yourself using the interactive scoring tool</a:t>
            </a:r>
            <a:endParaRPr lang="en-US" sz="1000" dirty="0"/>
          </a:p>
        </p:txBody>
      </p:sp>
      <p:sp>
        <p:nvSpPr>
          <p:cNvPr id="61" name="Text 59"/>
          <p:cNvSpPr txBox="1"/>
          <p:nvPr/>
        </p:nvSpPr>
        <p:spPr>
          <a:xfrm>
            <a:off x="0" y="4892040"/>
            <a:ext cx="9144000" cy="256032"/>
          </a:xfrm>
          <a:prstGeom prst="rect">
            <a:avLst/>
          </a:prstGeom>
          <a:noFill/>
          <a:ln/>
        </p:spPr>
        <p:txBody>
          <a:bodyPr wrap="square" lIns="0" tIns="0" rIns="0" bIns="0" rtlCol="0" anchor="ctr"/>
          <a:lstStyle/>
          <a:p>
            <a:pPr algn="ctr" indent="0" marL="0">
              <a:buNone/>
            </a:pPr>
            <a:r>
              <a:rPr lang="en-US" sz="900" dirty="0">
                <a:solidFill>
                  <a:srgbClr val="7F8C8D"/>
                </a:solidFill>
              </a:rPr>
              <a:t>My Cyber Academy | MCA CREST CPSA - Module A: Soft Skills</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A2744"/>
          </a:solidFill>
          <a:ln w="12700">
            <a:solidFill>
              <a:srgbClr val="1A2744"/>
            </a:solidFill>
            <a:prstDash val="solid"/>
          </a:ln>
        </p:spPr>
      </p:sp>
      <p:sp>
        <p:nvSpPr>
          <p:cNvPr id="3" name="Shape 1"/>
          <p:cNvSpPr/>
          <p:nvPr/>
        </p:nvSpPr>
        <p:spPr>
          <a:xfrm>
            <a:off x="0" y="0"/>
            <a:ext cx="228600" cy="5143500"/>
          </a:xfrm>
          <a:prstGeom prst="rect">
            <a:avLst/>
          </a:prstGeom>
          <a:solidFill>
            <a:srgbClr val="E8A020"/>
          </a:solidFill>
          <a:ln w="12700">
            <a:solidFill>
              <a:srgbClr val="E8A020"/>
            </a:solidFill>
            <a:prstDash val="solid"/>
          </a:ln>
        </p:spPr>
      </p:sp>
      <p:sp>
        <p:nvSpPr>
          <p:cNvPr id="4" name="Text 2"/>
          <p:cNvSpPr txBox="1"/>
          <p:nvPr/>
        </p:nvSpPr>
        <p:spPr>
          <a:xfrm>
            <a:off x="548640" y="1097280"/>
            <a:ext cx="2286000" cy="1097280"/>
          </a:xfrm>
          <a:prstGeom prst="rect">
            <a:avLst/>
          </a:prstGeom>
          <a:noFill/>
          <a:ln/>
        </p:spPr>
        <p:txBody>
          <a:bodyPr wrap="square" lIns="0" tIns="0" rIns="0" bIns="0" rtlCol="0" anchor="ctr"/>
          <a:lstStyle/>
          <a:p>
            <a:pPr algn="l" indent="0" marL="0">
              <a:buNone/>
            </a:pPr>
            <a:r>
              <a:rPr lang="en-US" sz="8000" b="1" dirty="0">
                <a:solidFill>
                  <a:srgbClr val="2C1810"/>
                </a:solidFill>
              </a:rPr>
              <a:t>A5</a:t>
            </a:r>
            <a:endParaRPr lang="en-US" sz="8000" dirty="0"/>
          </a:p>
        </p:txBody>
      </p:sp>
      <p:sp>
        <p:nvSpPr>
          <p:cNvPr id="5" name="Text 3"/>
          <p:cNvSpPr txBox="1"/>
          <p:nvPr/>
        </p:nvSpPr>
        <p:spPr>
          <a:xfrm>
            <a:off x="548640" y="2148840"/>
            <a:ext cx="8229600" cy="914400"/>
          </a:xfrm>
          <a:prstGeom prst="rect">
            <a:avLst/>
          </a:prstGeom>
          <a:noFill/>
          <a:ln/>
        </p:spPr>
        <p:txBody>
          <a:bodyPr wrap="square" lIns="0" tIns="0" rIns="0" bIns="0" rtlCol="0" anchor="ctr"/>
          <a:lstStyle/>
          <a:p>
            <a:pPr algn="l" indent="0" marL="0">
              <a:buNone/>
            </a:pPr>
            <a:r>
              <a:rPr lang="en-US" sz="3400" b="1" dirty="0">
                <a:solidFill>
                  <a:srgbClr val="FFFFFF"/>
                </a:solidFill>
              </a:rPr>
              <a:t>Compliance</a:t>
            </a:r>
            <a:endParaRPr lang="en-US" sz="3400" dirty="0"/>
          </a:p>
          <a:p>
            <a:pPr algn="l" indent="0" marL="0">
              <a:buNone/>
            </a:pPr>
            <a:r>
              <a:rPr lang="en-US" sz="3400" b="1" dirty="0">
                <a:solidFill>
                  <a:srgbClr val="FFFFFF"/>
                </a:solidFill>
              </a:rPr>
              <a:t>Mapping</a:t>
            </a:r>
            <a:endParaRPr lang="en-US" sz="3400" dirty="0"/>
          </a:p>
        </p:txBody>
      </p:sp>
      <p:sp>
        <p:nvSpPr>
          <p:cNvPr id="6" name="Text 4"/>
          <p:cNvSpPr txBox="1"/>
          <p:nvPr/>
        </p:nvSpPr>
        <p:spPr>
          <a:xfrm>
            <a:off x="548640" y="3154680"/>
            <a:ext cx="7772400" cy="457200"/>
          </a:xfrm>
          <a:prstGeom prst="rect">
            <a:avLst/>
          </a:prstGeom>
          <a:noFill/>
          <a:ln/>
        </p:spPr>
        <p:txBody>
          <a:bodyPr wrap="square" lIns="0" tIns="0" rIns="0" bIns="0" rtlCol="0" anchor="ctr"/>
          <a:lstStyle/>
          <a:p>
            <a:pPr algn="l" indent="0" marL="0">
              <a:buNone/>
            </a:pPr>
            <a:r>
              <a:rPr lang="en-US" sz="1600" dirty="0">
                <a:solidFill>
                  <a:srgbClr val="D4A574"/>
                </a:solidFill>
              </a:rPr>
              <a:t>Linking technical findings to regulatory and legal obligations</a:t>
            </a:r>
            <a:endParaRPr lang="en-US" sz="1600" dirty="0"/>
          </a:p>
        </p:txBody>
      </p:sp>
      <p:sp>
        <p:nvSpPr>
          <p:cNvPr id="7" name="Text 5"/>
          <p:cNvSpPr txBox="1"/>
          <p:nvPr/>
        </p:nvSpPr>
        <p:spPr>
          <a:xfrm>
            <a:off x="0" y="4892040"/>
            <a:ext cx="9144000" cy="256032"/>
          </a:xfrm>
          <a:prstGeom prst="rect">
            <a:avLst/>
          </a:prstGeom>
          <a:noFill/>
          <a:ln/>
        </p:spPr>
        <p:txBody>
          <a:bodyPr wrap="square" lIns="0" tIns="0" rIns="0" bIns="0" rtlCol="0" anchor="ctr"/>
          <a:lstStyle/>
          <a:p>
            <a:pPr algn="ctr" indent="0" marL="0">
              <a:buNone/>
            </a:pPr>
            <a:r>
              <a:rPr lang="en-US" sz="900" dirty="0">
                <a:solidFill>
                  <a:srgbClr val="5A7FAA"/>
                </a:solidFill>
              </a:rPr>
              <a:t>My Cyber Academy | MCA CREST CPSA - Module A: Soft Skills</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w="12700">
            <a:solidFill>
              <a:srgbClr val="FFFFFF"/>
            </a:solidFill>
            <a:prstDash val="solid"/>
          </a:ln>
        </p:spPr>
      </p:sp>
      <p:sp>
        <p:nvSpPr>
          <p:cNvPr id="3" name="Shape 1"/>
          <p:cNvSpPr/>
          <p:nvPr/>
        </p:nvSpPr>
        <p:spPr>
          <a:xfrm>
            <a:off x="0" y="0"/>
            <a:ext cx="9144000" cy="73152"/>
          </a:xfrm>
          <a:prstGeom prst="rect">
            <a:avLst/>
          </a:prstGeom>
          <a:solidFill>
            <a:srgbClr val="00B4C8"/>
          </a:solidFill>
          <a:ln w="12700">
            <a:solidFill>
              <a:srgbClr val="00B4C8"/>
            </a:solidFill>
            <a:prstDash val="solid"/>
          </a:ln>
        </p:spPr>
      </p:sp>
      <p:sp>
        <p:nvSpPr>
          <p:cNvPr id="4" name="Text 2"/>
          <p:cNvSpPr txBox="1"/>
          <p:nvPr/>
        </p:nvSpPr>
        <p:spPr>
          <a:xfrm>
            <a:off x="365760" y="137160"/>
            <a:ext cx="8412480" cy="548640"/>
          </a:xfrm>
          <a:prstGeom prst="rect">
            <a:avLst/>
          </a:prstGeom>
          <a:noFill/>
          <a:ln/>
        </p:spPr>
        <p:txBody>
          <a:bodyPr wrap="square" lIns="0" tIns="0" rIns="0" bIns="0" rtlCol="0" anchor="ctr"/>
          <a:lstStyle/>
          <a:p>
            <a:pPr algn="l" indent="0" marL="0">
              <a:buNone/>
            </a:pPr>
            <a:r>
              <a:rPr lang="en-US" sz="2800" b="1" dirty="0">
                <a:solidFill>
                  <a:srgbClr val="1A2744"/>
                </a:solidFill>
              </a:rPr>
              <a:t>Four Regulatory Frameworks - Syntex Context</a:t>
            </a:r>
            <a:endParaRPr lang="en-US" sz="2800" dirty="0"/>
          </a:p>
        </p:txBody>
      </p:sp>
      <p:sp>
        <p:nvSpPr>
          <p:cNvPr id="5" name="Shape 3"/>
          <p:cNvSpPr/>
          <p:nvPr/>
        </p:nvSpPr>
        <p:spPr>
          <a:xfrm>
            <a:off x="365760" y="713232"/>
            <a:ext cx="8412480" cy="0"/>
          </a:xfrm>
          <a:prstGeom prst="line">
            <a:avLst/>
          </a:prstGeom>
          <a:noFill/>
          <a:ln w="19050">
            <a:solidFill>
              <a:srgbClr val="00B4C8"/>
            </a:solidFill>
            <a:prstDash val="solid"/>
          </a:ln>
        </p:spPr>
      </p:sp>
      <p:sp>
        <p:nvSpPr>
          <p:cNvPr id="6" name="Shape 4"/>
          <p:cNvSpPr/>
          <p:nvPr/>
        </p:nvSpPr>
        <p:spPr>
          <a:xfrm>
            <a:off x="274320" y="868680"/>
            <a:ext cx="4206240" cy="1810512"/>
          </a:xfrm>
          <a:prstGeom prst="rect">
            <a:avLst/>
          </a:prstGeom>
          <a:solidFill>
            <a:srgbClr val="EEF4FB"/>
          </a:solidFill>
          <a:ln w="19050">
            <a:solidFill>
              <a:srgbClr val="0D3B5E"/>
            </a:solidFill>
            <a:prstDash val="solid"/>
          </a:ln>
        </p:spPr>
      </p:sp>
      <p:sp>
        <p:nvSpPr>
          <p:cNvPr id="7" name="Shape 5"/>
          <p:cNvSpPr/>
          <p:nvPr/>
        </p:nvSpPr>
        <p:spPr>
          <a:xfrm>
            <a:off x="274320" y="868680"/>
            <a:ext cx="4206240" cy="347472"/>
          </a:xfrm>
          <a:prstGeom prst="rect">
            <a:avLst/>
          </a:prstGeom>
          <a:solidFill>
            <a:srgbClr val="0D3B5E"/>
          </a:solidFill>
          <a:ln w="12700">
            <a:solidFill>
              <a:srgbClr val="0D3B5E"/>
            </a:solidFill>
            <a:prstDash val="solid"/>
          </a:ln>
        </p:spPr>
      </p:sp>
      <p:sp>
        <p:nvSpPr>
          <p:cNvPr id="8" name="Text 6"/>
          <p:cNvSpPr txBox="1"/>
          <p:nvPr/>
        </p:nvSpPr>
        <p:spPr>
          <a:xfrm>
            <a:off x="347472" y="868680"/>
            <a:ext cx="4069080" cy="347472"/>
          </a:xfrm>
          <a:prstGeom prst="rect">
            <a:avLst/>
          </a:prstGeom>
          <a:noFill/>
          <a:ln/>
        </p:spPr>
        <p:txBody>
          <a:bodyPr wrap="square" lIns="0" tIns="0" rIns="0" bIns="0" rtlCol="0" anchor="ctr"/>
          <a:lstStyle/>
          <a:p>
            <a:pPr indent="0" marL="0">
              <a:buNone/>
            </a:pPr>
            <a:r>
              <a:rPr lang="en-US" sz="1200" b="1" dirty="0">
                <a:solidFill>
                  <a:srgbClr val="FFFFFF"/>
                </a:solidFill>
              </a:rPr>
              <a:t>PCI DSS v4.0</a:t>
            </a:r>
            <a:endParaRPr lang="en-US" sz="1200" dirty="0"/>
          </a:p>
        </p:txBody>
      </p:sp>
      <p:sp>
        <p:nvSpPr>
          <p:cNvPr id="9" name="Text 7"/>
          <p:cNvSpPr txBox="1"/>
          <p:nvPr/>
        </p:nvSpPr>
        <p:spPr>
          <a:xfrm>
            <a:off x="347472" y="1252728"/>
            <a:ext cx="4069080" cy="274320"/>
          </a:xfrm>
          <a:prstGeom prst="rect">
            <a:avLst/>
          </a:prstGeom>
          <a:noFill/>
          <a:ln/>
        </p:spPr>
        <p:txBody>
          <a:bodyPr wrap="square" lIns="0" tIns="0" rIns="0" bIns="0" rtlCol="0" anchor="ctr"/>
          <a:lstStyle/>
          <a:p>
            <a:pPr indent="0" marL="0">
              <a:buNone/>
            </a:pPr>
            <a:r>
              <a:rPr lang="en-US" sz="900" i="1" dirty="0">
                <a:solidFill>
                  <a:srgbClr val="7F8C8D"/>
                </a:solidFill>
              </a:rPr>
              <a:t>Syntex processes card payments - PCI DSS is mandatory</a:t>
            </a:r>
            <a:endParaRPr lang="en-US" sz="900" dirty="0"/>
          </a:p>
        </p:txBody>
      </p:sp>
      <p:sp>
        <p:nvSpPr>
          <p:cNvPr id="10" name="Text 8"/>
          <p:cNvSpPr txBox="1"/>
          <p:nvPr/>
        </p:nvSpPr>
        <p:spPr>
          <a:xfrm>
            <a:off x="347472" y="1554480"/>
            <a:ext cx="4069080" cy="320040"/>
          </a:xfrm>
          <a:prstGeom prst="rect">
            <a:avLst/>
          </a:prstGeom>
          <a:noFill/>
          <a:ln/>
        </p:spPr>
        <p:txBody>
          <a:bodyPr wrap="square" lIns="0" tIns="0" rIns="0" bIns="0" rtlCol="0" anchor="ctr"/>
          <a:lstStyle/>
          <a:p>
            <a:pPr indent="0" marL="0">
              <a:buNone/>
            </a:pPr>
            <a:r>
              <a:rPr lang="en-US" sz="1000" dirty="0">
                <a:solidFill>
                  <a:srgbClr val="2C3E50"/>
                </a:solidFill>
              </a:rPr>
              <a:t>Req 6.3: Protect all system components from vulnerabilities</a:t>
            </a:r>
            <a:endParaRPr lang="en-US" sz="1000" dirty="0"/>
          </a:p>
        </p:txBody>
      </p:sp>
      <p:sp>
        <p:nvSpPr>
          <p:cNvPr id="11" name="Text 9"/>
          <p:cNvSpPr txBox="1"/>
          <p:nvPr/>
        </p:nvSpPr>
        <p:spPr>
          <a:xfrm>
            <a:off x="347472" y="1901952"/>
            <a:ext cx="4069080" cy="320040"/>
          </a:xfrm>
          <a:prstGeom prst="rect">
            <a:avLst/>
          </a:prstGeom>
          <a:noFill/>
          <a:ln/>
        </p:spPr>
        <p:txBody>
          <a:bodyPr wrap="square" lIns="0" tIns="0" rIns="0" bIns="0" rtlCol="0" anchor="ctr"/>
          <a:lstStyle/>
          <a:p>
            <a:pPr indent="0" marL="0">
              <a:buNone/>
            </a:pPr>
            <a:r>
              <a:rPr lang="en-US" sz="1000" dirty="0">
                <a:solidFill>
                  <a:srgbClr val="2C3E50"/>
                </a:solidFill>
              </a:rPr>
              <a:t>Req 11.3: Annual internal + external penetration testing</a:t>
            </a:r>
            <a:endParaRPr lang="en-US" sz="1000" dirty="0"/>
          </a:p>
        </p:txBody>
      </p:sp>
      <p:sp>
        <p:nvSpPr>
          <p:cNvPr id="12" name="Text 10"/>
          <p:cNvSpPr txBox="1"/>
          <p:nvPr/>
        </p:nvSpPr>
        <p:spPr>
          <a:xfrm>
            <a:off x="347472" y="2249424"/>
            <a:ext cx="4069080" cy="320040"/>
          </a:xfrm>
          <a:prstGeom prst="rect">
            <a:avLst/>
          </a:prstGeom>
          <a:noFill/>
          <a:ln/>
        </p:spPr>
        <p:txBody>
          <a:bodyPr wrap="square" lIns="0" tIns="0" rIns="0" bIns="0" rtlCol="0" anchor="ctr"/>
          <a:lstStyle/>
          <a:p>
            <a:pPr indent="0" marL="0">
              <a:buNone/>
            </a:pPr>
            <a:r>
              <a:rPr lang="en-US" sz="1000" dirty="0">
                <a:solidFill>
                  <a:srgbClr val="2C3E50"/>
                </a:solidFill>
              </a:rPr>
              <a:t>Req 8.2: Unique user IDs, strong passwords required</a:t>
            </a:r>
            <a:endParaRPr lang="en-US" sz="1000" dirty="0"/>
          </a:p>
        </p:txBody>
      </p:sp>
      <p:sp>
        <p:nvSpPr>
          <p:cNvPr id="13" name="Shape 11"/>
          <p:cNvSpPr/>
          <p:nvPr/>
        </p:nvSpPr>
        <p:spPr>
          <a:xfrm>
            <a:off x="4617720" y="868680"/>
            <a:ext cx="4206240" cy="1810512"/>
          </a:xfrm>
          <a:prstGeom prst="rect">
            <a:avLst/>
          </a:prstGeom>
          <a:solidFill>
            <a:srgbClr val="EEF4FB"/>
          </a:solidFill>
          <a:ln w="19050">
            <a:solidFill>
              <a:srgbClr val="00B4C8"/>
            </a:solidFill>
            <a:prstDash val="solid"/>
          </a:ln>
        </p:spPr>
      </p:sp>
      <p:sp>
        <p:nvSpPr>
          <p:cNvPr id="14" name="Shape 12"/>
          <p:cNvSpPr/>
          <p:nvPr/>
        </p:nvSpPr>
        <p:spPr>
          <a:xfrm>
            <a:off x="4617720" y="868680"/>
            <a:ext cx="4206240" cy="347472"/>
          </a:xfrm>
          <a:prstGeom prst="rect">
            <a:avLst/>
          </a:prstGeom>
          <a:solidFill>
            <a:srgbClr val="00B4C8"/>
          </a:solidFill>
          <a:ln w="12700">
            <a:solidFill>
              <a:srgbClr val="00B4C8"/>
            </a:solidFill>
            <a:prstDash val="solid"/>
          </a:ln>
        </p:spPr>
      </p:sp>
      <p:sp>
        <p:nvSpPr>
          <p:cNvPr id="15" name="Text 13"/>
          <p:cNvSpPr txBox="1"/>
          <p:nvPr/>
        </p:nvSpPr>
        <p:spPr>
          <a:xfrm>
            <a:off x="4690872" y="868680"/>
            <a:ext cx="4069080" cy="347472"/>
          </a:xfrm>
          <a:prstGeom prst="rect">
            <a:avLst/>
          </a:prstGeom>
          <a:noFill/>
          <a:ln/>
        </p:spPr>
        <p:txBody>
          <a:bodyPr wrap="square" lIns="0" tIns="0" rIns="0" bIns="0" rtlCol="0" anchor="ctr"/>
          <a:lstStyle/>
          <a:p>
            <a:pPr indent="0" marL="0">
              <a:buNone/>
            </a:pPr>
            <a:r>
              <a:rPr lang="en-US" sz="1200" b="1" dirty="0">
                <a:solidFill>
                  <a:srgbClr val="FFFFFF"/>
                </a:solidFill>
              </a:rPr>
              <a:t>UK GDPR / DPA 2018</a:t>
            </a:r>
            <a:endParaRPr lang="en-US" sz="1200" dirty="0"/>
          </a:p>
        </p:txBody>
      </p:sp>
      <p:sp>
        <p:nvSpPr>
          <p:cNvPr id="16" name="Text 14"/>
          <p:cNvSpPr txBox="1"/>
          <p:nvPr/>
        </p:nvSpPr>
        <p:spPr>
          <a:xfrm>
            <a:off x="4690872" y="1252728"/>
            <a:ext cx="4069080" cy="274320"/>
          </a:xfrm>
          <a:prstGeom prst="rect">
            <a:avLst/>
          </a:prstGeom>
          <a:noFill/>
          <a:ln/>
        </p:spPr>
        <p:txBody>
          <a:bodyPr wrap="square" lIns="0" tIns="0" rIns="0" bIns="0" rtlCol="0" anchor="ctr"/>
          <a:lstStyle/>
          <a:p>
            <a:pPr indent="0" marL="0">
              <a:buNone/>
            </a:pPr>
            <a:r>
              <a:rPr lang="en-US" sz="900" i="1" dirty="0">
                <a:solidFill>
                  <a:srgbClr val="7F8C8D"/>
                </a:solidFill>
              </a:rPr>
              <a:t>Syntex holds customer PII - UK GDPR compliance mandatory post-Brexit</a:t>
            </a:r>
            <a:endParaRPr lang="en-US" sz="900" dirty="0"/>
          </a:p>
        </p:txBody>
      </p:sp>
      <p:sp>
        <p:nvSpPr>
          <p:cNvPr id="17" name="Text 15"/>
          <p:cNvSpPr txBox="1"/>
          <p:nvPr/>
        </p:nvSpPr>
        <p:spPr>
          <a:xfrm>
            <a:off x="4690872" y="1554480"/>
            <a:ext cx="4069080" cy="320040"/>
          </a:xfrm>
          <a:prstGeom prst="rect">
            <a:avLst/>
          </a:prstGeom>
          <a:noFill/>
          <a:ln/>
        </p:spPr>
        <p:txBody>
          <a:bodyPr wrap="square" lIns="0" tIns="0" rIns="0" bIns="0" rtlCol="0" anchor="ctr"/>
          <a:lstStyle/>
          <a:p>
            <a:pPr indent="0" marL="0">
              <a:buNone/>
            </a:pPr>
            <a:r>
              <a:rPr lang="en-US" sz="1000" dirty="0">
                <a:solidFill>
                  <a:srgbClr val="2C3E50"/>
                </a:solidFill>
              </a:rPr>
              <a:t>Art 5(1)(f): Security of personal data processing</a:t>
            </a:r>
            <a:endParaRPr lang="en-US" sz="1000" dirty="0"/>
          </a:p>
        </p:txBody>
      </p:sp>
      <p:sp>
        <p:nvSpPr>
          <p:cNvPr id="18" name="Text 16"/>
          <p:cNvSpPr txBox="1"/>
          <p:nvPr/>
        </p:nvSpPr>
        <p:spPr>
          <a:xfrm>
            <a:off x="4690872" y="1901952"/>
            <a:ext cx="4069080" cy="320040"/>
          </a:xfrm>
          <a:prstGeom prst="rect">
            <a:avLst/>
          </a:prstGeom>
          <a:noFill/>
          <a:ln/>
        </p:spPr>
        <p:txBody>
          <a:bodyPr wrap="square" lIns="0" tIns="0" rIns="0" bIns="0" rtlCol="0" anchor="ctr"/>
          <a:lstStyle/>
          <a:p>
            <a:pPr indent="0" marL="0">
              <a:buNone/>
            </a:pPr>
            <a:r>
              <a:rPr lang="en-US" sz="1000" dirty="0">
                <a:solidFill>
                  <a:srgbClr val="2C3E50"/>
                </a:solidFill>
              </a:rPr>
              <a:t>Art 32: Technical measures - encryption, access control</a:t>
            </a:r>
            <a:endParaRPr lang="en-US" sz="1000" dirty="0"/>
          </a:p>
        </p:txBody>
      </p:sp>
      <p:sp>
        <p:nvSpPr>
          <p:cNvPr id="19" name="Text 17"/>
          <p:cNvSpPr txBox="1"/>
          <p:nvPr/>
        </p:nvSpPr>
        <p:spPr>
          <a:xfrm>
            <a:off x="4690872" y="2249424"/>
            <a:ext cx="4069080" cy="320040"/>
          </a:xfrm>
          <a:prstGeom prst="rect">
            <a:avLst/>
          </a:prstGeom>
          <a:noFill/>
          <a:ln/>
        </p:spPr>
        <p:txBody>
          <a:bodyPr wrap="square" lIns="0" tIns="0" rIns="0" bIns="0" rtlCol="0" anchor="ctr"/>
          <a:lstStyle/>
          <a:p>
            <a:pPr indent="0" marL="0">
              <a:buNone/>
            </a:pPr>
            <a:r>
              <a:rPr lang="en-US" sz="1000" dirty="0">
                <a:solidFill>
                  <a:srgbClr val="2C3E50"/>
                </a:solidFill>
              </a:rPr>
              <a:t>Art 33: 72-hour breach notification requirement</a:t>
            </a:r>
            <a:endParaRPr lang="en-US" sz="1000" dirty="0"/>
          </a:p>
        </p:txBody>
      </p:sp>
      <p:sp>
        <p:nvSpPr>
          <p:cNvPr id="20" name="Shape 18"/>
          <p:cNvSpPr/>
          <p:nvPr/>
        </p:nvSpPr>
        <p:spPr>
          <a:xfrm>
            <a:off x="274320" y="2880360"/>
            <a:ext cx="4206240" cy="1810512"/>
          </a:xfrm>
          <a:prstGeom prst="rect">
            <a:avLst/>
          </a:prstGeom>
          <a:solidFill>
            <a:srgbClr val="EEF4FB"/>
          </a:solidFill>
          <a:ln w="19050">
            <a:solidFill>
              <a:srgbClr val="5B0099"/>
            </a:solidFill>
            <a:prstDash val="solid"/>
          </a:ln>
        </p:spPr>
      </p:sp>
      <p:sp>
        <p:nvSpPr>
          <p:cNvPr id="21" name="Shape 19"/>
          <p:cNvSpPr/>
          <p:nvPr/>
        </p:nvSpPr>
        <p:spPr>
          <a:xfrm>
            <a:off x="274320" y="2880360"/>
            <a:ext cx="4206240" cy="347472"/>
          </a:xfrm>
          <a:prstGeom prst="rect">
            <a:avLst/>
          </a:prstGeom>
          <a:solidFill>
            <a:srgbClr val="5B0099"/>
          </a:solidFill>
          <a:ln w="12700">
            <a:solidFill>
              <a:srgbClr val="5B0099"/>
            </a:solidFill>
            <a:prstDash val="solid"/>
          </a:ln>
        </p:spPr>
      </p:sp>
      <p:sp>
        <p:nvSpPr>
          <p:cNvPr id="22" name="Text 20"/>
          <p:cNvSpPr txBox="1"/>
          <p:nvPr/>
        </p:nvSpPr>
        <p:spPr>
          <a:xfrm>
            <a:off x="347472" y="2880360"/>
            <a:ext cx="4069080" cy="347472"/>
          </a:xfrm>
          <a:prstGeom prst="rect">
            <a:avLst/>
          </a:prstGeom>
          <a:noFill/>
          <a:ln/>
        </p:spPr>
        <p:txBody>
          <a:bodyPr wrap="square" lIns="0" tIns="0" rIns="0" bIns="0" rtlCol="0" anchor="ctr"/>
          <a:lstStyle/>
          <a:p>
            <a:pPr indent="0" marL="0">
              <a:buNone/>
            </a:pPr>
            <a:r>
              <a:rPr lang="en-US" sz="1200" b="1" dirty="0">
                <a:solidFill>
                  <a:srgbClr val="FFFFFF"/>
                </a:solidFill>
              </a:rPr>
              <a:t>FCA SYSC</a:t>
            </a:r>
            <a:endParaRPr lang="en-US" sz="1200" dirty="0"/>
          </a:p>
        </p:txBody>
      </p:sp>
      <p:sp>
        <p:nvSpPr>
          <p:cNvPr id="23" name="Text 21"/>
          <p:cNvSpPr txBox="1"/>
          <p:nvPr/>
        </p:nvSpPr>
        <p:spPr>
          <a:xfrm>
            <a:off x="347472" y="3264408"/>
            <a:ext cx="4069080" cy="274320"/>
          </a:xfrm>
          <a:prstGeom prst="rect">
            <a:avLst/>
          </a:prstGeom>
          <a:noFill/>
          <a:ln/>
        </p:spPr>
        <p:txBody>
          <a:bodyPr wrap="square" lIns="0" tIns="0" rIns="0" bIns="0" rtlCol="0" anchor="ctr"/>
          <a:lstStyle/>
          <a:p>
            <a:pPr indent="0" marL="0">
              <a:buNone/>
            </a:pPr>
            <a:r>
              <a:rPr lang="en-US" sz="900" i="1" dirty="0">
                <a:solidFill>
                  <a:srgbClr val="7F8C8D"/>
                </a:solidFill>
              </a:rPr>
              <a:t>Syntex is FCA-regulated - operational resilience requirements apply</a:t>
            </a:r>
            <a:endParaRPr lang="en-US" sz="900" dirty="0"/>
          </a:p>
        </p:txBody>
      </p:sp>
      <p:sp>
        <p:nvSpPr>
          <p:cNvPr id="24" name="Text 22"/>
          <p:cNvSpPr txBox="1"/>
          <p:nvPr/>
        </p:nvSpPr>
        <p:spPr>
          <a:xfrm>
            <a:off x="347472" y="3566160"/>
            <a:ext cx="4069080" cy="320040"/>
          </a:xfrm>
          <a:prstGeom prst="rect">
            <a:avLst/>
          </a:prstGeom>
          <a:noFill/>
          <a:ln/>
        </p:spPr>
        <p:txBody>
          <a:bodyPr wrap="square" lIns="0" tIns="0" rIns="0" bIns="0" rtlCol="0" anchor="ctr"/>
          <a:lstStyle/>
          <a:p>
            <a:pPr indent="0" marL="0">
              <a:buNone/>
            </a:pPr>
            <a:r>
              <a:rPr lang="en-US" sz="1000" dirty="0">
                <a:solidFill>
                  <a:srgbClr val="2C3E50"/>
                </a:solidFill>
              </a:rPr>
              <a:t>SYSC 8: Outsourcing and third-party risk management</a:t>
            </a:r>
            <a:endParaRPr lang="en-US" sz="1000" dirty="0"/>
          </a:p>
        </p:txBody>
      </p:sp>
      <p:sp>
        <p:nvSpPr>
          <p:cNvPr id="25" name="Text 23"/>
          <p:cNvSpPr txBox="1"/>
          <p:nvPr/>
        </p:nvSpPr>
        <p:spPr>
          <a:xfrm>
            <a:off x="347472" y="3913632"/>
            <a:ext cx="4069080" cy="320040"/>
          </a:xfrm>
          <a:prstGeom prst="rect">
            <a:avLst/>
          </a:prstGeom>
          <a:noFill/>
          <a:ln/>
        </p:spPr>
        <p:txBody>
          <a:bodyPr wrap="square" lIns="0" tIns="0" rIns="0" bIns="0" rtlCol="0" anchor="ctr"/>
          <a:lstStyle/>
          <a:p>
            <a:pPr indent="0" marL="0">
              <a:buNone/>
            </a:pPr>
            <a:r>
              <a:rPr lang="en-US" sz="1000" dirty="0">
                <a:solidFill>
                  <a:srgbClr val="2C3E50"/>
                </a:solidFill>
              </a:rPr>
              <a:t>SYSC 15A: Operational resilience - impact tolerances</a:t>
            </a:r>
            <a:endParaRPr lang="en-US" sz="1000" dirty="0"/>
          </a:p>
        </p:txBody>
      </p:sp>
      <p:sp>
        <p:nvSpPr>
          <p:cNvPr id="26" name="Text 24"/>
          <p:cNvSpPr txBox="1"/>
          <p:nvPr/>
        </p:nvSpPr>
        <p:spPr>
          <a:xfrm>
            <a:off x="347472" y="4261104"/>
            <a:ext cx="4069080" cy="320040"/>
          </a:xfrm>
          <a:prstGeom prst="rect">
            <a:avLst/>
          </a:prstGeom>
          <a:noFill/>
          <a:ln/>
        </p:spPr>
        <p:txBody>
          <a:bodyPr wrap="square" lIns="0" tIns="0" rIns="0" bIns="0" rtlCol="0" anchor="ctr"/>
          <a:lstStyle/>
          <a:p>
            <a:pPr indent="0" marL="0">
              <a:buNone/>
            </a:pPr>
            <a:r>
              <a:rPr lang="en-US" sz="1000" dirty="0">
                <a:solidFill>
                  <a:srgbClr val="2C3E50"/>
                </a:solidFill>
              </a:rPr>
              <a:t>PS21/3: Operational resilience rules for UK firms</a:t>
            </a:r>
            <a:endParaRPr lang="en-US" sz="1000" dirty="0"/>
          </a:p>
        </p:txBody>
      </p:sp>
      <p:sp>
        <p:nvSpPr>
          <p:cNvPr id="27" name="Shape 25"/>
          <p:cNvSpPr/>
          <p:nvPr/>
        </p:nvSpPr>
        <p:spPr>
          <a:xfrm>
            <a:off x="4617720" y="2880360"/>
            <a:ext cx="4206240" cy="1810512"/>
          </a:xfrm>
          <a:prstGeom prst="rect">
            <a:avLst/>
          </a:prstGeom>
          <a:solidFill>
            <a:srgbClr val="EEF4FB"/>
          </a:solidFill>
          <a:ln w="19050">
            <a:solidFill>
              <a:srgbClr val="8B0000"/>
            </a:solidFill>
            <a:prstDash val="solid"/>
          </a:ln>
        </p:spPr>
      </p:sp>
      <p:sp>
        <p:nvSpPr>
          <p:cNvPr id="28" name="Shape 26"/>
          <p:cNvSpPr/>
          <p:nvPr/>
        </p:nvSpPr>
        <p:spPr>
          <a:xfrm>
            <a:off x="4617720" y="2880360"/>
            <a:ext cx="4206240" cy="347472"/>
          </a:xfrm>
          <a:prstGeom prst="rect">
            <a:avLst/>
          </a:prstGeom>
          <a:solidFill>
            <a:srgbClr val="8B0000"/>
          </a:solidFill>
          <a:ln w="12700">
            <a:solidFill>
              <a:srgbClr val="8B0000"/>
            </a:solidFill>
            <a:prstDash val="solid"/>
          </a:ln>
        </p:spPr>
      </p:sp>
      <p:sp>
        <p:nvSpPr>
          <p:cNvPr id="29" name="Text 27"/>
          <p:cNvSpPr txBox="1"/>
          <p:nvPr/>
        </p:nvSpPr>
        <p:spPr>
          <a:xfrm>
            <a:off x="4690872" y="2880360"/>
            <a:ext cx="4069080" cy="347472"/>
          </a:xfrm>
          <a:prstGeom prst="rect">
            <a:avLst/>
          </a:prstGeom>
          <a:noFill/>
          <a:ln/>
        </p:spPr>
        <p:txBody>
          <a:bodyPr wrap="square" lIns="0" tIns="0" rIns="0" bIns="0" rtlCol="0" anchor="ctr"/>
          <a:lstStyle/>
          <a:p>
            <a:pPr indent="0" marL="0">
              <a:buNone/>
            </a:pPr>
            <a:r>
              <a:rPr lang="en-US" sz="1200" b="1" dirty="0">
                <a:solidFill>
                  <a:srgbClr val="FFFFFF"/>
                </a:solidFill>
              </a:rPr>
              <a:t>CMA 1990</a:t>
            </a:r>
            <a:endParaRPr lang="en-US" sz="1200" dirty="0"/>
          </a:p>
        </p:txBody>
      </p:sp>
      <p:sp>
        <p:nvSpPr>
          <p:cNvPr id="30" name="Text 28"/>
          <p:cNvSpPr txBox="1"/>
          <p:nvPr/>
        </p:nvSpPr>
        <p:spPr>
          <a:xfrm>
            <a:off x="4690872" y="3264408"/>
            <a:ext cx="4069080" cy="274320"/>
          </a:xfrm>
          <a:prstGeom prst="rect">
            <a:avLst/>
          </a:prstGeom>
          <a:noFill/>
          <a:ln/>
        </p:spPr>
        <p:txBody>
          <a:bodyPr wrap="square" lIns="0" tIns="0" rIns="0" bIns="0" rtlCol="0" anchor="ctr"/>
          <a:lstStyle/>
          <a:p>
            <a:pPr indent="0" marL="0">
              <a:buNone/>
            </a:pPr>
            <a:r>
              <a:rPr lang="en-US" sz="900" i="1" dirty="0">
                <a:solidFill>
                  <a:srgbClr val="7F8C8D"/>
                </a:solidFill>
              </a:rPr>
              <a:t>The Computer Misuse Act governs authorisation for the test itself</a:t>
            </a:r>
            <a:endParaRPr lang="en-US" sz="900" dirty="0"/>
          </a:p>
        </p:txBody>
      </p:sp>
      <p:sp>
        <p:nvSpPr>
          <p:cNvPr id="31" name="Text 29"/>
          <p:cNvSpPr txBox="1"/>
          <p:nvPr/>
        </p:nvSpPr>
        <p:spPr>
          <a:xfrm>
            <a:off x="4690872" y="3566160"/>
            <a:ext cx="4069080" cy="320040"/>
          </a:xfrm>
          <a:prstGeom prst="rect">
            <a:avLst/>
          </a:prstGeom>
          <a:noFill/>
          <a:ln/>
        </p:spPr>
        <p:txBody>
          <a:bodyPr wrap="square" lIns="0" tIns="0" rIns="0" bIns="0" rtlCol="0" anchor="ctr"/>
          <a:lstStyle/>
          <a:p>
            <a:pPr indent="0" marL="0">
              <a:buNone/>
            </a:pPr>
            <a:r>
              <a:rPr lang="en-US" sz="1000" dirty="0">
                <a:solidFill>
                  <a:srgbClr val="2C3E50"/>
                </a:solidFill>
              </a:rPr>
              <a:t>S.1: Unauthorised access is a criminal offence</a:t>
            </a:r>
            <a:endParaRPr lang="en-US" sz="1000" dirty="0"/>
          </a:p>
        </p:txBody>
      </p:sp>
      <p:sp>
        <p:nvSpPr>
          <p:cNvPr id="32" name="Text 30"/>
          <p:cNvSpPr txBox="1"/>
          <p:nvPr/>
        </p:nvSpPr>
        <p:spPr>
          <a:xfrm>
            <a:off x="4690872" y="3913632"/>
            <a:ext cx="4069080" cy="320040"/>
          </a:xfrm>
          <a:prstGeom prst="rect">
            <a:avLst/>
          </a:prstGeom>
          <a:noFill/>
          <a:ln/>
        </p:spPr>
        <p:txBody>
          <a:bodyPr wrap="square" lIns="0" tIns="0" rIns="0" bIns="0" rtlCol="0" anchor="ctr"/>
          <a:lstStyle/>
          <a:p>
            <a:pPr indent="0" marL="0">
              <a:buNone/>
            </a:pPr>
            <a:r>
              <a:rPr lang="en-US" sz="1000" dirty="0">
                <a:solidFill>
                  <a:srgbClr val="2C3E50"/>
                </a:solidFill>
              </a:rPr>
              <a:t>S.3: Unauthorised modification of computer material</a:t>
            </a:r>
            <a:endParaRPr lang="en-US" sz="1000" dirty="0"/>
          </a:p>
        </p:txBody>
      </p:sp>
      <p:sp>
        <p:nvSpPr>
          <p:cNvPr id="33" name="Text 31"/>
          <p:cNvSpPr txBox="1"/>
          <p:nvPr/>
        </p:nvSpPr>
        <p:spPr>
          <a:xfrm>
            <a:off x="4690872" y="4261104"/>
            <a:ext cx="4069080" cy="320040"/>
          </a:xfrm>
          <a:prstGeom prst="rect">
            <a:avLst/>
          </a:prstGeom>
          <a:noFill/>
          <a:ln/>
        </p:spPr>
        <p:txBody>
          <a:bodyPr wrap="square" lIns="0" tIns="0" rIns="0" bIns="0" rtlCol="0" anchor="ctr"/>
          <a:lstStyle/>
          <a:p>
            <a:pPr indent="0" marL="0">
              <a:buNone/>
            </a:pPr>
            <a:r>
              <a:rPr lang="en-US" sz="1000" dirty="0">
                <a:solidFill>
                  <a:srgbClr val="2C3E50"/>
                </a:solidFill>
              </a:rPr>
              <a:t>Permission to Test Letter provides s.1 defence</a:t>
            </a:r>
            <a:endParaRPr lang="en-US" sz="1000" dirty="0"/>
          </a:p>
        </p:txBody>
      </p:sp>
      <p:sp>
        <p:nvSpPr>
          <p:cNvPr id="34" name="Text 32"/>
          <p:cNvSpPr txBox="1"/>
          <p:nvPr/>
        </p:nvSpPr>
        <p:spPr>
          <a:xfrm>
            <a:off x="0" y="4892040"/>
            <a:ext cx="9144000" cy="256032"/>
          </a:xfrm>
          <a:prstGeom prst="rect">
            <a:avLst/>
          </a:prstGeom>
          <a:noFill/>
          <a:ln/>
        </p:spPr>
        <p:txBody>
          <a:bodyPr wrap="square" lIns="0" tIns="0" rIns="0" bIns="0" rtlCol="0" anchor="ctr"/>
          <a:lstStyle/>
          <a:p>
            <a:pPr algn="ctr" indent="0" marL="0">
              <a:buNone/>
            </a:pPr>
            <a:r>
              <a:rPr lang="en-US" sz="900" dirty="0">
                <a:solidFill>
                  <a:srgbClr val="7F8C8D"/>
                </a:solidFill>
              </a:rPr>
              <a:t>My Cyber Academy | MCA CREST CPSA - Module A: Soft Skills</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w="12700">
            <a:solidFill>
              <a:srgbClr val="FFFFFF"/>
            </a:solidFill>
            <a:prstDash val="solid"/>
          </a:ln>
        </p:spPr>
      </p:sp>
      <p:sp>
        <p:nvSpPr>
          <p:cNvPr id="3" name="Shape 1"/>
          <p:cNvSpPr/>
          <p:nvPr/>
        </p:nvSpPr>
        <p:spPr>
          <a:xfrm>
            <a:off x="0" y="0"/>
            <a:ext cx="9144000" cy="73152"/>
          </a:xfrm>
          <a:prstGeom prst="rect">
            <a:avLst/>
          </a:prstGeom>
          <a:solidFill>
            <a:srgbClr val="00B4C8"/>
          </a:solidFill>
          <a:ln w="12700">
            <a:solidFill>
              <a:srgbClr val="00B4C8"/>
            </a:solidFill>
            <a:prstDash val="solid"/>
          </a:ln>
        </p:spPr>
      </p:sp>
      <p:sp>
        <p:nvSpPr>
          <p:cNvPr id="4" name="Text 2"/>
          <p:cNvSpPr txBox="1"/>
          <p:nvPr/>
        </p:nvSpPr>
        <p:spPr>
          <a:xfrm>
            <a:off x="365760" y="137160"/>
            <a:ext cx="8412480" cy="548640"/>
          </a:xfrm>
          <a:prstGeom prst="rect">
            <a:avLst/>
          </a:prstGeom>
          <a:noFill/>
          <a:ln/>
        </p:spPr>
        <p:txBody>
          <a:bodyPr wrap="square" lIns="0" tIns="0" rIns="0" bIns="0" rtlCol="0" anchor="ctr"/>
          <a:lstStyle/>
          <a:p>
            <a:pPr algn="l" indent="0" marL="0">
              <a:buNone/>
            </a:pPr>
            <a:r>
              <a:rPr lang="en-US" sz="2800" b="1" dirty="0">
                <a:solidFill>
                  <a:srgbClr val="1A2744"/>
                </a:solidFill>
              </a:rPr>
              <a:t>Mapping Syntex Findings to Regulatory Obligations</a:t>
            </a:r>
            <a:endParaRPr lang="en-US" sz="2800" dirty="0"/>
          </a:p>
        </p:txBody>
      </p:sp>
      <p:sp>
        <p:nvSpPr>
          <p:cNvPr id="5" name="Shape 3"/>
          <p:cNvSpPr/>
          <p:nvPr/>
        </p:nvSpPr>
        <p:spPr>
          <a:xfrm>
            <a:off x="365760" y="713232"/>
            <a:ext cx="8412480" cy="0"/>
          </a:xfrm>
          <a:prstGeom prst="line">
            <a:avLst/>
          </a:prstGeom>
          <a:noFill/>
          <a:ln w="19050">
            <a:solidFill>
              <a:srgbClr val="00B4C8"/>
            </a:solidFill>
            <a:prstDash val="solid"/>
          </a:ln>
        </p:spPr>
      </p:sp>
      <p:sp>
        <p:nvSpPr>
          <p:cNvPr id="6" name="Shape 4"/>
          <p:cNvSpPr/>
          <p:nvPr/>
        </p:nvSpPr>
        <p:spPr>
          <a:xfrm>
            <a:off x="274320" y="868680"/>
            <a:ext cx="2240280" cy="365760"/>
          </a:xfrm>
          <a:prstGeom prst="rect">
            <a:avLst/>
          </a:prstGeom>
          <a:solidFill>
            <a:srgbClr val="0D3B5E"/>
          </a:solidFill>
          <a:ln w="12700">
            <a:solidFill>
              <a:srgbClr val="0D3B5E"/>
            </a:solidFill>
            <a:prstDash val="solid"/>
          </a:ln>
        </p:spPr>
      </p:sp>
      <p:sp>
        <p:nvSpPr>
          <p:cNvPr id="7" name="Text 5"/>
          <p:cNvSpPr txBox="1"/>
          <p:nvPr/>
        </p:nvSpPr>
        <p:spPr>
          <a:xfrm>
            <a:off x="310896" y="868680"/>
            <a:ext cx="2240280" cy="365760"/>
          </a:xfrm>
          <a:prstGeom prst="rect">
            <a:avLst/>
          </a:prstGeom>
          <a:noFill/>
          <a:ln/>
        </p:spPr>
        <p:txBody>
          <a:bodyPr wrap="square" lIns="0" tIns="0" rIns="0" bIns="0" rtlCol="0" anchor="ctr"/>
          <a:lstStyle/>
          <a:p>
            <a:pPr indent="0" marL="0">
              <a:buNone/>
            </a:pPr>
            <a:r>
              <a:rPr lang="en-US" sz="1000" b="1" dirty="0">
                <a:solidFill>
                  <a:srgbClr val="FFFFFF"/>
                </a:solidFill>
              </a:rPr>
              <a:t>Finding</a:t>
            </a:r>
            <a:endParaRPr lang="en-US" sz="1000" dirty="0"/>
          </a:p>
        </p:txBody>
      </p:sp>
      <p:sp>
        <p:nvSpPr>
          <p:cNvPr id="8" name="Shape 6"/>
          <p:cNvSpPr/>
          <p:nvPr/>
        </p:nvSpPr>
        <p:spPr>
          <a:xfrm>
            <a:off x="2560320" y="868680"/>
            <a:ext cx="1508760" cy="365760"/>
          </a:xfrm>
          <a:prstGeom prst="rect">
            <a:avLst/>
          </a:prstGeom>
          <a:solidFill>
            <a:srgbClr val="0D3B5E"/>
          </a:solidFill>
          <a:ln w="12700">
            <a:solidFill>
              <a:srgbClr val="0D3B5E"/>
            </a:solidFill>
            <a:prstDash val="solid"/>
          </a:ln>
        </p:spPr>
      </p:sp>
      <p:sp>
        <p:nvSpPr>
          <p:cNvPr id="9" name="Text 7"/>
          <p:cNvSpPr txBox="1"/>
          <p:nvPr/>
        </p:nvSpPr>
        <p:spPr>
          <a:xfrm>
            <a:off x="2596896" y="868680"/>
            <a:ext cx="1508760" cy="365760"/>
          </a:xfrm>
          <a:prstGeom prst="rect">
            <a:avLst/>
          </a:prstGeom>
          <a:noFill/>
          <a:ln/>
        </p:spPr>
        <p:txBody>
          <a:bodyPr wrap="square" lIns="0" tIns="0" rIns="0" bIns="0" rtlCol="0" anchor="ctr"/>
          <a:lstStyle/>
          <a:p>
            <a:pPr indent="0" marL="0">
              <a:buNone/>
            </a:pPr>
            <a:r>
              <a:rPr lang="en-US" sz="1000" b="1" dirty="0">
                <a:solidFill>
                  <a:srgbClr val="FFFFFF"/>
                </a:solidFill>
              </a:rPr>
              <a:t>PCI DSS v4.0</a:t>
            </a:r>
            <a:endParaRPr lang="en-US" sz="1000" dirty="0"/>
          </a:p>
        </p:txBody>
      </p:sp>
      <p:sp>
        <p:nvSpPr>
          <p:cNvPr id="10" name="Shape 8"/>
          <p:cNvSpPr/>
          <p:nvPr/>
        </p:nvSpPr>
        <p:spPr>
          <a:xfrm>
            <a:off x="4114800" y="868680"/>
            <a:ext cx="1508760" cy="365760"/>
          </a:xfrm>
          <a:prstGeom prst="rect">
            <a:avLst/>
          </a:prstGeom>
          <a:solidFill>
            <a:srgbClr val="0D3B5E"/>
          </a:solidFill>
          <a:ln w="12700">
            <a:solidFill>
              <a:srgbClr val="0D3B5E"/>
            </a:solidFill>
            <a:prstDash val="solid"/>
          </a:ln>
        </p:spPr>
      </p:sp>
      <p:sp>
        <p:nvSpPr>
          <p:cNvPr id="11" name="Text 9"/>
          <p:cNvSpPr txBox="1"/>
          <p:nvPr/>
        </p:nvSpPr>
        <p:spPr>
          <a:xfrm>
            <a:off x="4151376" y="868680"/>
            <a:ext cx="1508760" cy="365760"/>
          </a:xfrm>
          <a:prstGeom prst="rect">
            <a:avLst/>
          </a:prstGeom>
          <a:noFill/>
          <a:ln/>
        </p:spPr>
        <p:txBody>
          <a:bodyPr wrap="square" lIns="0" tIns="0" rIns="0" bIns="0" rtlCol="0" anchor="ctr"/>
          <a:lstStyle/>
          <a:p>
            <a:pPr indent="0" marL="0">
              <a:buNone/>
            </a:pPr>
            <a:r>
              <a:rPr lang="en-US" sz="1000" b="1" dirty="0">
                <a:solidFill>
                  <a:srgbClr val="FFFFFF"/>
                </a:solidFill>
              </a:rPr>
              <a:t>UK GDPR</a:t>
            </a:r>
            <a:endParaRPr lang="en-US" sz="1000" dirty="0"/>
          </a:p>
        </p:txBody>
      </p:sp>
      <p:sp>
        <p:nvSpPr>
          <p:cNvPr id="12" name="Shape 10"/>
          <p:cNvSpPr/>
          <p:nvPr/>
        </p:nvSpPr>
        <p:spPr>
          <a:xfrm>
            <a:off x="5669280" y="868680"/>
            <a:ext cx="1508760" cy="365760"/>
          </a:xfrm>
          <a:prstGeom prst="rect">
            <a:avLst/>
          </a:prstGeom>
          <a:solidFill>
            <a:srgbClr val="0D3B5E"/>
          </a:solidFill>
          <a:ln w="12700">
            <a:solidFill>
              <a:srgbClr val="0D3B5E"/>
            </a:solidFill>
            <a:prstDash val="solid"/>
          </a:ln>
        </p:spPr>
      </p:sp>
      <p:sp>
        <p:nvSpPr>
          <p:cNvPr id="13" name="Text 11"/>
          <p:cNvSpPr txBox="1"/>
          <p:nvPr/>
        </p:nvSpPr>
        <p:spPr>
          <a:xfrm>
            <a:off x="5705856" y="868680"/>
            <a:ext cx="1508760" cy="365760"/>
          </a:xfrm>
          <a:prstGeom prst="rect">
            <a:avLst/>
          </a:prstGeom>
          <a:noFill/>
          <a:ln/>
        </p:spPr>
        <p:txBody>
          <a:bodyPr wrap="square" lIns="0" tIns="0" rIns="0" bIns="0" rtlCol="0" anchor="ctr"/>
          <a:lstStyle/>
          <a:p>
            <a:pPr indent="0" marL="0">
              <a:buNone/>
            </a:pPr>
            <a:r>
              <a:rPr lang="en-US" sz="1000" b="1" dirty="0">
                <a:solidFill>
                  <a:srgbClr val="FFFFFF"/>
                </a:solidFill>
              </a:rPr>
              <a:t>FCA SYSC</a:t>
            </a:r>
            <a:endParaRPr lang="en-US" sz="1000" dirty="0"/>
          </a:p>
        </p:txBody>
      </p:sp>
      <p:sp>
        <p:nvSpPr>
          <p:cNvPr id="14" name="Shape 12"/>
          <p:cNvSpPr/>
          <p:nvPr/>
        </p:nvSpPr>
        <p:spPr>
          <a:xfrm>
            <a:off x="7223760" y="868680"/>
            <a:ext cx="1508760" cy="365760"/>
          </a:xfrm>
          <a:prstGeom prst="rect">
            <a:avLst/>
          </a:prstGeom>
          <a:solidFill>
            <a:srgbClr val="0D3B5E"/>
          </a:solidFill>
          <a:ln w="12700">
            <a:solidFill>
              <a:srgbClr val="0D3B5E"/>
            </a:solidFill>
            <a:prstDash val="solid"/>
          </a:ln>
        </p:spPr>
      </p:sp>
      <p:sp>
        <p:nvSpPr>
          <p:cNvPr id="15" name="Text 13"/>
          <p:cNvSpPr txBox="1"/>
          <p:nvPr/>
        </p:nvSpPr>
        <p:spPr>
          <a:xfrm>
            <a:off x="7260336" y="868680"/>
            <a:ext cx="1508760" cy="365760"/>
          </a:xfrm>
          <a:prstGeom prst="rect">
            <a:avLst/>
          </a:prstGeom>
          <a:noFill/>
          <a:ln/>
        </p:spPr>
        <p:txBody>
          <a:bodyPr wrap="square" lIns="0" tIns="0" rIns="0" bIns="0" rtlCol="0" anchor="ctr"/>
          <a:lstStyle/>
          <a:p>
            <a:pPr indent="0" marL="0">
              <a:buNone/>
            </a:pPr>
            <a:r>
              <a:rPr lang="en-US" sz="1000" b="1" dirty="0">
                <a:solidFill>
                  <a:srgbClr val="FFFFFF"/>
                </a:solidFill>
              </a:rPr>
              <a:t>CMA 1990</a:t>
            </a:r>
            <a:endParaRPr lang="en-US" sz="1000" dirty="0"/>
          </a:p>
        </p:txBody>
      </p:sp>
      <p:sp>
        <p:nvSpPr>
          <p:cNvPr id="16" name="Shape 14"/>
          <p:cNvSpPr/>
          <p:nvPr/>
        </p:nvSpPr>
        <p:spPr>
          <a:xfrm>
            <a:off x="274320" y="1280160"/>
            <a:ext cx="8458200" cy="393192"/>
          </a:xfrm>
          <a:prstGeom prst="rect">
            <a:avLst/>
          </a:prstGeom>
          <a:solidFill>
            <a:srgbClr val="FFFFFF"/>
          </a:solidFill>
          <a:ln w="6350">
            <a:solidFill>
              <a:srgbClr val="DDDDDD"/>
            </a:solidFill>
            <a:prstDash val="solid"/>
          </a:ln>
        </p:spPr>
      </p:sp>
      <p:sp>
        <p:nvSpPr>
          <p:cNvPr id="17" name="Text 15"/>
          <p:cNvSpPr txBox="1"/>
          <p:nvPr/>
        </p:nvSpPr>
        <p:spPr>
          <a:xfrm>
            <a:off x="310896" y="1280160"/>
            <a:ext cx="2203704" cy="393192"/>
          </a:xfrm>
          <a:prstGeom prst="rect">
            <a:avLst/>
          </a:prstGeom>
          <a:noFill/>
          <a:ln/>
        </p:spPr>
        <p:txBody>
          <a:bodyPr wrap="square" lIns="0" tIns="0" rIns="0" bIns="0" rtlCol="0" anchor="ctr"/>
          <a:lstStyle/>
          <a:p>
            <a:pPr indent="0" marL="0">
              <a:buNone/>
            </a:pPr>
            <a:r>
              <a:rPr lang="en-US" sz="1100" b="1" dirty="0">
                <a:solidFill>
                  <a:srgbClr val="1A2744"/>
                </a:solidFill>
              </a:rPr>
              <a:t>Kerberoasting (Critical)</a:t>
            </a:r>
            <a:endParaRPr lang="en-US" sz="1100" dirty="0"/>
          </a:p>
        </p:txBody>
      </p:sp>
      <p:sp>
        <p:nvSpPr>
          <p:cNvPr id="18" name="Text 16"/>
          <p:cNvSpPr txBox="1"/>
          <p:nvPr/>
        </p:nvSpPr>
        <p:spPr>
          <a:xfrm>
            <a:off x="2596896" y="1280160"/>
            <a:ext cx="1472184" cy="393192"/>
          </a:xfrm>
          <a:prstGeom prst="rect">
            <a:avLst/>
          </a:prstGeom>
          <a:noFill/>
          <a:ln/>
        </p:spPr>
        <p:txBody>
          <a:bodyPr wrap="square" lIns="0" tIns="0" rIns="0" bIns="0" rtlCol="0" anchor="ctr"/>
          <a:lstStyle/>
          <a:p>
            <a:pPr indent="0" marL="0">
              <a:buNone/>
            </a:pPr>
            <a:r>
              <a:rPr lang="en-US" sz="1000" dirty="0">
                <a:solidFill>
                  <a:srgbClr val="2C3E50"/>
                </a:solidFill>
              </a:rPr>
              <a:t>Req 8.2, 6.3</a:t>
            </a:r>
            <a:endParaRPr lang="en-US" sz="1000" dirty="0"/>
          </a:p>
        </p:txBody>
      </p:sp>
      <p:sp>
        <p:nvSpPr>
          <p:cNvPr id="19" name="Text 17"/>
          <p:cNvSpPr txBox="1"/>
          <p:nvPr/>
        </p:nvSpPr>
        <p:spPr>
          <a:xfrm>
            <a:off x="4151376" y="1280160"/>
            <a:ext cx="1472184" cy="393192"/>
          </a:xfrm>
          <a:prstGeom prst="rect">
            <a:avLst/>
          </a:prstGeom>
          <a:noFill/>
          <a:ln/>
        </p:spPr>
        <p:txBody>
          <a:bodyPr wrap="square" lIns="0" tIns="0" rIns="0" bIns="0" rtlCol="0" anchor="ctr"/>
          <a:lstStyle/>
          <a:p>
            <a:pPr indent="0" marL="0">
              <a:buNone/>
            </a:pPr>
            <a:r>
              <a:rPr lang="en-US" sz="1000" dirty="0">
                <a:solidFill>
                  <a:srgbClr val="2C3E50"/>
                </a:solidFill>
              </a:rPr>
              <a:t>Art 32</a:t>
            </a:r>
            <a:endParaRPr lang="en-US" sz="1000" dirty="0"/>
          </a:p>
        </p:txBody>
      </p:sp>
      <p:sp>
        <p:nvSpPr>
          <p:cNvPr id="20" name="Text 18"/>
          <p:cNvSpPr txBox="1"/>
          <p:nvPr/>
        </p:nvSpPr>
        <p:spPr>
          <a:xfrm>
            <a:off x="5705856" y="1280160"/>
            <a:ext cx="1472184" cy="393192"/>
          </a:xfrm>
          <a:prstGeom prst="rect">
            <a:avLst/>
          </a:prstGeom>
          <a:noFill/>
          <a:ln/>
        </p:spPr>
        <p:txBody>
          <a:bodyPr wrap="square" lIns="0" tIns="0" rIns="0" bIns="0" rtlCol="0" anchor="ctr"/>
          <a:lstStyle/>
          <a:p>
            <a:pPr indent="0" marL="0">
              <a:buNone/>
            </a:pPr>
            <a:r>
              <a:rPr lang="en-US" sz="1000" dirty="0">
                <a:solidFill>
                  <a:srgbClr val="2C3E50"/>
                </a:solidFill>
              </a:rPr>
              <a:t>SYSC 15A</a:t>
            </a:r>
            <a:endParaRPr lang="en-US" sz="1000" dirty="0"/>
          </a:p>
        </p:txBody>
      </p:sp>
      <p:sp>
        <p:nvSpPr>
          <p:cNvPr id="21" name="Text 19"/>
          <p:cNvSpPr txBox="1"/>
          <p:nvPr/>
        </p:nvSpPr>
        <p:spPr>
          <a:xfrm>
            <a:off x="7260336" y="1280160"/>
            <a:ext cx="1472184" cy="393192"/>
          </a:xfrm>
          <a:prstGeom prst="rect">
            <a:avLst/>
          </a:prstGeom>
          <a:noFill/>
          <a:ln/>
        </p:spPr>
        <p:txBody>
          <a:bodyPr wrap="square" lIns="0" tIns="0" rIns="0" bIns="0" rtlCol="0" anchor="ctr"/>
          <a:lstStyle/>
          <a:p>
            <a:pPr indent="0" marL="0">
              <a:buNone/>
            </a:pPr>
            <a:r>
              <a:rPr lang="en-US" sz="1000" dirty="0">
                <a:solidFill>
                  <a:srgbClr val="2C3E50"/>
                </a:solidFill>
              </a:rPr>
              <a:t>N/A</a:t>
            </a:r>
            <a:endParaRPr lang="en-US" sz="1000" dirty="0"/>
          </a:p>
        </p:txBody>
      </p:sp>
      <p:sp>
        <p:nvSpPr>
          <p:cNvPr id="22" name="Shape 20"/>
          <p:cNvSpPr/>
          <p:nvPr/>
        </p:nvSpPr>
        <p:spPr>
          <a:xfrm>
            <a:off x="274320" y="1719072"/>
            <a:ext cx="8458200" cy="393192"/>
          </a:xfrm>
          <a:prstGeom prst="rect">
            <a:avLst/>
          </a:prstGeom>
          <a:solidFill>
            <a:srgbClr val="EEF4FB"/>
          </a:solidFill>
          <a:ln w="6350">
            <a:solidFill>
              <a:srgbClr val="DDDDDD"/>
            </a:solidFill>
            <a:prstDash val="solid"/>
          </a:ln>
        </p:spPr>
      </p:sp>
      <p:sp>
        <p:nvSpPr>
          <p:cNvPr id="23" name="Text 21"/>
          <p:cNvSpPr txBox="1"/>
          <p:nvPr/>
        </p:nvSpPr>
        <p:spPr>
          <a:xfrm>
            <a:off x="310896" y="1719072"/>
            <a:ext cx="2203704" cy="393192"/>
          </a:xfrm>
          <a:prstGeom prst="rect">
            <a:avLst/>
          </a:prstGeom>
          <a:noFill/>
          <a:ln/>
        </p:spPr>
        <p:txBody>
          <a:bodyPr wrap="square" lIns="0" tIns="0" rIns="0" bIns="0" rtlCol="0" anchor="ctr"/>
          <a:lstStyle/>
          <a:p>
            <a:pPr indent="0" marL="0">
              <a:buNone/>
            </a:pPr>
            <a:r>
              <a:rPr lang="en-US" sz="1100" b="1" dirty="0">
                <a:solidFill>
                  <a:srgbClr val="1A2744"/>
                </a:solidFill>
              </a:rPr>
              <a:t>Weak SSH Root PW (Critical)</a:t>
            </a:r>
            <a:endParaRPr lang="en-US" sz="1100" dirty="0"/>
          </a:p>
        </p:txBody>
      </p:sp>
      <p:sp>
        <p:nvSpPr>
          <p:cNvPr id="24" name="Text 22"/>
          <p:cNvSpPr txBox="1"/>
          <p:nvPr/>
        </p:nvSpPr>
        <p:spPr>
          <a:xfrm>
            <a:off x="2596896" y="1719072"/>
            <a:ext cx="1472184" cy="393192"/>
          </a:xfrm>
          <a:prstGeom prst="rect">
            <a:avLst/>
          </a:prstGeom>
          <a:noFill/>
          <a:ln/>
        </p:spPr>
        <p:txBody>
          <a:bodyPr wrap="square" lIns="0" tIns="0" rIns="0" bIns="0" rtlCol="0" anchor="ctr"/>
          <a:lstStyle/>
          <a:p>
            <a:pPr indent="0" marL="0">
              <a:buNone/>
            </a:pPr>
            <a:r>
              <a:rPr lang="en-US" sz="1000" dirty="0">
                <a:solidFill>
                  <a:srgbClr val="2C3E50"/>
                </a:solidFill>
              </a:rPr>
              <a:t>Req 8.2, 11.3</a:t>
            </a:r>
            <a:endParaRPr lang="en-US" sz="1000" dirty="0"/>
          </a:p>
        </p:txBody>
      </p:sp>
      <p:sp>
        <p:nvSpPr>
          <p:cNvPr id="25" name="Text 23"/>
          <p:cNvSpPr txBox="1"/>
          <p:nvPr/>
        </p:nvSpPr>
        <p:spPr>
          <a:xfrm>
            <a:off x="4151376" y="1719072"/>
            <a:ext cx="1472184" cy="393192"/>
          </a:xfrm>
          <a:prstGeom prst="rect">
            <a:avLst/>
          </a:prstGeom>
          <a:noFill/>
          <a:ln/>
        </p:spPr>
        <p:txBody>
          <a:bodyPr wrap="square" lIns="0" tIns="0" rIns="0" bIns="0" rtlCol="0" anchor="ctr"/>
          <a:lstStyle/>
          <a:p>
            <a:pPr indent="0" marL="0">
              <a:buNone/>
            </a:pPr>
            <a:r>
              <a:rPr lang="en-US" sz="1000" dirty="0">
                <a:solidFill>
                  <a:srgbClr val="2C3E50"/>
                </a:solidFill>
              </a:rPr>
              <a:t>Art 32, 5(1)(f)</a:t>
            </a:r>
            <a:endParaRPr lang="en-US" sz="1000" dirty="0"/>
          </a:p>
        </p:txBody>
      </p:sp>
      <p:sp>
        <p:nvSpPr>
          <p:cNvPr id="26" name="Text 24"/>
          <p:cNvSpPr txBox="1"/>
          <p:nvPr/>
        </p:nvSpPr>
        <p:spPr>
          <a:xfrm>
            <a:off x="5705856" y="1719072"/>
            <a:ext cx="1472184" cy="393192"/>
          </a:xfrm>
          <a:prstGeom prst="rect">
            <a:avLst/>
          </a:prstGeom>
          <a:noFill/>
          <a:ln/>
        </p:spPr>
        <p:txBody>
          <a:bodyPr wrap="square" lIns="0" tIns="0" rIns="0" bIns="0" rtlCol="0" anchor="ctr"/>
          <a:lstStyle/>
          <a:p>
            <a:pPr indent="0" marL="0">
              <a:buNone/>
            </a:pPr>
            <a:r>
              <a:rPr lang="en-US" sz="1000" dirty="0">
                <a:solidFill>
                  <a:srgbClr val="2C3E50"/>
                </a:solidFill>
              </a:rPr>
              <a:t>SYSC 15A</a:t>
            </a:r>
            <a:endParaRPr lang="en-US" sz="1000" dirty="0"/>
          </a:p>
        </p:txBody>
      </p:sp>
      <p:sp>
        <p:nvSpPr>
          <p:cNvPr id="27" name="Text 25"/>
          <p:cNvSpPr txBox="1"/>
          <p:nvPr/>
        </p:nvSpPr>
        <p:spPr>
          <a:xfrm>
            <a:off x="7260336" y="1719072"/>
            <a:ext cx="1472184" cy="393192"/>
          </a:xfrm>
          <a:prstGeom prst="rect">
            <a:avLst/>
          </a:prstGeom>
          <a:noFill/>
          <a:ln/>
        </p:spPr>
        <p:txBody>
          <a:bodyPr wrap="square" lIns="0" tIns="0" rIns="0" bIns="0" rtlCol="0" anchor="ctr"/>
          <a:lstStyle/>
          <a:p>
            <a:pPr indent="0" marL="0">
              <a:buNone/>
            </a:pPr>
            <a:r>
              <a:rPr lang="en-US" sz="1000" dirty="0">
                <a:solidFill>
                  <a:srgbClr val="2C3E50"/>
                </a:solidFill>
              </a:rPr>
              <a:t>N/A</a:t>
            </a:r>
            <a:endParaRPr lang="en-US" sz="1000" dirty="0"/>
          </a:p>
        </p:txBody>
      </p:sp>
      <p:sp>
        <p:nvSpPr>
          <p:cNvPr id="28" name="Shape 26"/>
          <p:cNvSpPr/>
          <p:nvPr/>
        </p:nvSpPr>
        <p:spPr>
          <a:xfrm>
            <a:off x="274320" y="2157984"/>
            <a:ext cx="8458200" cy="393192"/>
          </a:xfrm>
          <a:prstGeom prst="rect">
            <a:avLst/>
          </a:prstGeom>
          <a:solidFill>
            <a:srgbClr val="FFFFFF"/>
          </a:solidFill>
          <a:ln w="6350">
            <a:solidFill>
              <a:srgbClr val="DDDDDD"/>
            </a:solidFill>
            <a:prstDash val="solid"/>
          </a:ln>
        </p:spPr>
      </p:sp>
      <p:sp>
        <p:nvSpPr>
          <p:cNvPr id="29" name="Text 27"/>
          <p:cNvSpPr txBox="1"/>
          <p:nvPr/>
        </p:nvSpPr>
        <p:spPr>
          <a:xfrm>
            <a:off x="310896" y="2157984"/>
            <a:ext cx="2203704" cy="393192"/>
          </a:xfrm>
          <a:prstGeom prst="rect">
            <a:avLst/>
          </a:prstGeom>
          <a:noFill/>
          <a:ln/>
        </p:spPr>
        <p:txBody>
          <a:bodyPr wrap="square" lIns="0" tIns="0" rIns="0" bIns="0" rtlCol="0" anchor="ctr"/>
          <a:lstStyle/>
          <a:p>
            <a:pPr indent="0" marL="0">
              <a:buNone/>
            </a:pPr>
            <a:r>
              <a:rPr lang="en-US" sz="1100" b="1" dirty="0">
                <a:solidFill>
                  <a:srgbClr val="1A2744"/>
                </a:solidFill>
              </a:rPr>
              <a:t>Apache Struts RCE (Critical)</a:t>
            </a:r>
            <a:endParaRPr lang="en-US" sz="1100" dirty="0"/>
          </a:p>
        </p:txBody>
      </p:sp>
      <p:sp>
        <p:nvSpPr>
          <p:cNvPr id="30" name="Text 28"/>
          <p:cNvSpPr txBox="1"/>
          <p:nvPr/>
        </p:nvSpPr>
        <p:spPr>
          <a:xfrm>
            <a:off x="2596896" y="2157984"/>
            <a:ext cx="1472184" cy="393192"/>
          </a:xfrm>
          <a:prstGeom prst="rect">
            <a:avLst/>
          </a:prstGeom>
          <a:noFill/>
          <a:ln/>
        </p:spPr>
        <p:txBody>
          <a:bodyPr wrap="square" lIns="0" tIns="0" rIns="0" bIns="0" rtlCol="0" anchor="ctr"/>
          <a:lstStyle/>
          <a:p>
            <a:pPr indent="0" marL="0">
              <a:buNone/>
            </a:pPr>
            <a:r>
              <a:rPr lang="en-US" sz="1000" dirty="0">
                <a:solidFill>
                  <a:srgbClr val="2C3E50"/>
                </a:solidFill>
              </a:rPr>
              <a:t>Req 6.3, 11.3</a:t>
            </a:r>
            <a:endParaRPr lang="en-US" sz="1000" dirty="0"/>
          </a:p>
        </p:txBody>
      </p:sp>
      <p:sp>
        <p:nvSpPr>
          <p:cNvPr id="31" name="Text 29"/>
          <p:cNvSpPr txBox="1"/>
          <p:nvPr/>
        </p:nvSpPr>
        <p:spPr>
          <a:xfrm>
            <a:off x="4151376" y="2157984"/>
            <a:ext cx="1472184" cy="393192"/>
          </a:xfrm>
          <a:prstGeom prst="rect">
            <a:avLst/>
          </a:prstGeom>
          <a:noFill/>
          <a:ln/>
        </p:spPr>
        <p:txBody>
          <a:bodyPr wrap="square" lIns="0" tIns="0" rIns="0" bIns="0" rtlCol="0" anchor="ctr"/>
          <a:lstStyle/>
          <a:p>
            <a:pPr indent="0" marL="0">
              <a:buNone/>
            </a:pPr>
            <a:r>
              <a:rPr lang="en-US" sz="1000" dirty="0">
                <a:solidFill>
                  <a:srgbClr val="2C3E50"/>
                </a:solidFill>
              </a:rPr>
              <a:t>Art 32, 33</a:t>
            </a:r>
            <a:endParaRPr lang="en-US" sz="1000" dirty="0"/>
          </a:p>
        </p:txBody>
      </p:sp>
      <p:sp>
        <p:nvSpPr>
          <p:cNvPr id="32" name="Text 30"/>
          <p:cNvSpPr txBox="1"/>
          <p:nvPr/>
        </p:nvSpPr>
        <p:spPr>
          <a:xfrm>
            <a:off x="5705856" y="2157984"/>
            <a:ext cx="1472184" cy="393192"/>
          </a:xfrm>
          <a:prstGeom prst="rect">
            <a:avLst/>
          </a:prstGeom>
          <a:noFill/>
          <a:ln/>
        </p:spPr>
        <p:txBody>
          <a:bodyPr wrap="square" lIns="0" tIns="0" rIns="0" bIns="0" rtlCol="0" anchor="ctr"/>
          <a:lstStyle/>
          <a:p>
            <a:pPr indent="0" marL="0">
              <a:buNone/>
            </a:pPr>
            <a:r>
              <a:rPr lang="en-US" sz="1000" dirty="0">
                <a:solidFill>
                  <a:srgbClr val="2C3E50"/>
                </a:solidFill>
              </a:rPr>
              <a:t>SYSC 8</a:t>
            </a:r>
            <a:endParaRPr lang="en-US" sz="1000" dirty="0"/>
          </a:p>
        </p:txBody>
      </p:sp>
      <p:sp>
        <p:nvSpPr>
          <p:cNvPr id="33" name="Text 31"/>
          <p:cNvSpPr txBox="1"/>
          <p:nvPr/>
        </p:nvSpPr>
        <p:spPr>
          <a:xfrm>
            <a:off x="7260336" y="2157984"/>
            <a:ext cx="1472184" cy="393192"/>
          </a:xfrm>
          <a:prstGeom prst="rect">
            <a:avLst/>
          </a:prstGeom>
          <a:noFill/>
          <a:ln/>
        </p:spPr>
        <p:txBody>
          <a:bodyPr wrap="square" lIns="0" tIns="0" rIns="0" bIns="0" rtlCol="0" anchor="ctr"/>
          <a:lstStyle/>
          <a:p>
            <a:pPr indent="0" marL="0">
              <a:buNone/>
            </a:pPr>
            <a:r>
              <a:rPr lang="en-US" sz="1000" dirty="0">
                <a:solidFill>
                  <a:srgbClr val="2C3E50"/>
                </a:solidFill>
              </a:rPr>
              <a:t>N/A</a:t>
            </a:r>
            <a:endParaRPr lang="en-US" sz="1000" dirty="0"/>
          </a:p>
        </p:txBody>
      </p:sp>
      <p:sp>
        <p:nvSpPr>
          <p:cNvPr id="34" name="Shape 32"/>
          <p:cNvSpPr/>
          <p:nvPr/>
        </p:nvSpPr>
        <p:spPr>
          <a:xfrm>
            <a:off x="274320" y="2596896"/>
            <a:ext cx="8458200" cy="393192"/>
          </a:xfrm>
          <a:prstGeom prst="rect">
            <a:avLst/>
          </a:prstGeom>
          <a:solidFill>
            <a:srgbClr val="EEF4FB"/>
          </a:solidFill>
          <a:ln w="6350">
            <a:solidFill>
              <a:srgbClr val="DDDDDD"/>
            </a:solidFill>
            <a:prstDash val="solid"/>
          </a:ln>
        </p:spPr>
      </p:sp>
      <p:sp>
        <p:nvSpPr>
          <p:cNvPr id="35" name="Text 33"/>
          <p:cNvSpPr txBox="1"/>
          <p:nvPr/>
        </p:nvSpPr>
        <p:spPr>
          <a:xfrm>
            <a:off x="310896" y="2596896"/>
            <a:ext cx="2203704" cy="393192"/>
          </a:xfrm>
          <a:prstGeom prst="rect">
            <a:avLst/>
          </a:prstGeom>
          <a:noFill/>
          <a:ln/>
        </p:spPr>
        <p:txBody>
          <a:bodyPr wrap="square" lIns="0" tIns="0" rIns="0" bIns="0" rtlCol="0" anchor="ctr"/>
          <a:lstStyle/>
          <a:p>
            <a:pPr indent="0" marL="0">
              <a:buNone/>
            </a:pPr>
            <a:r>
              <a:rPr lang="en-US" sz="1100" b="1" dirty="0">
                <a:solidFill>
                  <a:srgbClr val="1A2744"/>
                </a:solidFill>
              </a:rPr>
              <a:t>SMB Null Session (Medium)</a:t>
            </a:r>
            <a:endParaRPr lang="en-US" sz="1100" dirty="0"/>
          </a:p>
        </p:txBody>
      </p:sp>
      <p:sp>
        <p:nvSpPr>
          <p:cNvPr id="36" name="Text 34"/>
          <p:cNvSpPr txBox="1"/>
          <p:nvPr/>
        </p:nvSpPr>
        <p:spPr>
          <a:xfrm>
            <a:off x="2596896" y="2596896"/>
            <a:ext cx="1472184" cy="393192"/>
          </a:xfrm>
          <a:prstGeom prst="rect">
            <a:avLst/>
          </a:prstGeom>
          <a:noFill/>
          <a:ln/>
        </p:spPr>
        <p:txBody>
          <a:bodyPr wrap="square" lIns="0" tIns="0" rIns="0" bIns="0" rtlCol="0" anchor="ctr"/>
          <a:lstStyle/>
          <a:p>
            <a:pPr indent="0" marL="0">
              <a:buNone/>
            </a:pPr>
            <a:r>
              <a:rPr lang="en-US" sz="1000" dirty="0">
                <a:solidFill>
                  <a:srgbClr val="2C3E50"/>
                </a:solidFill>
              </a:rPr>
              <a:t>Req 7.1, 8.2</a:t>
            </a:r>
            <a:endParaRPr lang="en-US" sz="1000" dirty="0"/>
          </a:p>
        </p:txBody>
      </p:sp>
      <p:sp>
        <p:nvSpPr>
          <p:cNvPr id="37" name="Text 35"/>
          <p:cNvSpPr txBox="1"/>
          <p:nvPr/>
        </p:nvSpPr>
        <p:spPr>
          <a:xfrm>
            <a:off x="4151376" y="2596896"/>
            <a:ext cx="1472184" cy="393192"/>
          </a:xfrm>
          <a:prstGeom prst="rect">
            <a:avLst/>
          </a:prstGeom>
          <a:noFill/>
          <a:ln/>
        </p:spPr>
        <p:txBody>
          <a:bodyPr wrap="square" lIns="0" tIns="0" rIns="0" bIns="0" rtlCol="0" anchor="ctr"/>
          <a:lstStyle/>
          <a:p>
            <a:pPr indent="0" marL="0">
              <a:buNone/>
            </a:pPr>
            <a:r>
              <a:rPr lang="en-US" sz="1000" dirty="0">
                <a:solidFill>
                  <a:srgbClr val="2C3E50"/>
                </a:solidFill>
              </a:rPr>
              <a:t>Art 32</a:t>
            </a:r>
            <a:endParaRPr lang="en-US" sz="1000" dirty="0"/>
          </a:p>
        </p:txBody>
      </p:sp>
      <p:sp>
        <p:nvSpPr>
          <p:cNvPr id="38" name="Text 36"/>
          <p:cNvSpPr txBox="1"/>
          <p:nvPr/>
        </p:nvSpPr>
        <p:spPr>
          <a:xfrm>
            <a:off x="5705856" y="2596896"/>
            <a:ext cx="1472184" cy="393192"/>
          </a:xfrm>
          <a:prstGeom prst="rect">
            <a:avLst/>
          </a:prstGeom>
          <a:noFill/>
          <a:ln/>
        </p:spPr>
        <p:txBody>
          <a:bodyPr wrap="square" lIns="0" tIns="0" rIns="0" bIns="0" rtlCol="0" anchor="ctr"/>
          <a:lstStyle/>
          <a:p>
            <a:pPr indent="0" marL="0">
              <a:buNone/>
            </a:pPr>
            <a:r>
              <a:rPr lang="en-US" sz="1000" dirty="0">
                <a:solidFill>
                  <a:srgbClr val="2C3E50"/>
                </a:solidFill>
              </a:rPr>
              <a:t>SYSC 15A</a:t>
            </a:r>
            <a:endParaRPr lang="en-US" sz="1000" dirty="0"/>
          </a:p>
        </p:txBody>
      </p:sp>
      <p:sp>
        <p:nvSpPr>
          <p:cNvPr id="39" name="Text 37"/>
          <p:cNvSpPr txBox="1"/>
          <p:nvPr/>
        </p:nvSpPr>
        <p:spPr>
          <a:xfrm>
            <a:off x="7260336" y="2596896"/>
            <a:ext cx="1472184" cy="393192"/>
          </a:xfrm>
          <a:prstGeom prst="rect">
            <a:avLst/>
          </a:prstGeom>
          <a:noFill/>
          <a:ln/>
        </p:spPr>
        <p:txBody>
          <a:bodyPr wrap="square" lIns="0" tIns="0" rIns="0" bIns="0" rtlCol="0" anchor="ctr"/>
          <a:lstStyle/>
          <a:p>
            <a:pPr indent="0" marL="0">
              <a:buNone/>
            </a:pPr>
            <a:r>
              <a:rPr lang="en-US" sz="1000" dirty="0">
                <a:solidFill>
                  <a:srgbClr val="2C3E50"/>
                </a:solidFill>
              </a:rPr>
              <a:t>N/A</a:t>
            </a:r>
            <a:endParaRPr lang="en-US" sz="1000" dirty="0"/>
          </a:p>
        </p:txBody>
      </p:sp>
      <p:sp>
        <p:nvSpPr>
          <p:cNvPr id="40" name="Shape 38"/>
          <p:cNvSpPr/>
          <p:nvPr/>
        </p:nvSpPr>
        <p:spPr>
          <a:xfrm>
            <a:off x="274320" y="3035808"/>
            <a:ext cx="8458200" cy="393192"/>
          </a:xfrm>
          <a:prstGeom prst="rect">
            <a:avLst/>
          </a:prstGeom>
          <a:solidFill>
            <a:srgbClr val="FFFFFF"/>
          </a:solidFill>
          <a:ln w="6350">
            <a:solidFill>
              <a:srgbClr val="DDDDDD"/>
            </a:solidFill>
            <a:prstDash val="solid"/>
          </a:ln>
        </p:spPr>
      </p:sp>
      <p:sp>
        <p:nvSpPr>
          <p:cNvPr id="41" name="Text 39"/>
          <p:cNvSpPr txBox="1"/>
          <p:nvPr/>
        </p:nvSpPr>
        <p:spPr>
          <a:xfrm>
            <a:off x="310896" y="3035808"/>
            <a:ext cx="2203704" cy="393192"/>
          </a:xfrm>
          <a:prstGeom prst="rect">
            <a:avLst/>
          </a:prstGeom>
          <a:noFill/>
          <a:ln/>
        </p:spPr>
        <p:txBody>
          <a:bodyPr wrap="square" lIns="0" tIns="0" rIns="0" bIns="0" rtlCol="0" anchor="ctr"/>
          <a:lstStyle/>
          <a:p>
            <a:pPr indent="0" marL="0">
              <a:buNone/>
            </a:pPr>
            <a:r>
              <a:rPr lang="en-US" sz="1100" b="1" dirty="0">
                <a:solidFill>
                  <a:srgbClr val="1A2744"/>
                </a:solidFill>
              </a:rPr>
              <a:t>Cleartext FTP Creds (High)</a:t>
            </a:r>
            <a:endParaRPr lang="en-US" sz="1100" dirty="0"/>
          </a:p>
        </p:txBody>
      </p:sp>
      <p:sp>
        <p:nvSpPr>
          <p:cNvPr id="42" name="Text 40"/>
          <p:cNvSpPr txBox="1"/>
          <p:nvPr/>
        </p:nvSpPr>
        <p:spPr>
          <a:xfrm>
            <a:off x="2596896" y="3035808"/>
            <a:ext cx="1472184" cy="393192"/>
          </a:xfrm>
          <a:prstGeom prst="rect">
            <a:avLst/>
          </a:prstGeom>
          <a:noFill/>
          <a:ln/>
        </p:spPr>
        <p:txBody>
          <a:bodyPr wrap="square" lIns="0" tIns="0" rIns="0" bIns="0" rtlCol="0" anchor="ctr"/>
          <a:lstStyle/>
          <a:p>
            <a:pPr indent="0" marL="0">
              <a:buNone/>
            </a:pPr>
            <a:r>
              <a:rPr lang="en-US" sz="1000" dirty="0">
                <a:solidFill>
                  <a:srgbClr val="2C3E50"/>
                </a:solidFill>
              </a:rPr>
              <a:t>Req 8.2, 4.2</a:t>
            </a:r>
            <a:endParaRPr lang="en-US" sz="1000" dirty="0"/>
          </a:p>
        </p:txBody>
      </p:sp>
      <p:sp>
        <p:nvSpPr>
          <p:cNvPr id="43" name="Text 41"/>
          <p:cNvSpPr txBox="1"/>
          <p:nvPr/>
        </p:nvSpPr>
        <p:spPr>
          <a:xfrm>
            <a:off x="4151376" y="3035808"/>
            <a:ext cx="1472184" cy="393192"/>
          </a:xfrm>
          <a:prstGeom prst="rect">
            <a:avLst/>
          </a:prstGeom>
          <a:noFill/>
          <a:ln/>
        </p:spPr>
        <p:txBody>
          <a:bodyPr wrap="square" lIns="0" tIns="0" rIns="0" bIns="0" rtlCol="0" anchor="ctr"/>
          <a:lstStyle/>
          <a:p>
            <a:pPr indent="0" marL="0">
              <a:buNone/>
            </a:pPr>
            <a:r>
              <a:rPr lang="en-US" sz="1000" dirty="0">
                <a:solidFill>
                  <a:srgbClr val="2C3E50"/>
                </a:solidFill>
              </a:rPr>
              <a:t>Art 32, 25</a:t>
            </a:r>
            <a:endParaRPr lang="en-US" sz="1000" dirty="0"/>
          </a:p>
        </p:txBody>
      </p:sp>
      <p:sp>
        <p:nvSpPr>
          <p:cNvPr id="44" name="Text 42"/>
          <p:cNvSpPr txBox="1"/>
          <p:nvPr/>
        </p:nvSpPr>
        <p:spPr>
          <a:xfrm>
            <a:off x="5705856" y="3035808"/>
            <a:ext cx="1472184" cy="393192"/>
          </a:xfrm>
          <a:prstGeom prst="rect">
            <a:avLst/>
          </a:prstGeom>
          <a:noFill/>
          <a:ln/>
        </p:spPr>
        <p:txBody>
          <a:bodyPr wrap="square" lIns="0" tIns="0" rIns="0" bIns="0" rtlCol="0" anchor="ctr"/>
          <a:lstStyle/>
          <a:p>
            <a:pPr indent="0" marL="0">
              <a:buNone/>
            </a:pPr>
            <a:r>
              <a:rPr lang="en-US" sz="1000" dirty="0">
                <a:solidFill>
                  <a:srgbClr val="2C3E50"/>
                </a:solidFill>
              </a:rPr>
              <a:t>SYSC 8</a:t>
            </a:r>
            <a:endParaRPr lang="en-US" sz="1000" dirty="0"/>
          </a:p>
        </p:txBody>
      </p:sp>
      <p:sp>
        <p:nvSpPr>
          <p:cNvPr id="45" name="Text 43"/>
          <p:cNvSpPr txBox="1"/>
          <p:nvPr/>
        </p:nvSpPr>
        <p:spPr>
          <a:xfrm>
            <a:off x="7260336" y="3035808"/>
            <a:ext cx="1472184" cy="393192"/>
          </a:xfrm>
          <a:prstGeom prst="rect">
            <a:avLst/>
          </a:prstGeom>
          <a:noFill/>
          <a:ln/>
        </p:spPr>
        <p:txBody>
          <a:bodyPr wrap="square" lIns="0" tIns="0" rIns="0" bIns="0" rtlCol="0" anchor="ctr"/>
          <a:lstStyle/>
          <a:p>
            <a:pPr indent="0" marL="0">
              <a:buNone/>
            </a:pPr>
            <a:r>
              <a:rPr lang="en-US" sz="1000" dirty="0">
                <a:solidFill>
                  <a:srgbClr val="2C3E50"/>
                </a:solidFill>
              </a:rPr>
              <a:t>N/A</a:t>
            </a:r>
            <a:endParaRPr lang="en-US" sz="1000" dirty="0"/>
          </a:p>
        </p:txBody>
      </p:sp>
      <p:sp>
        <p:nvSpPr>
          <p:cNvPr id="46" name="Shape 44"/>
          <p:cNvSpPr/>
          <p:nvPr/>
        </p:nvSpPr>
        <p:spPr>
          <a:xfrm>
            <a:off x="274320" y="3474720"/>
            <a:ext cx="8458200" cy="393192"/>
          </a:xfrm>
          <a:prstGeom prst="rect">
            <a:avLst/>
          </a:prstGeom>
          <a:solidFill>
            <a:srgbClr val="EEF4FB"/>
          </a:solidFill>
          <a:ln w="6350">
            <a:solidFill>
              <a:srgbClr val="DDDDDD"/>
            </a:solidFill>
            <a:prstDash val="solid"/>
          </a:ln>
        </p:spPr>
      </p:sp>
      <p:sp>
        <p:nvSpPr>
          <p:cNvPr id="47" name="Text 45"/>
          <p:cNvSpPr txBox="1"/>
          <p:nvPr/>
        </p:nvSpPr>
        <p:spPr>
          <a:xfrm>
            <a:off x="310896" y="3474720"/>
            <a:ext cx="2203704" cy="393192"/>
          </a:xfrm>
          <a:prstGeom prst="rect">
            <a:avLst/>
          </a:prstGeom>
          <a:noFill/>
          <a:ln/>
        </p:spPr>
        <p:txBody>
          <a:bodyPr wrap="square" lIns="0" tIns="0" rIns="0" bIns="0" rtlCol="0" anchor="ctr"/>
          <a:lstStyle/>
          <a:p>
            <a:pPr indent="0" marL="0">
              <a:buNone/>
            </a:pPr>
            <a:r>
              <a:rPr lang="en-US" sz="1100" b="1" dirty="0">
                <a:solidFill>
                  <a:srgbClr val="1A2744"/>
                </a:solidFill>
              </a:rPr>
              <a:t>Self-signed TLS (Low)</a:t>
            </a:r>
            <a:endParaRPr lang="en-US" sz="1100" dirty="0"/>
          </a:p>
        </p:txBody>
      </p:sp>
      <p:sp>
        <p:nvSpPr>
          <p:cNvPr id="48" name="Text 46"/>
          <p:cNvSpPr txBox="1"/>
          <p:nvPr/>
        </p:nvSpPr>
        <p:spPr>
          <a:xfrm>
            <a:off x="2596896" y="3474720"/>
            <a:ext cx="1472184" cy="393192"/>
          </a:xfrm>
          <a:prstGeom prst="rect">
            <a:avLst/>
          </a:prstGeom>
          <a:noFill/>
          <a:ln/>
        </p:spPr>
        <p:txBody>
          <a:bodyPr wrap="square" lIns="0" tIns="0" rIns="0" bIns="0" rtlCol="0" anchor="ctr"/>
          <a:lstStyle/>
          <a:p>
            <a:pPr indent="0" marL="0">
              <a:buNone/>
            </a:pPr>
            <a:r>
              <a:rPr lang="en-US" sz="1000" dirty="0">
                <a:solidFill>
                  <a:srgbClr val="2C3E50"/>
                </a:solidFill>
              </a:rPr>
              <a:t>Req 4.2.1</a:t>
            </a:r>
            <a:endParaRPr lang="en-US" sz="1000" dirty="0"/>
          </a:p>
        </p:txBody>
      </p:sp>
      <p:sp>
        <p:nvSpPr>
          <p:cNvPr id="49" name="Text 47"/>
          <p:cNvSpPr txBox="1"/>
          <p:nvPr/>
        </p:nvSpPr>
        <p:spPr>
          <a:xfrm>
            <a:off x="4151376" y="3474720"/>
            <a:ext cx="1472184" cy="393192"/>
          </a:xfrm>
          <a:prstGeom prst="rect">
            <a:avLst/>
          </a:prstGeom>
          <a:noFill/>
          <a:ln/>
        </p:spPr>
        <p:txBody>
          <a:bodyPr wrap="square" lIns="0" tIns="0" rIns="0" bIns="0" rtlCol="0" anchor="ctr"/>
          <a:lstStyle/>
          <a:p>
            <a:pPr indent="0" marL="0">
              <a:buNone/>
            </a:pPr>
            <a:r>
              <a:rPr lang="en-US" sz="1000" dirty="0">
                <a:solidFill>
                  <a:srgbClr val="2C3E50"/>
                </a:solidFill>
              </a:rPr>
              <a:t>Art 32</a:t>
            </a:r>
            <a:endParaRPr lang="en-US" sz="1000" dirty="0"/>
          </a:p>
        </p:txBody>
      </p:sp>
      <p:sp>
        <p:nvSpPr>
          <p:cNvPr id="50" name="Text 48"/>
          <p:cNvSpPr txBox="1"/>
          <p:nvPr/>
        </p:nvSpPr>
        <p:spPr>
          <a:xfrm>
            <a:off x="5705856" y="3474720"/>
            <a:ext cx="1472184" cy="393192"/>
          </a:xfrm>
          <a:prstGeom prst="rect">
            <a:avLst/>
          </a:prstGeom>
          <a:noFill/>
          <a:ln/>
        </p:spPr>
        <p:txBody>
          <a:bodyPr wrap="square" lIns="0" tIns="0" rIns="0" bIns="0" rtlCol="0" anchor="ctr"/>
          <a:lstStyle/>
          <a:p>
            <a:pPr indent="0" marL="0">
              <a:buNone/>
            </a:pPr>
            <a:r>
              <a:rPr lang="en-US" sz="1000" dirty="0">
                <a:solidFill>
                  <a:srgbClr val="2C3E50"/>
                </a:solidFill>
              </a:rPr>
              <a:t>SYSC 15A</a:t>
            </a:r>
            <a:endParaRPr lang="en-US" sz="1000" dirty="0"/>
          </a:p>
        </p:txBody>
      </p:sp>
      <p:sp>
        <p:nvSpPr>
          <p:cNvPr id="51" name="Text 49"/>
          <p:cNvSpPr txBox="1"/>
          <p:nvPr/>
        </p:nvSpPr>
        <p:spPr>
          <a:xfrm>
            <a:off x="7260336" y="3474720"/>
            <a:ext cx="1472184" cy="393192"/>
          </a:xfrm>
          <a:prstGeom prst="rect">
            <a:avLst/>
          </a:prstGeom>
          <a:noFill/>
          <a:ln/>
        </p:spPr>
        <p:txBody>
          <a:bodyPr wrap="square" lIns="0" tIns="0" rIns="0" bIns="0" rtlCol="0" anchor="ctr"/>
          <a:lstStyle/>
          <a:p>
            <a:pPr indent="0" marL="0">
              <a:buNone/>
            </a:pPr>
            <a:r>
              <a:rPr lang="en-US" sz="1000" dirty="0">
                <a:solidFill>
                  <a:srgbClr val="2C3E50"/>
                </a:solidFill>
              </a:rPr>
              <a:t>N/A</a:t>
            </a:r>
            <a:endParaRPr lang="en-US" sz="1000" dirty="0"/>
          </a:p>
        </p:txBody>
      </p:sp>
      <p:sp>
        <p:nvSpPr>
          <p:cNvPr id="52" name="Shape 50"/>
          <p:cNvSpPr/>
          <p:nvPr/>
        </p:nvSpPr>
        <p:spPr>
          <a:xfrm>
            <a:off x="274320" y="3913632"/>
            <a:ext cx="8458200" cy="393192"/>
          </a:xfrm>
          <a:prstGeom prst="rect">
            <a:avLst/>
          </a:prstGeom>
          <a:solidFill>
            <a:srgbClr val="FFFFFF"/>
          </a:solidFill>
          <a:ln w="6350">
            <a:solidFill>
              <a:srgbClr val="DDDDDD"/>
            </a:solidFill>
            <a:prstDash val="solid"/>
          </a:ln>
        </p:spPr>
      </p:sp>
      <p:sp>
        <p:nvSpPr>
          <p:cNvPr id="53" name="Text 51"/>
          <p:cNvSpPr txBox="1"/>
          <p:nvPr/>
        </p:nvSpPr>
        <p:spPr>
          <a:xfrm>
            <a:off x="310896" y="3913632"/>
            <a:ext cx="2203704" cy="393192"/>
          </a:xfrm>
          <a:prstGeom prst="rect">
            <a:avLst/>
          </a:prstGeom>
          <a:noFill/>
          <a:ln/>
        </p:spPr>
        <p:txBody>
          <a:bodyPr wrap="square" lIns="0" tIns="0" rIns="0" bIns="0" rtlCol="0" anchor="ctr"/>
          <a:lstStyle/>
          <a:p>
            <a:pPr indent="0" marL="0">
              <a:buNone/>
            </a:pPr>
            <a:r>
              <a:rPr lang="en-US" sz="1100" b="1" dirty="0">
                <a:solidFill>
                  <a:srgbClr val="1A2744"/>
                </a:solidFill>
              </a:rPr>
              <a:t>Outdated SSL/TLS (High)</a:t>
            </a:r>
            <a:endParaRPr lang="en-US" sz="1100" dirty="0"/>
          </a:p>
        </p:txBody>
      </p:sp>
      <p:sp>
        <p:nvSpPr>
          <p:cNvPr id="54" name="Text 52"/>
          <p:cNvSpPr txBox="1"/>
          <p:nvPr/>
        </p:nvSpPr>
        <p:spPr>
          <a:xfrm>
            <a:off x="2596896" y="3913632"/>
            <a:ext cx="1472184" cy="393192"/>
          </a:xfrm>
          <a:prstGeom prst="rect">
            <a:avLst/>
          </a:prstGeom>
          <a:noFill/>
          <a:ln/>
        </p:spPr>
        <p:txBody>
          <a:bodyPr wrap="square" lIns="0" tIns="0" rIns="0" bIns="0" rtlCol="0" anchor="ctr"/>
          <a:lstStyle/>
          <a:p>
            <a:pPr indent="0" marL="0">
              <a:buNone/>
            </a:pPr>
            <a:r>
              <a:rPr lang="en-US" sz="1000" dirty="0">
                <a:solidFill>
                  <a:srgbClr val="2C3E50"/>
                </a:solidFill>
              </a:rPr>
              <a:t>Req 4.2.1</a:t>
            </a:r>
            <a:endParaRPr lang="en-US" sz="1000" dirty="0"/>
          </a:p>
        </p:txBody>
      </p:sp>
      <p:sp>
        <p:nvSpPr>
          <p:cNvPr id="55" name="Text 53"/>
          <p:cNvSpPr txBox="1"/>
          <p:nvPr/>
        </p:nvSpPr>
        <p:spPr>
          <a:xfrm>
            <a:off x="4151376" y="3913632"/>
            <a:ext cx="1472184" cy="393192"/>
          </a:xfrm>
          <a:prstGeom prst="rect">
            <a:avLst/>
          </a:prstGeom>
          <a:noFill/>
          <a:ln/>
        </p:spPr>
        <p:txBody>
          <a:bodyPr wrap="square" lIns="0" tIns="0" rIns="0" bIns="0" rtlCol="0" anchor="ctr"/>
          <a:lstStyle/>
          <a:p>
            <a:pPr indent="0" marL="0">
              <a:buNone/>
            </a:pPr>
            <a:r>
              <a:rPr lang="en-US" sz="1000" dirty="0">
                <a:solidFill>
                  <a:srgbClr val="2C3E50"/>
                </a:solidFill>
              </a:rPr>
              <a:t>Art 32</a:t>
            </a:r>
            <a:endParaRPr lang="en-US" sz="1000" dirty="0"/>
          </a:p>
        </p:txBody>
      </p:sp>
      <p:sp>
        <p:nvSpPr>
          <p:cNvPr id="56" name="Text 54"/>
          <p:cNvSpPr txBox="1"/>
          <p:nvPr/>
        </p:nvSpPr>
        <p:spPr>
          <a:xfrm>
            <a:off x="5705856" y="3913632"/>
            <a:ext cx="1472184" cy="393192"/>
          </a:xfrm>
          <a:prstGeom prst="rect">
            <a:avLst/>
          </a:prstGeom>
          <a:noFill/>
          <a:ln/>
        </p:spPr>
        <p:txBody>
          <a:bodyPr wrap="square" lIns="0" tIns="0" rIns="0" bIns="0" rtlCol="0" anchor="ctr"/>
          <a:lstStyle/>
          <a:p>
            <a:pPr indent="0" marL="0">
              <a:buNone/>
            </a:pPr>
            <a:r>
              <a:rPr lang="en-US" sz="1000" dirty="0">
                <a:solidFill>
                  <a:srgbClr val="2C3E50"/>
                </a:solidFill>
              </a:rPr>
              <a:t>SYSC 15A</a:t>
            </a:r>
            <a:endParaRPr lang="en-US" sz="1000" dirty="0"/>
          </a:p>
        </p:txBody>
      </p:sp>
      <p:sp>
        <p:nvSpPr>
          <p:cNvPr id="57" name="Text 55"/>
          <p:cNvSpPr txBox="1"/>
          <p:nvPr/>
        </p:nvSpPr>
        <p:spPr>
          <a:xfrm>
            <a:off x="7260336" y="3913632"/>
            <a:ext cx="1472184" cy="393192"/>
          </a:xfrm>
          <a:prstGeom prst="rect">
            <a:avLst/>
          </a:prstGeom>
          <a:noFill/>
          <a:ln/>
        </p:spPr>
        <p:txBody>
          <a:bodyPr wrap="square" lIns="0" tIns="0" rIns="0" bIns="0" rtlCol="0" anchor="ctr"/>
          <a:lstStyle/>
          <a:p>
            <a:pPr indent="0" marL="0">
              <a:buNone/>
            </a:pPr>
            <a:r>
              <a:rPr lang="en-US" sz="1000" dirty="0">
                <a:solidFill>
                  <a:srgbClr val="2C3E50"/>
                </a:solidFill>
              </a:rPr>
              <a:t>N/A</a:t>
            </a:r>
            <a:endParaRPr lang="en-US" sz="1000" dirty="0"/>
          </a:p>
        </p:txBody>
      </p:sp>
      <p:sp>
        <p:nvSpPr>
          <p:cNvPr id="58" name="Shape 56"/>
          <p:cNvSpPr/>
          <p:nvPr/>
        </p:nvSpPr>
        <p:spPr>
          <a:xfrm>
            <a:off x="274320" y="4352544"/>
            <a:ext cx="8458200" cy="393192"/>
          </a:xfrm>
          <a:prstGeom prst="rect">
            <a:avLst/>
          </a:prstGeom>
          <a:solidFill>
            <a:srgbClr val="EEF4FB"/>
          </a:solidFill>
          <a:ln w="6350">
            <a:solidFill>
              <a:srgbClr val="DDDDDD"/>
            </a:solidFill>
            <a:prstDash val="solid"/>
          </a:ln>
        </p:spPr>
      </p:sp>
      <p:sp>
        <p:nvSpPr>
          <p:cNvPr id="59" name="Text 57"/>
          <p:cNvSpPr txBox="1"/>
          <p:nvPr/>
        </p:nvSpPr>
        <p:spPr>
          <a:xfrm>
            <a:off x="310896" y="4352544"/>
            <a:ext cx="2203704" cy="393192"/>
          </a:xfrm>
          <a:prstGeom prst="rect">
            <a:avLst/>
          </a:prstGeom>
          <a:noFill/>
          <a:ln/>
        </p:spPr>
        <p:txBody>
          <a:bodyPr wrap="square" lIns="0" tIns="0" rIns="0" bIns="0" rtlCol="0" anchor="ctr"/>
          <a:lstStyle/>
          <a:p>
            <a:pPr indent="0" marL="0">
              <a:buNone/>
            </a:pPr>
            <a:r>
              <a:rPr lang="en-US" sz="1100" b="1" dirty="0">
                <a:solidFill>
                  <a:srgbClr val="1A2744"/>
                </a:solidFill>
              </a:rPr>
              <a:t>Default IIS Creds (High)</a:t>
            </a:r>
            <a:endParaRPr lang="en-US" sz="1100" dirty="0"/>
          </a:p>
        </p:txBody>
      </p:sp>
      <p:sp>
        <p:nvSpPr>
          <p:cNvPr id="60" name="Text 58"/>
          <p:cNvSpPr txBox="1"/>
          <p:nvPr/>
        </p:nvSpPr>
        <p:spPr>
          <a:xfrm>
            <a:off x="2596896" y="4352544"/>
            <a:ext cx="1472184" cy="393192"/>
          </a:xfrm>
          <a:prstGeom prst="rect">
            <a:avLst/>
          </a:prstGeom>
          <a:noFill/>
          <a:ln/>
        </p:spPr>
        <p:txBody>
          <a:bodyPr wrap="square" lIns="0" tIns="0" rIns="0" bIns="0" rtlCol="0" anchor="ctr"/>
          <a:lstStyle/>
          <a:p>
            <a:pPr indent="0" marL="0">
              <a:buNone/>
            </a:pPr>
            <a:r>
              <a:rPr lang="en-US" sz="1000" dirty="0">
                <a:solidFill>
                  <a:srgbClr val="2C3E50"/>
                </a:solidFill>
              </a:rPr>
              <a:t>Req 8.2, 6.3</a:t>
            </a:r>
            <a:endParaRPr lang="en-US" sz="1000" dirty="0"/>
          </a:p>
        </p:txBody>
      </p:sp>
      <p:sp>
        <p:nvSpPr>
          <p:cNvPr id="61" name="Text 59"/>
          <p:cNvSpPr txBox="1"/>
          <p:nvPr/>
        </p:nvSpPr>
        <p:spPr>
          <a:xfrm>
            <a:off x="4151376" y="4352544"/>
            <a:ext cx="1472184" cy="393192"/>
          </a:xfrm>
          <a:prstGeom prst="rect">
            <a:avLst/>
          </a:prstGeom>
          <a:noFill/>
          <a:ln/>
        </p:spPr>
        <p:txBody>
          <a:bodyPr wrap="square" lIns="0" tIns="0" rIns="0" bIns="0" rtlCol="0" anchor="ctr"/>
          <a:lstStyle/>
          <a:p>
            <a:pPr indent="0" marL="0">
              <a:buNone/>
            </a:pPr>
            <a:r>
              <a:rPr lang="en-US" sz="1000" dirty="0">
                <a:solidFill>
                  <a:srgbClr val="2C3E50"/>
                </a:solidFill>
              </a:rPr>
              <a:t>Art 32, 5(1)(f)</a:t>
            </a:r>
            <a:endParaRPr lang="en-US" sz="1000" dirty="0"/>
          </a:p>
        </p:txBody>
      </p:sp>
      <p:sp>
        <p:nvSpPr>
          <p:cNvPr id="62" name="Text 60"/>
          <p:cNvSpPr txBox="1"/>
          <p:nvPr/>
        </p:nvSpPr>
        <p:spPr>
          <a:xfrm>
            <a:off x="5705856" y="4352544"/>
            <a:ext cx="1472184" cy="393192"/>
          </a:xfrm>
          <a:prstGeom prst="rect">
            <a:avLst/>
          </a:prstGeom>
          <a:noFill/>
          <a:ln/>
        </p:spPr>
        <p:txBody>
          <a:bodyPr wrap="square" lIns="0" tIns="0" rIns="0" bIns="0" rtlCol="0" anchor="ctr"/>
          <a:lstStyle/>
          <a:p>
            <a:pPr indent="0" marL="0">
              <a:buNone/>
            </a:pPr>
            <a:r>
              <a:rPr lang="en-US" sz="1000" dirty="0">
                <a:solidFill>
                  <a:srgbClr val="2C3E50"/>
                </a:solidFill>
              </a:rPr>
              <a:t>SYSC 8</a:t>
            </a:r>
            <a:endParaRPr lang="en-US" sz="1000" dirty="0"/>
          </a:p>
        </p:txBody>
      </p:sp>
      <p:sp>
        <p:nvSpPr>
          <p:cNvPr id="63" name="Text 61"/>
          <p:cNvSpPr txBox="1"/>
          <p:nvPr/>
        </p:nvSpPr>
        <p:spPr>
          <a:xfrm>
            <a:off x="7260336" y="4352544"/>
            <a:ext cx="1472184" cy="393192"/>
          </a:xfrm>
          <a:prstGeom prst="rect">
            <a:avLst/>
          </a:prstGeom>
          <a:noFill/>
          <a:ln/>
        </p:spPr>
        <p:txBody>
          <a:bodyPr wrap="square" lIns="0" tIns="0" rIns="0" bIns="0" rtlCol="0" anchor="ctr"/>
          <a:lstStyle/>
          <a:p>
            <a:pPr indent="0" marL="0">
              <a:buNone/>
            </a:pPr>
            <a:r>
              <a:rPr lang="en-US" sz="1000" dirty="0">
                <a:solidFill>
                  <a:srgbClr val="2C3E50"/>
                </a:solidFill>
              </a:rPr>
              <a:t>N/A</a:t>
            </a:r>
            <a:endParaRPr lang="en-US" sz="1000" dirty="0"/>
          </a:p>
        </p:txBody>
      </p:sp>
      <p:sp>
        <p:nvSpPr>
          <p:cNvPr id="64" name="Text 62"/>
          <p:cNvSpPr txBox="1"/>
          <p:nvPr/>
        </p:nvSpPr>
        <p:spPr>
          <a:xfrm>
            <a:off x="274320" y="4754880"/>
            <a:ext cx="8503920" cy="228600"/>
          </a:xfrm>
          <a:prstGeom prst="rect">
            <a:avLst/>
          </a:prstGeom>
          <a:noFill/>
          <a:ln/>
        </p:spPr>
        <p:txBody>
          <a:bodyPr wrap="square" lIns="0" tIns="0" rIns="0" bIns="0" rtlCol="0" anchor="ctr"/>
          <a:lstStyle/>
          <a:p>
            <a:pPr indent="0" marL="0">
              <a:buNone/>
            </a:pPr>
            <a:r>
              <a:rPr lang="en-US" sz="900" i="1" dirty="0">
                <a:solidFill>
                  <a:srgbClr val="7F8C8D"/>
                </a:solidFill>
              </a:rPr>
              <a:t>Note: CMA 1990 governs the test authorisation itself - individual findings are remediation obligations, not CMA breaches</a:t>
            </a:r>
            <a:endParaRPr lang="en-US" sz="900" dirty="0"/>
          </a:p>
        </p:txBody>
      </p:sp>
      <p:sp>
        <p:nvSpPr>
          <p:cNvPr id="65" name="Text 63"/>
          <p:cNvSpPr txBox="1"/>
          <p:nvPr/>
        </p:nvSpPr>
        <p:spPr>
          <a:xfrm>
            <a:off x="0" y="4892040"/>
            <a:ext cx="9144000" cy="256032"/>
          </a:xfrm>
          <a:prstGeom prst="rect">
            <a:avLst/>
          </a:prstGeom>
          <a:noFill/>
          <a:ln/>
        </p:spPr>
        <p:txBody>
          <a:bodyPr wrap="square" lIns="0" tIns="0" rIns="0" bIns="0" rtlCol="0" anchor="ctr"/>
          <a:lstStyle/>
          <a:p>
            <a:pPr algn="ctr" indent="0" marL="0">
              <a:buNone/>
            </a:pPr>
            <a:r>
              <a:rPr lang="en-US" sz="900" dirty="0">
                <a:solidFill>
                  <a:srgbClr val="7F8C8D"/>
                </a:solidFill>
              </a:rPr>
              <a:t>My Cyber Academy | MCA CREST CPSA - Module A: Soft Skills</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w="12700">
            <a:solidFill>
              <a:srgbClr val="FFFFFF"/>
            </a:solidFill>
            <a:prstDash val="solid"/>
          </a:ln>
        </p:spPr>
      </p:sp>
      <p:sp>
        <p:nvSpPr>
          <p:cNvPr id="3" name="Shape 1"/>
          <p:cNvSpPr/>
          <p:nvPr/>
        </p:nvSpPr>
        <p:spPr>
          <a:xfrm>
            <a:off x="0" y="0"/>
            <a:ext cx="9144000" cy="73152"/>
          </a:xfrm>
          <a:prstGeom prst="rect">
            <a:avLst/>
          </a:prstGeom>
          <a:solidFill>
            <a:srgbClr val="00B4C8"/>
          </a:solidFill>
          <a:ln w="12700">
            <a:solidFill>
              <a:srgbClr val="00B4C8"/>
            </a:solidFill>
            <a:prstDash val="solid"/>
          </a:ln>
        </p:spPr>
      </p:sp>
      <p:sp>
        <p:nvSpPr>
          <p:cNvPr id="4" name="Text 2"/>
          <p:cNvSpPr txBox="1"/>
          <p:nvPr/>
        </p:nvSpPr>
        <p:spPr>
          <a:xfrm>
            <a:off x="365760" y="137160"/>
            <a:ext cx="8412480" cy="548640"/>
          </a:xfrm>
          <a:prstGeom prst="rect">
            <a:avLst/>
          </a:prstGeom>
          <a:noFill/>
          <a:ln/>
        </p:spPr>
        <p:txBody>
          <a:bodyPr wrap="square" lIns="0" tIns="0" rIns="0" bIns="0" rtlCol="0" anchor="ctr"/>
          <a:lstStyle/>
          <a:p>
            <a:pPr algn="l" indent="0" marL="0">
              <a:buNone/>
            </a:pPr>
            <a:r>
              <a:rPr lang="en-US" sz="2800" b="1" dirty="0">
                <a:solidFill>
                  <a:srgbClr val="1A2744"/>
                </a:solidFill>
              </a:rPr>
              <a:t>Syntex Solutions - Assessment Risk Summary</a:t>
            </a:r>
            <a:endParaRPr lang="en-US" sz="2800" dirty="0"/>
          </a:p>
        </p:txBody>
      </p:sp>
      <p:sp>
        <p:nvSpPr>
          <p:cNvPr id="5" name="Shape 3"/>
          <p:cNvSpPr/>
          <p:nvPr/>
        </p:nvSpPr>
        <p:spPr>
          <a:xfrm>
            <a:off x="365760" y="713232"/>
            <a:ext cx="8412480" cy="0"/>
          </a:xfrm>
          <a:prstGeom prst="line">
            <a:avLst/>
          </a:prstGeom>
          <a:noFill/>
          <a:ln w="19050">
            <a:solidFill>
              <a:srgbClr val="00B4C8"/>
            </a:solidFill>
            <a:prstDash val="solid"/>
          </a:ln>
        </p:spPr>
      </p:sp>
      <p:sp>
        <p:nvSpPr>
          <p:cNvPr id="6" name="Shape 4"/>
          <p:cNvSpPr/>
          <p:nvPr/>
        </p:nvSpPr>
        <p:spPr>
          <a:xfrm>
            <a:off x="457200" y="960120"/>
            <a:ext cx="1645920" cy="640080"/>
          </a:xfrm>
          <a:prstGeom prst="rect">
            <a:avLst>
              <a:gd name="adj" fmla="val 7143"/>
            </a:avLst>
          </a:prstGeom>
          <a:solidFill>
            <a:srgbClr val="C0392B"/>
          </a:solidFill>
          <a:ln w="12700">
            <a:solidFill>
              <a:srgbClr val="C0392B"/>
            </a:solidFill>
            <a:prstDash val="solid"/>
          </a:ln>
        </p:spPr>
      </p:sp>
      <p:sp>
        <p:nvSpPr>
          <p:cNvPr id="7" name="Text 5"/>
          <p:cNvSpPr txBox="1"/>
          <p:nvPr/>
        </p:nvSpPr>
        <p:spPr>
          <a:xfrm>
            <a:off x="457200" y="978408"/>
            <a:ext cx="1645920" cy="320040"/>
          </a:xfrm>
          <a:prstGeom prst="rect">
            <a:avLst/>
          </a:prstGeom>
          <a:noFill/>
          <a:ln/>
        </p:spPr>
        <p:txBody>
          <a:bodyPr wrap="square" lIns="0" tIns="0" rIns="0" bIns="0" rtlCol="0" anchor="ctr"/>
          <a:lstStyle/>
          <a:p>
            <a:pPr algn="ctr" indent="0" marL="0">
              <a:buNone/>
            </a:pPr>
            <a:r>
              <a:rPr lang="en-US" sz="2200" b="1" dirty="0">
                <a:solidFill>
                  <a:srgbClr val="FFFFFF"/>
                </a:solidFill>
              </a:rPr>
              <a:t>3</a:t>
            </a:r>
            <a:endParaRPr lang="en-US" sz="2200" dirty="0"/>
          </a:p>
        </p:txBody>
      </p:sp>
      <p:sp>
        <p:nvSpPr>
          <p:cNvPr id="8" name="Text 6"/>
          <p:cNvSpPr txBox="1"/>
          <p:nvPr/>
        </p:nvSpPr>
        <p:spPr>
          <a:xfrm>
            <a:off x="457200" y="1298448"/>
            <a:ext cx="1645920" cy="256032"/>
          </a:xfrm>
          <a:prstGeom prst="rect">
            <a:avLst/>
          </a:prstGeom>
          <a:noFill/>
          <a:ln/>
        </p:spPr>
        <p:txBody>
          <a:bodyPr wrap="square" lIns="25400" tIns="25400" rIns="25400" bIns="25400" rtlCol="0" anchor="t"/>
          <a:lstStyle/>
          <a:p>
            <a:pPr algn="ctr" indent="0" marL="0">
              <a:buNone/>
            </a:pPr>
            <a:r>
              <a:rPr lang="en-US" sz="1000" dirty="0">
                <a:solidFill>
                  <a:srgbClr val="FFFFFF"/>
                </a:solidFill>
              </a:rPr>
              <a:t>Critical</a:t>
            </a:r>
            <a:endParaRPr lang="en-US" sz="1000" dirty="0"/>
          </a:p>
        </p:txBody>
      </p:sp>
      <p:sp>
        <p:nvSpPr>
          <p:cNvPr id="9" name="Shape 7"/>
          <p:cNvSpPr/>
          <p:nvPr/>
        </p:nvSpPr>
        <p:spPr>
          <a:xfrm>
            <a:off x="2240280" y="960120"/>
            <a:ext cx="1645920" cy="640080"/>
          </a:xfrm>
          <a:prstGeom prst="rect">
            <a:avLst>
              <a:gd name="adj" fmla="val 7143"/>
            </a:avLst>
          </a:prstGeom>
          <a:solidFill>
            <a:srgbClr val="D35400"/>
          </a:solidFill>
          <a:ln w="12700">
            <a:solidFill>
              <a:srgbClr val="D35400"/>
            </a:solidFill>
            <a:prstDash val="solid"/>
          </a:ln>
        </p:spPr>
      </p:sp>
      <p:sp>
        <p:nvSpPr>
          <p:cNvPr id="10" name="Text 8"/>
          <p:cNvSpPr txBox="1"/>
          <p:nvPr/>
        </p:nvSpPr>
        <p:spPr>
          <a:xfrm>
            <a:off x="2240280" y="978408"/>
            <a:ext cx="1645920" cy="320040"/>
          </a:xfrm>
          <a:prstGeom prst="rect">
            <a:avLst/>
          </a:prstGeom>
          <a:noFill/>
          <a:ln/>
        </p:spPr>
        <p:txBody>
          <a:bodyPr wrap="square" lIns="0" tIns="0" rIns="0" bIns="0" rtlCol="0" anchor="ctr"/>
          <a:lstStyle/>
          <a:p>
            <a:pPr algn="ctr" indent="0" marL="0">
              <a:buNone/>
            </a:pPr>
            <a:r>
              <a:rPr lang="en-US" sz="2200" b="1" dirty="0">
                <a:solidFill>
                  <a:srgbClr val="FFFFFF"/>
                </a:solidFill>
              </a:rPr>
              <a:t>7</a:t>
            </a:r>
            <a:endParaRPr lang="en-US" sz="2200" dirty="0"/>
          </a:p>
        </p:txBody>
      </p:sp>
      <p:sp>
        <p:nvSpPr>
          <p:cNvPr id="11" name="Text 9"/>
          <p:cNvSpPr txBox="1"/>
          <p:nvPr/>
        </p:nvSpPr>
        <p:spPr>
          <a:xfrm>
            <a:off x="2240280" y="1298448"/>
            <a:ext cx="1645920" cy="256032"/>
          </a:xfrm>
          <a:prstGeom prst="rect">
            <a:avLst/>
          </a:prstGeom>
          <a:noFill/>
          <a:ln/>
        </p:spPr>
        <p:txBody>
          <a:bodyPr wrap="square" lIns="25400" tIns="25400" rIns="25400" bIns="25400" rtlCol="0" anchor="t"/>
          <a:lstStyle/>
          <a:p>
            <a:pPr algn="ctr" indent="0" marL="0">
              <a:buNone/>
            </a:pPr>
            <a:r>
              <a:rPr lang="en-US" sz="1000" dirty="0">
                <a:solidFill>
                  <a:srgbClr val="FFFFFF"/>
                </a:solidFill>
              </a:rPr>
              <a:t>High</a:t>
            </a:r>
            <a:endParaRPr lang="en-US" sz="1000" dirty="0"/>
          </a:p>
        </p:txBody>
      </p:sp>
      <p:sp>
        <p:nvSpPr>
          <p:cNvPr id="12" name="Shape 10"/>
          <p:cNvSpPr/>
          <p:nvPr/>
        </p:nvSpPr>
        <p:spPr>
          <a:xfrm>
            <a:off x="4023360" y="960120"/>
            <a:ext cx="1645920" cy="640080"/>
          </a:xfrm>
          <a:prstGeom prst="rect">
            <a:avLst>
              <a:gd name="adj" fmla="val 7143"/>
            </a:avLst>
          </a:prstGeom>
          <a:solidFill>
            <a:srgbClr val="E8A020"/>
          </a:solidFill>
          <a:ln w="12700">
            <a:solidFill>
              <a:srgbClr val="E8A020"/>
            </a:solidFill>
            <a:prstDash val="solid"/>
          </a:ln>
        </p:spPr>
      </p:sp>
      <p:sp>
        <p:nvSpPr>
          <p:cNvPr id="13" name="Text 11"/>
          <p:cNvSpPr txBox="1"/>
          <p:nvPr/>
        </p:nvSpPr>
        <p:spPr>
          <a:xfrm>
            <a:off x="4023360" y="978408"/>
            <a:ext cx="1645920" cy="320040"/>
          </a:xfrm>
          <a:prstGeom prst="rect">
            <a:avLst/>
          </a:prstGeom>
          <a:noFill/>
          <a:ln/>
        </p:spPr>
        <p:txBody>
          <a:bodyPr wrap="square" lIns="0" tIns="0" rIns="0" bIns="0" rtlCol="0" anchor="ctr"/>
          <a:lstStyle/>
          <a:p>
            <a:pPr algn="ctr" indent="0" marL="0">
              <a:buNone/>
            </a:pPr>
            <a:r>
              <a:rPr lang="en-US" sz="2200" b="1" dirty="0">
                <a:solidFill>
                  <a:srgbClr val="FFFFFF"/>
                </a:solidFill>
              </a:rPr>
              <a:t>6</a:t>
            </a:r>
            <a:endParaRPr lang="en-US" sz="2200" dirty="0"/>
          </a:p>
        </p:txBody>
      </p:sp>
      <p:sp>
        <p:nvSpPr>
          <p:cNvPr id="14" name="Text 12"/>
          <p:cNvSpPr txBox="1"/>
          <p:nvPr/>
        </p:nvSpPr>
        <p:spPr>
          <a:xfrm>
            <a:off x="4023360" y="1298448"/>
            <a:ext cx="1645920" cy="256032"/>
          </a:xfrm>
          <a:prstGeom prst="rect">
            <a:avLst/>
          </a:prstGeom>
          <a:noFill/>
          <a:ln/>
        </p:spPr>
        <p:txBody>
          <a:bodyPr wrap="square" lIns="25400" tIns="25400" rIns="25400" bIns="25400" rtlCol="0" anchor="t"/>
          <a:lstStyle/>
          <a:p>
            <a:pPr algn="ctr" indent="0" marL="0">
              <a:buNone/>
            </a:pPr>
            <a:r>
              <a:rPr lang="en-US" sz="1000" dirty="0">
                <a:solidFill>
                  <a:srgbClr val="FFFFFF"/>
                </a:solidFill>
              </a:rPr>
              <a:t>Medium</a:t>
            </a:r>
            <a:endParaRPr lang="en-US" sz="1000" dirty="0"/>
          </a:p>
        </p:txBody>
      </p:sp>
      <p:sp>
        <p:nvSpPr>
          <p:cNvPr id="15" name="Shape 13"/>
          <p:cNvSpPr/>
          <p:nvPr/>
        </p:nvSpPr>
        <p:spPr>
          <a:xfrm>
            <a:off x="5806440" y="960120"/>
            <a:ext cx="1645920" cy="640080"/>
          </a:xfrm>
          <a:prstGeom prst="rect">
            <a:avLst>
              <a:gd name="adj" fmla="val 7143"/>
            </a:avLst>
          </a:prstGeom>
          <a:solidFill>
            <a:srgbClr val="27AE60"/>
          </a:solidFill>
          <a:ln w="12700">
            <a:solidFill>
              <a:srgbClr val="27AE60"/>
            </a:solidFill>
            <a:prstDash val="solid"/>
          </a:ln>
        </p:spPr>
      </p:sp>
      <p:sp>
        <p:nvSpPr>
          <p:cNvPr id="16" name="Text 14"/>
          <p:cNvSpPr txBox="1"/>
          <p:nvPr/>
        </p:nvSpPr>
        <p:spPr>
          <a:xfrm>
            <a:off x="5806440" y="978408"/>
            <a:ext cx="1645920" cy="320040"/>
          </a:xfrm>
          <a:prstGeom prst="rect">
            <a:avLst/>
          </a:prstGeom>
          <a:noFill/>
          <a:ln/>
        </p:spPr>
        <p:txBody>
          <a:bodyPr wrap="square" lIns="0" tIns="0" rIns="0" bIns="0" rtlCol="0" anchor="ctr"/>
          <a:lstStyle/>
          <a:p>
            <a:pPr algn="ctr" indent="0" marL="0">
              <a:buNone/>
            </a:pPr>
            <a:r>
              <a:rPr lang="en-US" sz="2200" b="1" dirty="0">
                <a:solidFill>
                  <a:srgbClr val="FFFFFF"/>
                </a:solidFill>
              </a:rPr>
              <a:t>2</a:t>
            </a:r>
            <a:endParaRPr lang="en-US" sz="2200" dirty="0"/>
          </a:p>
        </p:txBody>
      </p:sp>
      <p:sp>
        <p:nvSpPr>
          <p:cNvPr id="17" name="Text 15"/>
          <p:cNvSpPr txBox="1"/>
          <p:nvPr/>
        </p:nvSpPr>
        <p:spPr>
          <a:xfrm>
            <a:off x="5806440" y="1298448"/>
            <a:ext cx="1645920" cy="256032"/>
          </a:xfrm>
          <a:prstGeom prst="rect">
            <a:avLst/>
          </a:prstGeom>
          <a:noFill/>
          <a:ln/>
        </p:spPr>
        <p:txBody>
          <a:bodyPr wrap="square" lIns="25400" tIns="25400" rIns="25400" bIns="25400" rtlCol="0" anchor="t"/>
          <a:lstStyle/>
          <a:p>
            <a:pPr algn="ctr" indent="0" marL="0">
              <a:buNone/>
            </a:pPr>
            <a:r>
              <a:rPr lang="en-US" sz="1000" dirty="0">
                <a:solidFill>
                  <a:srgbClr val="FFFFFF"/>
                </a:solidFill>
              </a:rPr>
              <a:t>Low</a:t>
            </a:r>
            <a:endParaRPr lang="en-US" sz="1000" dirty="0"/>
          </a:p>
        </p:txBody>
      </p:sp>
      <p:sp>
        <p:nvSpPr>
          <p:cNvPr id="18" name="Text 16"/>
          <p:cNvSpPr txBox="1"/>
          <p:nvPr/>
        </p:nvSpPr>
        <p:spPr>
          <a:xfrm>
            <a:off x="7498080" y="1005840"/>
            <a:ext cx="1371600" cy="320040"/>
          </a:xfrm>
          <a:prstGeom prst="rect">
            <a:avLst/>
          </a:prstGeom>
          <a:noFill/>
          <a:ln/>
        </p:spPr>
        <p:txBody>
          <a:bodyPr wrap="square" lIns="0" tIns="0" rIns="0" bIns="0" rtlCol="0" anchor="ctr"/>
          <a:lstStyle/>
          <a:p>
            <a:pPr algn="ctr" indent="0" marL="0">
              <a:buNone/>
            </a:pPr>
            <a:r>
              <a:rPr lang="en-US" sz="1400" b="1" dirty="0">
                <a:solidFill>
                  <a:srgbClr val="1A2744"/>
                </a:solidFill>
              </a:rPr>
              <a:t>18 Total Findings</a:t>
            </a:r>
            <a:endParaRPr lang="en-US" sz="1400" dirty="0"/>
          </a:p>
        </p:txBody>
      </p:sp>
      <p:sp>
        <p:nvSpPr>
          <p:cNvPr id="19" name="Text 17"/>
          <p:cNvSpPr txBox="1"/>
          <p:nvPr/>
        </p:nvSpPr>
        <p:spPr>
          <a:xfrm>
            <a:off x="7406640" y="1353312"/>
            <a:ext cx="1463040" cy="256032"/>
          </a:xfrm>
          <a:prstGeom prst="rect">
            <a:avLst/>
          </a:prstGeom>
          <a:noFill/>
          <a:ln/>
        </p:spPr>
        <p:txBody>
          <a:bodyPr wrap="square" lIns="0" tIns="0" rIns="0" bIns="0" rtlCol="0" anchor="ctr"/>
          <a:lstStyle/>
          <a:p>
            <a:pPr algn="ctr" indent="0" marL="0">
              <a:buNone/>
            </a:pPr>
            <a:r>
              <a:rPr lang="en-US" sz="1000" b="1" dirty="0">
                <a:solidFill>
                  <a:srgbClr val="C0392B"/>
                </a:solidFill>
              </a:rPr>
              <a:t>Overall Risk: CRITICAL</a:t>
            </a:r>
            <a:endParaRPr lang="en-US" sz="1000" dirty="0"/>
          </a:p>
        </p:txBody>
      </p:sp>
      <p:sp>
        <p:nvSpPr>
          <p:cNvPr id="20" name="Text 18"/>
          <p:cNvSpPr txBox="1"/>
          <p:nvPr/>
        </p:nvSpPr>
        <p:spPr>
          <a:xfrm>
            <a:off x="365760" y="1783080"/>
            <a:ext cx="8412480" cy="320040"/>
          </a:xfrm>
          <a:prstGeom prst="rect">
            <a:avLst/>
          </a:prstGeom>
          <a:noFill/>
          <a:ln/>
        </p:spPr>
        <p:txBody>
          <a:bodyPr wrap="square" lIns="0" tIns="0" rIns="0" bIns="0" rtlCol="0" anchor="ctr"/>
          <a:lstStyle/>
          <a:p>
            <a:pPr indent="0" marL="0">
              <a:buNone/>
            </a:pPr>
            <a:r>
              <a:rPr lang="en-US" sz="1400" b="1" dirty="0">
                <a:solidFill>
                  <a:srgbClr val="C0392B"/>
                </a:solidFill>
              </a:rPr>
              <a:t>Critical Findings - Immediate Action Required</a:t>
            </a:r>
            <a:endParaRPr lang="en-US" sz="1400" dirty="0"/>
          </a:p>
        </p:txBody>
      </p:sp>
      <p:sp>
        <p:nvSpPr>
          <p:cNvPr id="21" name="Shape 19"/>
          <p:cNvSpPr/>
          <p:nvPr/>
        </p:nvSpPr>
        <p:spPr>
          <a:xfrm>
            <a:off x="365760" y="2194560"/>
            <a:ext cx="8412480" cy="566928"/>
          </a:xfrm>
          <a:prstGeom prst="rect">
            <a:avLst/>
          </a:prstGeom>
          <a:solidFill>
            <a:srgbClr val="FFF5F5"/>
          </a:solidFill>
          <a:ln w="6350">
            <a:solidFill>
              <a:srgbClr val="C0392B"/>
            </a:solidFill>
            <a:prstDash val="solid"/>
          </a:ln>
        </p:spPr>
      </p:sp>
      <p:sp>
        <p:nvSpPr>
          <p:cNvPr id="22" name="Shape 20"/>
          <p:cNvSpPr/>
          <p:nvPr/>
        </p:nvSpPr>
        <p:spPr>
          <a:xfrm>
            <a:off x="365760" y="2194560"/>
            <a:ext cx="502920" cy="566928"/>
          </a:xfrm>
          <a:prstGeom prst="rect">
            <a:avLst/>
          </a:prstGeom>
          <a:solidFill>
            <a:srgbClr val="C0392B"/>
          </a:solidFill>
          <a:ln w="12700">
            <a:solidFill>
              <a:srgbClr val="C0392B"/>
            </a:solidFill>
            <a:prstDash val="solid"/>
          </a:ln>
        </p:spPr>
      </p:sp>
      <p:sp>
        <p:nvSpPr>
          <p:cNvPr id="23" name="Text 21"/>
          <p:cNvSpPr txBox="1"/>
          <p:nvPr/>
        </p:nvSpPr>
        <p:spPr>
          <a:xfrm>
            <a:off x="365760" y="2194560"/>
            <a:ext cx="502920" cy="566928"/>
          </a:xfrm>
          <a:prstGeom prst="rect">
            <a:avLst/>
          </a:prstGeom>
          <a:noFill/>
          <a:ln/>
        </p:spPr>
        <p:txBody>
          <a:bodyPr wrap="square" lIns="0" tIns="0" rIns="0" bIns="0" rtlCol="0" anchor="ctr"/>
          <a:lstStyle/>
          <a:p>
            <a:pPr algn="ctr" indent="0" marL="0">
              <a:buNone/>
            </a:pPr>
            <a:r>
              <a:rPr lang="en-US" sz="900" b="1" dirty="0">
                <a:solidFill>
                  <a:srgbClr val="FFFFFF"/>
                </a:solidFill>
              </a:rPr>
              <a:t>F-01</a:t>
            </a:r>
            <a:endParaRPr lang="en-US" sz="900" dirty="0"/>
          </a:p>
        </p:txBody>
      </p:sp>
      <p:sp>
        <p:nvSpPr>
          <p:cNvPr id="24" name="Text 22"/>
          <p:cNvSpPr txBox="1"/>
          <p:nvPr/>
        </p:nvSpPr>
        <p:spPr>
          <a:xfrm>
            <a:off x="914400" y="2231136"/>
            <a:ext cx="4114800" cy="274320"/>
          </a:xfrm>
          <a:prstGeom prst="rect">
            <a:avLst/>
          </a:prstGeom>
          <a:noFill/>
          <a:ln/>
        </p:spPr>
        <p:txBody>
          <a:bodyPr wrap="square" lIns="0" tIns="0" rIns="0" bIns="0" rtlCol="0" anchor="ctr"/>
          <a:lstStyle/>
          <a:p>
            <a:pPr indent="0" marL="0">
              <a:buNone/>
            </a:pPr>
            <a:r>
              <a:rPr lang="en-US" sz="1100" b="1" dirty="0">
                <a:solidFill>
                  <a:srgbClr val="1A2744"/>
                </a:solidFill>
              </a:rPr>
              <a:t>Apache Struts RCE on SYNTEX-LNX01</a:t>
            </a:r>
            <a:endParaRPr lang="en-US" sz="1100" dirty="0"/>
          </a:p>
        </p:txBody>
      </p:sp>
      <p:sp>
        <p:nvSpPr>
          <p:cNvPr id="25" name="Text 23"/>
          <p:cNvSpPr txBox="1"/>
          <p:nvPr/>
        </p:nvSpPr>
        <p:spPr>
          <a:xfrm>
            <a:off x="914400" y="2505456"/>
            <a:ext cx="914400" cy="201168"/>
          </a:xfrm>
          <a:prstGeom prst="rect">
            <a:avLst/>
          </a:prstGeom>
          <a:noFill/>
          <a:ln/>
        </p:spPr>
        <p:txBody>
          <a:bodyPr wrap="square" lIns="0" tIns="0" rIns="0" bIns="0" rtlCol="0" anchor="ctr"/>
          <a:lstStyle/>
          <a:p>
            <a:pPr indent="0" marL="0">
              <a:buNone/>
            </a:pPr>
            <a:r>
              <a:rPr lang="en-US" sz="900" b="1" dirty="0">
                <a:solidFill>
                  <a:srgbClr val="C0392B"/>
                </a:solidFill>
              </a:rPr>
              <a:t>CVSS 9.8</a:t>
            </a:r>
            <a:endParaRPr lang="en-US" sz="900" dirty="0"/>
          </a:p>
        </p:txBody>
      </p:sp>
      <p:sp>
        <p:nvSpPr>
          <p:cNvPr id="26" name="Text 24"/>
          <p:cNvSpPr txBox="1"/>
          <p:nvPr/>
        </p:nvSpPr>
        <p:spPr>
          <a:xfrm>
            <a:off x="1874520" y="2505456"/>
            <a:ext cx="6812280" cy="201168"/>
          </a:xfrm>
          <a:prstGeom prst="rect">
            <a:avLst/>
          </a:prstGeom>
          <a:noFill/>
          <a:ln/>
        </p:spPr>
        <p:txBody>
          <a:bodyPr wrap="square" lIns="0" tIns="0" rIns="0" bIns="0" rtlCol="0" anchor="ctr"/>
          <a:lstStyle/>
          <a:p>
            <a:pPr indent="0" marL="0">
              <a:buNone/>
            </a:pPr>
            <a:r>
              <a:rPr lang="en-US" sz="900" dirty="0">
                <a:solidFill>
                  <a:srgbClr val="7F8C8D"/>
                </a:solidFill>
              </a:rPr>
              <a:t>Patch to non-vulnerable version immediately</a:t>
            </a:r>
            <a:endParaRPr lang="en-US" sz="900" dirty="0"/>
          </a:p>
        </p:txBody>
      </p:sp>
      <p:sp>
        <p:nvSpPr>
          <p:cNvPr id="27" name="Shape 25"/>
          <p:cNvSpPr/>
          <p:nvPr/>
        </p:nvSpPr>
        <p:spPr>
          <a:xfrm>
            <a:off x="365760" y="2834640"/>
            <a:ext cx="8412480" cy="566928"/>
          </a:xfrm>
          <a:prstGeom prst="rect">
            <a:avLst/>
          </a:prstGeom>
          <a:solidFill>
            <a:srgbClr val="FFF5F5"/>
          </a:solidFill>
          <a:ln w="6350">
            <a:solidFill>
              <a:srgbClr val="C0392B"/>
            </a:solidFill>
            <a:prstDash val="solid"/>
          </a:ln>
        </p:spPr>
      </p:sp>
      <p:sp>
        <p:nvSpPr>
          <p:cNvPr id="28" name="Shape 26"/>
          <p:cNvSpPr/>
          <p:nvPr/>
        </p:nvSpPr>
        <p:spPr>
          <a:xfrm>
            <a:off x="365760" y="2834640"/>
            <a:ext cx="502920" cy="566928"/>
          </a:xfrm>
          <a:prstGeom prst="rect">
            <a:avLst/>
          </a:prstGeom>
          <a:solidFill>
            <a:srgbClr val="C0392B"/>
          </a:solidFill>
          <a:ln w="12700">
            <a:solidFill>
              <a:srgbClr val="C0392B"/>
            </a:solidFill>
            <a:prstDash val="solid"/>
          </a:ln>
        </p:spPr>
      </p:sp>
      <p:sp>
        <p:nvSpPr>
          <p:cNvPr id="29" name="Text 27"/>
          <p:cNvSpPr txBox="1"/>
          <p:nvPr/>
        </p:nvSpPr>
        <p:spPr>
          <a:xfrm>
            <a:off x="365760" y="2834640"/>
            <a:ext cx="502920" cy="566928"/>
          </a:xfrm>
          <a:prstGeom prst="rect">
            <a:avLst/>
          </a:prstGeom>
          <a:noFill/>
          <a:ln/>
        </p:spPr>
        <p:txBody>
          <a:bodyPr wrap="square" lIns="0" tIns="0" rIns="0" bIns="0" rtlCol="0" anchor="ctr"/>
          <a:lstStyle/>
          <a:p>
            <a:pPr algn="ctr" indent="0" marL="0">
              <a:buNone/>
            </a:pPr>
            <a:r>
              <a:rPr lang="en-US" sz="900" b="1" dirty="0">
                <a:solidFill>
                  <a:srgbClr val="FFFFFF"/>
                </a:solidFill>
              </a:rPr>
              <a:t>F-04</a:t>
            </a:r>
            <a:endParaRPr lang="en-US" sz="900" dirty="0"/>
          </a:p>
        </p:txBody>
      </p:sp>
      <p:sp>
        <p:nvSpPr>
          <p:cNvPr id="30" name="Text 28"/>
          <p:cNvSpPr txBox="1"/>
          <p:nvPr/>
        </p:nvSpPr>
        <p:spPr>
          <a:xfrm>
            <a:off x="914400" y="2871216"/>
            <a:ext cx="4114800" cy="274320"/>
          </a:xfrm>
          <a:prstGeom prst="rect">
            <a:avLst/>
          </a:prstGeom>
          <a:noFill/>
          <a:ln/>
        </p:spPr>
        <p:txBody>
          <a:bodyPr wrap="square" lIns="0" tIns="0" rIns="0" bIns="0" rtlCol="0" anchor="ctr"/>
          <a:lstStyle/>
          <a:p>
            <a:pPr indent="0" marL="0">
              <a:buNone/>
            </a:pPr>
            <a:r>
              <a:rPr lang="en-US" sz="1100" b="1" dirty="0">
                <a:solidFill>
                  <a:srgbClr val="1A2744"/>
                </a:solidFill>
              </a:rPr>
              <a:t>Weak SSH Root Password</a:t>
            </a:r>
            <a:endParaRPr lang="en-US" sz="1100" dirty="0"/>
          </a:p>
        </p:txBody>
      </p:sp>
      <p:sp>
        <p:nvSpPr>
          <p:cNvPr id="31" name="Text 29"/>
          <p:cNvSpPr txBox="1"/>
          <p:nvPr/>
        </p:nvSpPr>
        <p:spPr>
          <a:xfrm>
            <a:off x="914400" y="3145536"/>
            <a:ext cx="914400" cy="201168"/>
          </a:xfrm>
          <a:prstGeom prst="rect">
            <a:avLst/>
          </a:prstGeom>
          <a:noFill/>
          <a:ln/>
        </p:spPr>
        <p:txBody>
          <a:bodyPr wrap="square" lIns="0" tIns="0" rIns="0" bIns="0" rtlCol="0" anchor="ctr"/>
          <a:lstStyle/>
          <a:p>
            <a:pPr indent="0" marL="0">
              <a:buNone/>
            </a:pPr>
            <a:r>
              <a:rPr lang="en-US" sz="900" b="1" dirty="0">
                <a:solidFill>
                  <a:srgbClr val="C0392B"/>
                </a:solidFill>
              </a:rPr>
              <a:t>CVSS 9.8</a:t>
            </a:r>
            <a:endParaRPr lang="en-US" sz="900" dirty="0"/>
          </a:p>
        </p:txBody>
      </p:sp>
      <p:sp>
        <p:nvSpPr>
          <p:cNvPr id="32" name="Text 30"/>
          <p:cNvSpPr txBox="1"/>
          <p:nvPr/>
        </p:nvSpPr>
        <p:spPr>
          <a:xfrm>
            <a:off x="1874520" y="3145536"/>
            <a:ext cx="6812280" cy="201168"/>
          </a:xfrm>
          <a:prstGeom prst="rect">
            <a:avLst/>
          </a:prstGeom>
          <a:noFill/>
          <a:ln/>
        </p:spPr>
        <p:txBody>
          <a:bodyPr wrap="square" lIns="0" tIns="0" rIns="0" bIns="0" rtlCol="0" anchor="ctr"/>
          <a:lstStyle/>
          <a:p>
            <a:pPr indent="0" marL="0">
              <a:buNone/>
            </a:pPr>
            <a:r>
              <a:rPr lang="en-US" sz="900" dirty="0">
                <a:solidFill>
                  <a:srgbClr val="7F8C8D"/>
                </a:solidFill>
              </a:rPr>
              <a:t>Disable root SSH; enforce key-based auth</a:t>
            </a:r>
            <a:endParaRPr lang="en-US" sz="900" dirty="0"/>
          </a:p>
        </p:txBody>
      </p:sp>
      <p:sp>
        <p:nvSpPr>
          <p:cNvPr id="33" name="Shape 31"/>
          <p:cNvSpPr/>
          <p:nvPr/>
        </p:nvSpPr>
        <p:spPr>
          <a:xfrm>
            <a:off x="365760" y="3474720"/>
            <a:ext cx="8412480" cy="566928"/>
          </a:xfrm>
          <a:prstGeom prst="rect">
            <a:avLst/>
          </a:prstGeom>
          <a:solidFill>
            <a:srgbClr val="FFF5F5"/>
          </a:solidFill>
          <a:ln w="6350">
            <a:solidFill>
              <a:srgbClr val="C0392B"/>
            </a:solidFill>
            <a:prstDash val="solid"/>
          </a:ln>
        </p:spPr>
      </p:sp>
      <p:sp>
        <p:nvSpPr>
          <p:cNvPr id="34" name="Shape 32"/>
          <p:cNvSpPr/>
          <p:nvPr/>
        </p:nvSpPr>
        <p:spPr>
          <a:xfrm>
            <a:off x="365760" y="3474720"/>
            <a:ext cx="502920" cy="566928"/>
          </a:xfrm>
          <a:prstGeom prst="rect">
            <a:avLst/>
          </a:prstGeom>
          <a:solidFill>
            <a:srgbClr val="C0392B"/>
          </a:solidFill>
          <a:ln w="12700">
            <a:solidFill>
              <a:srgbClr val="C0392B"/>
            </a:solidFill>
            <a:prstDash val="solid"/>
          </a:ln>
        </p:spPr>
      </p:sp>
      <p:sp>
        <p:nvSpPr>
          <p:cNvPr id="35" name="Text 33"/>
          <p:cNvSpPr txBox="1"/>
          <p:nvPr/>
        </p:nvSpPr>
        <p:spPr>
          <a:xfrm>
            <a:off x="365760" y="3474720"/>
            <a:ext cx="502920" cy="566928"/>
          </a:xfrm>
          <a:prstGeom prst="rect">
            <a:avLst/>
          </a:prstGeom>
          <a:noFill/>
          <a:ln/>
        </p:spPr>
        <p:txBody>
          <a:bodyPr wrap="square" lIns="0" tIns="0" rIns="0" bIns="0" rtlCol="0" anchor="ctr"/>
          <a:lstStyle/>
          <a:p>
            <a:pPr algn="ctr" indent="0" marL="0">
              <a:buNone/>
            </a:pPr>
            <a:r>
              <a:rPr lang="en-US" sz="900" b="1" dirty="0">
                <a:solidFill>
                  <a:srgbClr val="FFFFFF"/>
                </a:solidFill>
              </a:rPr>
              <a:t>F-05</a:t>
            </a:r>
            <a:endParaRPr lang="en-US" sz="900" dirty="0"/>
          </a:p>
        </p:txBody>
      </p:sp>
      <p:sp>
        <p:nvSpPr>
          <p:cNvPr id="36" name="Text 34"/>
          <p:cNvSpPr txBox="1"/>
          <p:nvPr/>
        </p:nvSpPr>
        <p:spPr>
          <a:xfrm>
            <a:off x="914400" y="3511296"/>
            <a:ext cx="4114800" cy="274320"/>
          </a:xfrm>
          <a:prstGeom prst="rect">
            <a:avLst/>
          </a:prstGeom>
          <a:noFill/>
          <a:ln/>
        </p:spPr>
        <p:txBody>
          <a:bodyPr wrap="square" lIns="0" tIns="0" rIns="0" bIns="0" rtlCol="0" anchor="ctr"/>
          <a:lstStyle/>
          <a:p>
            <a:pPr indent="0" marL="0">
              <a:buNone/>
            </a:pPr>
            <a:r>
              <a:rPr lang="en-US" sz="1100" b="1" dirty="0">
                <a:solidFill>
                  <a:srgbClr val="1A2744"/>
                </a:solidFill>
              </a:rPr>
              <a:t>Kerberoasting vulnerability (AD)</a:t>
            </a:r>
            <a:endParaRPr lang="en-US" sz="1100" dirty="0"/>
          </a:p>
        </p:txBody>
      </p:sp>
      <p:sp>
        <p:nvSpPr>
          <p:cNvPr id="37" name="Text 35"/>
          <p:cNvSpPr txBox="1"/>
          <p:nvPr/>
        </p:nvSpPr>
        <p:spPr>
          <a:xfrm>
            <a:off x="914400" y="3785616"/>
            <a:ext cx="914400" cy="201168"/>
          </a:xfrm>
          <a:prstGeom prst="rect">
            <a:avLst/>
          </a:prstGeom>
          <a:noFill/>
          <a:ln/>
        </p:spPr>
        <p:txBody>
          <a:bodyPr wrap="square" lIns="0" tIns="0" rIns="0" bIns="0" rtlCol="0" anchor="ctr"/>
          <a:lstStyle/>
          <a:p>
            <a:pPr indent="0" marL="0">
              <a:buNone/>
            </a:pPr>
            <a:r>
              <a:rPr lang="en-US" sz="900" b="1" dirty="0">
                <a:solidFill>
                  <a:srgbClr val="C0392B"/>
                </a:solidFill>
              </a:rPr>
              <a:t>CVSS 9.9</a:t>
            </a:r>
            <a:endParaRPr lang="en-US" sz="900" dirty="0"/>
          </a:p>
        </p:txBody>
      </p:sp>
      <p:sp>
        <p:nvSpPr>
          <p:cNvPr id="38" name="Text 36"/>
          <p:cNvSpPr txBox="1"/>
          <p:nvPr/>
        </p:nvSpPr>
        <p:spPr>
          <a:xfrm>
            <a:off x="1874520" y="3785616"/>
            <a:ext cx="6812280" cy="201168"/>
          </a:xfrm>
          <a:prstGeom prst="rect">
            <a:avLst/>
          </a:prstGeom>
          <a:noFill/>
          <a:ln/>
        </p:spPr>
        <p:txBody>
          <a:bodyPr wrap="square" lIns="0" tIns="0" rIns="0" bIns="0" rtlCol="0" anchor="ctr"/>
          <a:lstStyle/>
          <a:p>
            <a:pPr indent="0" marL="0">
              <a:buNone/>
            </a:pPr>
            <a:r>
              <a:rPr lang="en-US" sz="900" dirty="0">
                <a:solidFill>
                  <a:srgbClr val="7F8C8D"/>
                </a:solidFill>
              </a:rPr>
              <a:t>Audit service accounts; enforce strong passwords</a:t>
            </a:r>
            <a:endParaRPr lang="en-US" sz="900" dirty="0"/>
          </a:p>
        </p:txBody>
      </p:sp>
      <p:sp>
        <p:nvSpPr>
          <p:cNvPr id="39" name="Text 37"/>
          <p:cNvSpPr txBox="1"/>
          <p:nvPr/>
        </p:nvSpPr>
        <p:spPr>
          <a:xfrm>
            <a:off x="0" y="4892040"/>
            <a:ext cx="9144000" cy="256032"/>
          </a:xfrm>
          <a:prstGeom prst="rect">
            <a:avLst/>
          </a:prstGeom>
          <a:noFill/>
          <a:ln/>
        </p:spPr>
        <p:txBody>
          <a:bodyPr wrap="square" lIns="0" tIns="0" rIns="0" bIns="0" rtlCol="0" anchor="ctr"/>
          <a:lstStyle/>
          <a:p>
            <a:pPr algn="ctr" indent="0" marL="0">
              <a:buNone/>
            </a:pPr>
            <a:r>
              <a:rPr lang="en-US" sz="900" dirty="0">
                <a:solidFill>
                  <a:srgbClr val="7F8C8D"/>
                </a:solidFill>
              </a:rPr>
              <a:t>My Cyber Academy | MCA CREST CPSA - Module A: Soft Skills</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w="12700">
            <a:solidFill>
              <a:srgbClr val="FFFFFF"/>
            </a:solidFill>
            <a:prstDash val="solid"/>
          </a:ln>
        </p:spPr>
      </p:sp>
      <p:sp>
        <p:nvSpPr>
          <p:cNvPr id="3" name="Shape 1"/>
          <p:cNvSpPr/>
          <p:nvPr/>
        </p:nvSpPr>
        <p:spPr>
          <a:xfrm>
            <a:off x="0" y="0"/>
            <a:ext cx="9144000" cy="73152"/>
          </a:xfrm>
          <a:prstGeom prst="rect">
            <a:avLst/>
          </a:prstGeom>
          <a:solidFill>
            <a:srgbClr val="00B4C8"/>
          </a:solidFill>
          <a:ln w="12700">
            <a:solidFill>
              <a:srgbClr val="00B4C8"/>
            </a:solidFill>
            <a:prstDash val="solid"/>
          </a:ln>
        </p:spPr>
      </p:sp>
      <p:sp>
        <p:nvSpPr>
          <p:cNvPr id="4" name="Text 2"/>
          <p:cNvSpPr txBox="1"/>
          <p:nvPr/>
        </p:nvSpPr>
        <p:spPr>
          <a:xfrm>
            <a:off x="365760" y="137160"/>
            <a:ext cx="8412480" cy="548640"/>
          </a:xfrm>
          <a:prstGeom prst="rect">
            <a:avLst/>
          </a:prstGeom>
          <a:noFill/>
          <a:ln/>
        </p:spPr>
        <p:txBody>
          <a:bodyPr wrap="square" lIns="0" tIns="0" rIns="0" bIns="0" rtlCol="0" anchor="ctr"/>
          <a:lstStyle/>
          <a:p>
            <a:pPr algn="l" indent="0" marL="0">
              <a:buNone/>
            </a:pPr>
            <a:r>
              <a:rPr lang="en-US" sz="2800" b="1" dirty="0">
                <a:solidFill>
                  <a:srgbClr val="1A2744"/>
                </a:solidFill>
              </a:rPr>
              <a:t>Module A - Key Takeaways for the CPSA Exam</a:t>
            </a:r>
            <a:endParaRPr lang="en-US" sz="2800" dirty="0"/>
          </a:p>
        </p:txBody>
      </p:sp>
      <p:sp>
        <p:nvSpPr>
          <p:cNvPr id="5" name="Shape 3"/>
          <p:cNvSpPr/>
          <p:nvPr/>
        </p:nvSpPr>
        <p:spPr>
          <a:xfrm>
            <a:off x="365760" y="713232"/>
            <a:ext cx="8412480" cy="0"/>
          </a:xfrm>
          <a:prstGeom prst="line">
            <a:avLst/>
          </a:prstGeom>
          <a:noFill/>
          <a:ln w="19050">
            <a:solidFill>
              <a:srgbClr val="00B4C8"/>
            </a:solidFill>
            <a:prstDash val="solid"/>
          </a:ln>
        </p:spPr>
      </p:sp>
      <p:sp>
        <p:nvSpPr>
          <p:cNvPr id="6" name="Shape 4"/>
          <p:cNvSpPr/>
          <p:nvPr/>
        </p:nvSpPr>
        <p:spPr>
          <a:xfrm>
            <a:off x="274320" y="914400"/>
            <a:ext cx="4114800" cy="1188720"/>
          </a:xfrm>
          <a:prstGeom prst="rect">
            <a:avLst/>
          </a:prstGeom>
          <a:solidFill>
            <a:srgbClr val="EEF4FB"/>
          </a:solidFill>
          <a:ln w="12700">
            <a:solidFill>
              <a:srgbClr val="00B4C8"/>
            </a:solidFill>
            <a:prstDash val="solid"/>
          </a:ln>
        </p:spPr>
      </p:sp>
      <p:sp>
        <p:nvSpPr>
          <p:cNvPr id="7" name="Shape 5"/>
          <p:cNvSpPr/>
          <p:nvPr/>
        </p:nvSpPr>
        <p:spPr>
          <a:xfrm>
            <a:off x="274320" y="914400"/>
            <a:ext cx="1371600" cy="347472"/>
          </a:xfrm>
          <a:prstGeom prst="rect">
            <a:avLst/>
          </a:prstGeom>
          <a:solidFill>
            <a:srgbClr val="0D3B5E"/>
          </a:solidFill>
          <a:ln w="12700">
            <a:solidFill>
              <a:srgbClr val="0D3B5E"/>
            </a:solidFill>
            <a:prstDash val="solid"/>
          </a:ln>
        </p:spPr>
      </p:sp>
      <p:sp>
        <p:nvSpPr>
          <p:cNvPr id="8" name="Text 6"/>
          <p:cNvSpPr txBox="1"/>
          <p:nvPr/>
        </p:nvSpPr>
        <p:spPr>
          <a:xfrm>
            <a:off x="274320" y="914400"/>
            <a:ext cx="1371600" cy="347472"/>
          </a:xfrm>
          <a:prstGeom prst="rect">
            <a:avLst/>
          </a:prstGeom>
          <a:noFill/>
          <a:ln/>
        </p:spPr>
        <p:txBody>
          <a:bodyPr wrap="square" lIns="0" tIns="0" rIns="0" bIns="0" rtlCol="0" anchor="ctr"/>
          <a:lstStyle/>
          <a:p>
            <a:pPr algn="ctr" indent="0" marL="0">
              <a:buNone/>
            </a:pPr>
            <a:r>
              <a:rPr lang="en-US" sz="1100" b="1" dirty="0">
                <a:solidFill>
                  <a:srgbClr val="FFFFFF"/>
                </a:solidFill>
              </a:rPr>
              <a:t>PT Lifecycle</a:t>
            </a:r>
            <a:endParaRPr lang="en-US" sz="1100" dirty="0"/>
          </a:p>
        </p:txBody>
      </p:sp>
      <p:sp>
        <p:nvSpPr>
          <p:cNvPr id="9" name="Text 7"/>
          <p:cNvSpPr txBox="1"/>
          <p:nvPr/>
        </p:nvSpPr>
        <p:spPr>
          <a:xfrm>
            <a:off x="365760" y="1316736"/>
            <a:ext cx="3931920" cy="256032"/>
          </a:xfrm>
          <a:prstGeom prst="rect">
            <a:avLst/>
          </a:prstGeom>
          <a:noFill/>
          <a:ln/>
        </p:spPr>
        <p:txBody>
          <a:bodyPr wrap="square" lIns="0" tIns="0" rIns="0" bIns="0" rtlCol="0" anchor="ctr"/>
          <a:lstStyle/>
          <a:p>
            <a:pPr indent="0" marL="0">
              <a:buNone/>
            </a:pPr>
            <a:r>
              <a:rPr lang="en-US" sz="1000" dirty="0">
                <a:solidFill>
                  <a:srgbClr val="2C3E50"/>
                </a:solidFill>
              </a:rPr>
              <a:t>Testing cannot begin without written authorisation</a:t>
            </a:r>
            <a:endParaRPr lang="en-US" sz="1000" dirty="0"/>
          </a:p>
        </p:txBody>
      </p:sp>
      <p:sp>
        <p:nvSpPr>
          <p:cNvPr id="10" name="Text 8"/>
          <p:cNvSpPr txBox="1"/>
          <p:nvPr/>
        </p:nvSpPr>
        <p:spPr>
          <a:xfrm>
            <a:off x="365760" y="1591056"/>
            <a:ext cx="3931920" cy="256032"/>
          </a:xfrm>
          <a:prstGeom prst="rect">
            <a:avLst/>
          </a:prstGeom>
          <a:noFill/>
          <a:ln/>
        </p:spPr>
        <p:txBody>
          <a:bodyPr wrap="square" lIns="0" tIns="0" rIns="0" bIns="0" rtlCol="0" anchor="ctr"/>
          <a:lstStyle/>
          <a:p>
            <a:pPr indent="0" marL="0">
              <a:buNone/>
            </a:pPr>
            <a:r>
              <a:rPr lang="en-US" sz="1000" dirty="0">
                <a:solidFill>
                  <a:srgbClr val="2C3E50"/>
                </a:solidFill>
              </a:rPr>
              <a:t>Each phase feeds evidence into the next</a:t>
            </a:r>
            <a:endParaRPr lang="en-US" sz="1000" dirty="0"/>
          </a:p>
        </p:txBody>
      </p:sp>
      <p:sp>
        <p:nvSpPr>
          <p:cNvPr id="11" name="Text 9"/>
          <p:cNvSpPr txBox="1"/>
          <p:nvPr/>
        </p:nvSpPr>
        <p:spPr>
          <a:xfrm>
            <a:off x="365760" y="1865376"/>
            <a:ext cx="3931920" cy="256032"/>
          </a:xfrm>
          <a:prstGeom prst="rect">
            <a:avLst/>
          </a:prstGeom>
          <a:noFill/>
          <a:ln/>
        </p:spPr>
        <p:txBody>
          <a:bodyPr wrap="square" lIns="0" tIns="0" rIns="0" bIns="0" rtlCol="0" anchor="ctr"/>
          <a:lstStyle/>
          <a:p>
            <a:pPr indent="0" marL="0">
              <a:buNone/>
            </a:pPr>
            <a:r>
              <a:rPr lang="en-US" sz="1000" dirty="0">
                <a:solidFill>
                  <a:srgbClr val="2C3E50"/>
                </a:solidFill>
              </a:rPr>
              <a:t>Report is produced from evidence gathered during the engagement</a:t>
            </a:r>
            <a:endParaRPr lang="en-US" sz="1000" dirty="0"/>
          </a:p>
        </p:txBody>
      </p:sp>
      <p:sp>
        <p:nvSpPr>
          <p:cNvPr id="12" name="Shape 10"/>
          <p:cNvSpPr/>
          <p:nvPr/>
        </p:nvSpPr>
        <p:spPr>
          <a:xfrm>
            <a:off x="274320" y="2240280"/>
            <a:ext cx="4114800" cy="1188720"/>
          </a:xfrm>
          <a:prstGeom prst="rect">
            <a:avLst/>
          </a:prstGeom>
          <a:solidFill>
            <a:srgbClr val="EEF4FB"/>
          </a:solidFill>
          <a:ln w="12700">
            <a:solidFill>
              <a:srgbClr val="00B4C8"/>
            </a:solidFill>
            <a:prstDash val="solid"/>
          </a:ln>
        </p:spPr>
      </p:sp>
      <p:sp>
        <p:nvSpPr>
          <p:cNvPr id="13" name="Shape 11"/>
          <p:cNvSpPr/>
          <p:nvPr/>
        </p:nvSpPr>
        <p:spPr>
          <a:xfrm>
            <a:off x="274320" y="2240280"/>
            <a:ext cx="1371600" cy="347472"/>
          </a:xfrm>
          <a:prstGeom prst="rect">
            <a:avLst/>
          </a:prstGeom>
          <a:solidFill>
            <a:srgbClr val="0D3B5E"/>
          </a:solidFill>
          <a:ln w="12700">
            <a:solidFill>
              <a:srgbClr val="0D3B5E"/>
            </a:solidFill>
            <a:prstDash val="solid"/>
          </a:ln>
        </p:spPr>
      </p:sp>
      <p:sp>
        <p:nvSpPr>
          <p:cNvPr id="14" name="Text 12"/>
          <p:cNvSpPr txBox="1"/>
          <p:nvPr/>
        </p:nvSpPr>
        <p:spPr>
          <a:xfrm>
            <a:off x="274320" y="2240280"/>
            <a:ext cx="1371600" cy="347472"/>
          </a:xfrm>
          <a:prstGeom prst="rect">
            <a:avLst/>
          </a:prstGeom>
          <a:noFill/>
          <a:ln/>
        </p:spPr>
        <p:txBody>
          <a:bodyPr wrap="square" lIns="0" tIns="0" rIns="0" bIns="0" rtlCol="0" anchor="ctr"/>
          <a:lstStyle/>
          <a:p>
            <a:pPr algn="ctr" indent="0" marL="0">
              <a:buNone/>
            </a:pPr>
            <a:r>
              <a:rPr lang="en-US" sz="1100" b="1" dirty="0">
                <a:solidFill>
                  <a:srgbClr val="FFFFFF"/>
                </a:solidFill>
              </a:rPr>
              <a:t>Engagement Packs</a:t>
            </a:r>
            <a:endParaRPr lang="en-US" sz="1100" dirty="0"/>
          </a:p>
        </p:txBody>
      </p:sp>
      <p:sp>
        <p:nvSpPr>
          <p:cNvPr id="15" name="Text 13"/>
          <p:cNvSpPr txBox="1"/>
          <p:nvPr/>
        </p:nvSpPr>
        <p:spPr>
          <a:xfrm>
            <a:off x="365760" y="2642616"/>
            <a:ext cx="3931920" cy="256032"/>
          </a:xfrm>
          <a:prstGeom prst="rect">
            <a:avLst/>
          </a:prstGeom>
          <a:noFill/>
          <a:ln/>
        </p:spPr>
        <p:txBody>
          <a:bodyPr wrap="square" lIns="0" tIns="0" rIns="0" bIns="0" rtlCol="0" anchor="ctr"/>
          <a:lstStyle/>
          <a:p>
            <a:pPr indent="0" marL="0">
              <a:buNone/>
            </a:pPr>
            <a:r>
              <a:rPr lang="en-US" sz="1000" dirty="0">
                <a:solidFill>
                  <a:srgbClr val="2C3E50"/>
                </a:solidFill>
              </a:rPr>
              <a:t>Six documents: Brief, SoW, RoE, PTL, Creds, Network</a:t>
            </a:r>
            <a:endParaRPr lang="en-US" sz="1000" dirty="0"/>
          </a:p>
        </p:txBody>
      </p:sp>
      <p:sp>
        <p:nvSpPr>
          <p:cNvPr id="16" name="Text 14"/>
          <p:cNvSpPr txBox="1"/>
          <p:nvPr/>
        </p:nvSpPr>
        <p:spPr>
          <a:xfrm>
            <a:off x="365760" y="2916936"/>
            <a:ext cx="3931920" cy="256032"/>
          </a:xfrm>
          <a:prstGeom prst="rect">
            <a:avLst/>
          </a:prstGeom>
          <a:noFill/>
          <a:ln/>
        </p:spPr>
        <p:txBody>
          <a:bodyPr wrap="square" lIns="0" tIns="0" rIns="0" bIns="0" rtlCol="0" anchor="ctr"/>
          <a:lstStyle/>
          <a:p>
            <a:pPr indent="0" marL="0">
              <a:buNone/>
            </a:pPr>
            <a:r>
              <a:rPr lang="en-US" sz="1000" dirty="0">
                <a:solidFill>
                  <a:srgbClr val="2C3E50"/>
                </a:solidFill>
              </a:rPr>
              <a:t>Permission to Test Letter is the legal cornerstone</a:t>
            </a:r>
            <a:endParaRPr lang="en-US" sz="1000" dirty="0"/>
          </a:p>
        </p:txBody>
      </p:sp>
      <p:sp>
        <p:nvSpPr>
          <p:cNvPr id="17" name="Text 15"/>
          <p:cNvSpPr txBox="1"/>
          <p:nvPr/>
        </p:nvSpPr>
        <p:spPr>
          <a:xfrm>
            <a:off x="365760" y="3191256"/>
            <a:ext cx="3931920" cy="256032"/>
          </a:xfrm>
          <a:prstGeom prst="rect">
            <a:avLst/>
          </a:prstGeom>
          <a:noFill/>
          <a:ln/>
        </p:spPr>
        <p:txBody>
          <a:bodyPr wrap="square" lIns="0" tIns="0" rIns="0" bIns="0" rtlCol="0" anchor="ctr"/>
          <a:lstStyle/>
          <a:p>
            <a:pPr indent="0" marL="0">
              <a:buNone/>
            </a:pPr>
            <a:r>
              <a:rPr lang="en-US" sz="1000" dirty="0">
                <a:solidFill>
                  <a:srgbClr val="2C3E50"/>
                </a:solidFill>
              </a:rPr>
              <a:t>Scope defines what you can and cannot test</a:t>
            </a:r>
            <a:endParaRPr lang="en-US" sz="1000" dirty="0"/>
          </a:p>
        </p:txBody>
      </p:sp>
      <p:sp>
        <p:nvSpPr>
          <p:cNvPr id="18" name="Shape 16"/>
          <p:cNvSpPr/>
          <p:nvPr/>
        </p:nvSpPr>
        <p:spPr>
          <a:xfrm>
            <a:off x="274320" y="3566160"/>
            <a:ext cx="4114800" cy="1188720"/>
          </a:xfrm>
          <a:prstGeom prst="rect">
            <a:avLst/>
          </a:prstGeom>
          <a:solidFill>
            <a:srgbClr val="EEF4FB"/>
          </a:solidFill>
          <a:ln w="12700">
            <a:solidFill>
              <a:srgbClr val="00B4C8"/>
            </a:solidFill>
            <a:prstDash val="solid"/>
          </a:ln>
        </p:spPr>
      </p:sp>
      <p:sp>
        <p:nvSpPr>
          <p:cNvPr id="19" name="Shape 17"/>
          <p:cNvSpPr/>
          <p:nvPr/>
        </p:nvSpPr>
        <p:spPr>
          <a:xfrm>
            <a:off x="274320" y="3566160"/>
            <a:ext cx="1371600" cy="347472"/>
          </a:xfrm>
          <a:prstGeom prst="rect">
            <a:avLst/>
          </a:prstGeom>
          <a:solidFill>
            <a:srgbClr val="0D3B5E"/>
          </a:solidFill>
          <a:ln w="12700">
            <a:solidFill>
              <a:srgbClr val="0D3B5E"/>
            </a:solidFill>
            <a:prstDash val="solid"/>
          </a:ln>
        </p:spPr>
      </p:sp>
      <p:sp>
        <p:nvSpPr>
          <p:cNvPr id="20" name="Text 18"/>
          <p:cNvSpPr txBox="1"/>
          <p:nvPr/>
        </p:nvSpPr>
        <p:spPr>
          <a:xfrm>
            <a:off x="274320" y="3566160"/>
            <a:ext cx="1371600" cy="347472"/>
          </a:xfrm>
          <a:prstGeom prst="rect">
            <a:avLst/>
          </a:prstGeom>
          <a:noFill/>
          <a:ln/>
        </p:spPr>
        <p:txBody>
          <a:bodyPr wrap="square" lIns="0" tIns="0" rIns="0" bIns="0" rtlCol="0" anchor="ctr"/>
          <a:lstStyle/>
          <a:p>
            <a:pPr algn="ctr" indent="0" marL="0">
              <a:buNone/>
            </a:pPr>
            <a:r>
              <a:rPr lang="en-US" sz="1100" b="1" dirty="0">
                <a:solidFill>
                  <a:srgbClr val="FFFFFF"/>
                </a:solidFill>
              </a:rPr>
              <a:t>Report Writing</a:t>
            </a:r>
            <a:endParaRPr lang="en-US" sz="1100" dirty="0"/>
          </a:p>
        </p:txBody>
      </p:sp>
      <p:sp>
        <p:nvSpPr>
          <p:cNvPr id="21" name="Text 19"/>
          <p:cNvSpPr txBox="1"/>
          <p:nvPr/>
        </p:nvSpPr>
        <p:spPr>
          <a:xfrm>
            <a:off x="365760" y="3968496"/>
            <a:ext cx="3931920" cy="256032"/>
          </a:xfrm>
          <a:prstGeom prst="rect">
            <a:avLst/>
          </a:prstGeom>
          <a:noFill/>
          <a:ln/>
        </p:spPr>
        <p:txBody>
          <a:bodyPr wrap="square" lIns="0" tIns="0" rIns="0" bIns="0" rtlCol="0" anchor="ctr"/>
          <a:lstStyle/>
          <a:p>
            <a:pPr indent="0" marL="0">
              <a:buNone/>
            </a:pPr>
            <a:r>
              <a:rPr lang="en-US" sz="1000" dirty="0">
                <a:solidFill>
                  <a:srgbClr val="2C3E50"/>
                </a:solidFill>
              </a:rPr>
              <a:t>Separate executive and technical sections</a:t>
            </a:r>
            <a:endParaRPr lang="en-US" sz="1000" dirty="0"/>
          </a:p>
        </p:txBody>
      </p:sp>
      <p:sp>
        <p:nvSpPr>
          <p:cNvPr id="22" name="Text 20"/>
          <p:cNvSpPr txBox="1"/>
          <p:nvPr/>
        </p:nvSpPr>
        <p:spPr>
          <a:xfrm>
            <a:off x="365760" y="4242816"/>
            <a:ext cx="3931920" cy="256032"/>
          </a:xfrm>
          <a:prstGeom prst="rect">
            <a:avLst/>
          </a:prstGeom>
          <a:noFill/>
          <a:ln/>
        </p:spPr>
        <p:txBody>
          <a:bodyPr wrap="square" lIns="0" tIns="0" rIns="0" bIns="0" rtlCol="0" anchor="ctr"/>
          <a:lstStyle/>
          <a:p>
            <a:pPr indent="0" marL="0">
              <a:buNone/>
            </a:pPr>
            <a:r>
              <a:rPr lang="en-US" sz="1000" dirty="0">
                <a:solidFill>
                  <a:srgbClr val="2C3E50"/>
                </a:solidFill>
              </a:rPr>
              <a:t>Every finding: ID, severity, CVSS, evidence, remediation</a:t>
            </a:r>
            <a:endParaRPr lang="en-US" sz="1000" dirty="0"/>
          </a:p>
        </p:txBody>
      </p:sp>
      <p:sp>
        <p:nvSpPr>
          <p:cNvPr id="23" name="Text 21"/>
          <p:cNvSpPr txBox="1"/>
          <p:nvPr/>
        </p:nvSpPr>
        <p:spPr>
          <a:xfrm>
            <a:off x="365760" y="4517136"/>
            <a:ext cx="3931920" cy="256032"/>
          </a:xfrm>
          <a:prstGeom prst="rect">
            <a:avLst/>
          </a:prstGeom>
          <a:noFill/>
          <a:ln/>
        </p:spPr>
        <p:txBody>
          <a:bodyPr wrap="square" lIns="0" tIns="0" rIns="0" bIns="0" rtlCol="0" anchor="ctr"/>
          <a:lstStyle/>
          <a:p>
            <a:pPr indent="0" marL="0">
              <a:buNone/>
            </a:pPr>
            <a:r>
              <a:rPr lang="en-US" sz="1000" dirty="0">
                <a:solidFill>
                  <a:srgbClr val="2C3E50"/>
                </a:solidFill>
              </a:rPr>
              <a:t>Ordered by severity - Critical findings listed first</a:t>
            </a:r>
            <a:endParaRPr lang="en-US" sz="1000" dirty="0"/>
          </a:p>
        </p:txBody>
      </p:sp>
      <p:sp>
        <p:nvSpPr>
          <p:cNvPr id="24" name="Shape 22"/>
          <p:cNvSpPr/>
          <p:nvPr/>
        </p:nvSpPr>
        <p:spPr>
          <a:xfrm>
            <a:off x="4663440" y="914400"/>
            <a:ext cx="4114800" cy="1783080"/>
          </a:xfrm>
          <a:prstGeom prst="rect">
            <a:avLst/>
          </a:prstGeom>
          <a:solidFill>
            <a:srgbClr val="EEF4FB"/>
          </a:solidFill>
          <a:ln w="12700">
            <a:solidFill>
              <a:srgbClr val="00B4C8"/>
            </a:solidFill>
            <a:prstDash val="solid"/>
          </a:ln>
        </p:spPr>
      </p:sp>
      <p:sp>
        <p:nvSpPr>
          <p:cNvPr id="25" name="Shape 23"/>
          <p:cNvSpPr/>
          <p:nvPr/>
        </p:nvSpPr>
        <p:spPr>
          <a:xfrm>
            <a:off x="4663440" y="914400"/>
            <a:ext cx="1371600" cy="347472"/>
          </a:xfrm>
          <a:prstGeom prst="rect">
            <a:avLst/>
          </a:prstGeom>
          <a:solidFill>
            <a:srgbClr val="00B4C8"/>
          </a:solidFill>
          <a:ln w="12700">
            <a:solidFill>
              <a:srgbClr val="00B4C8"/>
            </a:solidFill>
            <a:prstDash val="solid"/>
          </a:ln>
        </p:spPr>
      </p:sp>
      <p:sp>
        <p:nvSpPr>
          <p:cNvPr id="26" name="Text 24"/>
          <p:cNvSpPr txBox="1"/>
          <p:nvPr/>
        </p:nvSpPr>
        <p:spPr>
          <a:xfrm>
            <a:off x="4663440" y="914400"/>
            <a:ext cx="1371600" cy="347472"/>
          </a:xfrm>
          <a:prstGeom prst="rect">
            <a:avLst/>
          </a:prstGeom>
          <a:noFill/>
          <a:ln/>
        </p:spPr>
        <p:txBody>
          <a:bodyPr wrap="square" lIns="0" tIns="0" rIns="0" bIns="0" rtlCol="0" anchor="ctr"/>
          <a:lstStyle/>
          <a:p>
            <a:pPr algn="ctr" indent="0" marL="0">
              <a:buNone/>
            </a:pPr>
            <a:r>
              <a:rPr lang="en-US" sz="1100" b="1" dirty="0">
                <a:solidFill>
                  <a:srgbClr val="FFFFFF"/>
                </a:solidFill>
              </a:rPr>
              <a:t>CVSS v3.1</a:t>
            </a:r>
            <a:endParaRPr lang="en-US" sz="1100" dirty="0"/>
          </a:p>
        </p:txBody>
      </p:sp>
      <p:sp>
        <p:nvSpPr>
          <p:cNvPr id="27" name="Text 25"/>
          <p:cNvSpPr txBox="1"/>
          <p:nvPr/>
        </p:nvSpPr>
        <p:spPr>
          <a:xfrm>
            <a:off x="4754880" y="1316736"/>
            <a:ext cx="3931920" cy="365760"/>
          </a:xfrm>
          <a:prstGeom prst="rect">
            <a:avLst/>
          </a:prstGeom>
          <a:noFill/>
          <a:ln/>
        </p:spPr>
        <p:txBody>
          <a:bodyPr wrap="square" lIns="0" tIns="0" rIns="0" bIns="0" rtlCol="0" anchor="ctr"/>
          <a:lstStyle/>
          <a:p>
            <a:r>
              <a:rPr lang="en-US" sz="1100" dirty="0">
                <a:solidFill>
                  <a:srgbClr val="2C3E50"/>
                </a:solidFill>
              </a:rPr>
              <a:t>8 base metrics: AV, AC, PR, UI, S, C, I, A</a:t>
            </a:r>
            <a:endParaRPr lang="en-US" sz="1100" dirty="0"/>
          </a:p>
        </p:txBody>
      </p:sp>
      <p:sp>
        <p:nvSpPr>
          <p:cNvPr id="28" name="Text 26"/>
          <p:cNvSpPr txBox="1"/>
          <p:nvPr/>
        </p:nvSpPr>
        <p:spPr>
          <a:xfrm>
            <a:off x="4754880" y="1719072"/>
            <a:ext cx="3931920" cy="365760"/>
          </a:xfrm>
          <a:prstGeom prst="rect">
            <a:avLst/>
          </a:prstGeom>
          <a:noFill/>
          <a:ln/>
        </p:spPr>
        <p:txBody>
          <a:bodyPr wrap="square" lIns="0" tIns="0" rIns="0" bIns="0" rtlCol="0" anchor="ctr"/>
          <a:lstStyle/>
          <a:p>
            <a:r>
              <a:rPr lang="en-US" sz="1100" dirty="0">
                <a:solidFill>
                  <a:srgbClr val="2C3E50"/>
                </a:solidFill>
              </a:rPr>
              <a:t>Scope Changed increases PR weighting</a:t>
            </a:r>
            <a:endParaRPr lang="en-US" sz="1100" dirty="0"/>
          </a:p>
        </p:txBody>
      </p:sp>
      <p:sp>
        <p:nvSpPr>
          <p:cNvPr id="29" name="Text 27"/>
          <p:cNvSpPr txBox="1"/>
          <p:nvPr/>
        </p:nvSpPr>
        <p:spPr>
          <a:xfrm>
            <a:off x="4754880" y="2121408"/>
            <a:ext cx="3931920" cy="365760"/>
          </a:xfrm>
          <a:prstGeom prst="rect">
            <a:avLst/>
          </a:prstGeom>
          <a:noFill/>
          <a:ln/>
        </p:spPr>
        <p:txBody>
          <a:bodyPr wrap="square" lIns="0" tIns="0" rIns="0" bIns="0" rtlCol="0" anchor="ctr"/>
          <a:lstStyle/>
          <a:p>
            <a:r>
              <a:rPr lang="en-US" sz="1100" dirty="0">
                <a:solidFill>
                  <a:srgbClr val="2C3E50"/>
                </a:solidFill>
              </a:rPr>
              <a:t>9.0+ = Critical; 7.0-8.9 = High; 4.0-6.9 = Medium</a:t>
            </a:r>
            <a:endParaRPr lang="en-US" sz="1100" dirty="0"/>
          </a:p>
        </p:txBody>
      </p:sp>
      <p:sp>
        <p:nvSpPr>
          <p:cNvPr id="30" name="Shape 28"/>
          <p:cNvSpPr/>
          <p:nvPr/>
        </p:nvSpPr>
        <p:spPr>
          <a:xfrm>
            <a:off x="4663440" y="2834640"/>
            <a:ext cx="4114800" cy="1783080"/>
          </a:xfrm>
          <a:prstGeom prst="rect">
            <a:avLst/>
          </a:prstGeom>
          <a:solidFill>
            <a:srgbClr val="EEF4FB"/>
          </a:solidFill>
          <a:ln w="12700">
            <a:solidFill>
              <a:srgbClr val="00B4C8"/>
            </a:solidFill>
            <a:prstDash val="solid"/>
          </a:ln>
        </p:spPr>
      </p:sp>
      <p:sp>
        <p:nvSpPr>
          <p:cNvPr id="31" name="Shape 29"/>
          <p:cNvSpPr/>
          <p:nvPr/>
        </p:nvSpPr>
        <p:spPr>
          <a:xfrm>
            <a:off x="4663440" y="2834640"/>
            <a:ext cx="1371600" cy="347472"/>
          </a:xfrm>
          <a:prstGeom prst="rect">
            <a:avLst/>
          </a:prstGeom>
          <a:solidFill>
            <a:srgbClr val="00B4C8"/>
          </a:solidFill>
          <a:ln w="12700">
            <a:solidFill>
              <a:srgbClr val="00B4C8"/>
            </a:solidFill>
            <a:prstDash val="solid"/>
          </a:ln>
        </p:spPr>
      </p:sp>
      <p:sp>
        <p:nvSpPr>
          <p:cNvPr id="32" name="Text 30"/>
          <p:cNvSpPr txBox="1"/>
          <p:nvPr/>
        </p:nvSpPr>
        <p:spPr>
          <a:xfrm>
            <a:off x="4663440" y="2834640"/>
            <a:ext cx="1371600" cy="347472"/>
          </a:xfrm>
          <a:prstGeom prst="rect">
            <a:avLst/>
          </a:prstGeom>
          <a:noFill/>
          <a:ln/>
        </p:spPr>
        <p:txBody>
          <a:bodyPr wrap="square" lIns="0" tIns="0" rIns="0" bIns="0" rtlCol="0" anchor="ctr"/>
          <a:lstStyle/>
          <a:p>
            <a:pPr algn="ctr" indent="0" marL="0">
              <a:buNone/>
            </a:pPr>
            <a:r>
              <a:rPr lang="en-US" sz="1100" b="1" dirty="0">
                <a:solidFill>
                  <a:srgbClr val="FFFFFF"/>
                </a:solidFill>
              </a:rPr>
              <a:t>Compliance</a:t>
            </a:r>
            <a:endParaRPr lang="en-US" sz="1100" dirty="0"/>
          </a:p>
        </p:txBody>
      </p:sp>
      <p:sp>
        <p:nvSpPr>
          <p:cNvPr id="33" name="Text 31"/>
          <p:cNvSpPr txBox="1"/>
          <p:nvPr/>
        </p:nvSpPr>
        <p:spPr>
          <a:xfrm>
            <a:off x="4754880" y="3236976"/>
            <a:ext cx="3931920" cy="365760"/>
          </a:xfrm>
          <a:prstGeom prst="rect">
            <a:avLst/>
          </a:prstGeom>
          <a:noFill/>
          <a:ln/>
        </p:spPr>
        <p:txBody>
          <a:bodyPr wrap="square" lIns="0" tIns="0" rIns="0" bIns="0" rtlCol="0" anchor="ctr"/>
          <a:lstStyle/>
          <a:p>
            <a:r>
              <a:rPr lang="en-US" sz="1100" dirty="0">
                <a:solidFill>
                  <a:srgbClr val="2C3E50"/>
                </a:solidFill>
              </a:rPr>
              <a:t>PCI DSS: card data, Req 11.3 mandates pentest</a:t>
            </a:r>
            <a:endParaRPr lang="en-US" sz="1100" dirty="0"/>
          </a:p>
        </p:txBody>
      </p:sp>
      <p:sp>
        <p:nvSpPr>
          <p:cNvPr id="34" name="Text 32"/>
          <p:cNvSpPr txBox="1"/>
          <p:nvPr/>
        </p:nvSpPr>
        <p:spPr>
          <a:xfrm>
            <a:off x="4754880" y="3639312"/>
            <a:ext cx="3931920" cy="365760"/>
          </a:xfrm>
          <a:prstGeom prst="rect">
            <a:avLst/>
          </a:prstGeom>
          <a:noFill/>
          <a:ln/>
        </p:spPr>
        <p:txBody>
          <a:bodyPr wrap="square" lIns="0" tIns="0" rIns="0" bIns="0" rtlCol="0" anchor="ctr"/>
          <a:lstStyle/>
          <a:p>
            <a:r>
              <a:rPr lang="en-US" sz="1100" dirty="0">
                <a:solidFill>
                  <a:srgbClr val="2C3E50"/>
                </a:solidFill>
              </a:rPr>
              <a:t>UK GDPR Art 32: technical security measures</a:t>
            </a:r>
            <a:endParaRPr lang="en-US" sz="1100" dirty="0"/>
          </a:p>
        </p:txBody>
      </p:sp>
      <p:sp>
        <p:nvSpPr>
          <p:cNvPr id="35" name="Text 33"/>
          <p:cNvSpPr txBox="1"/>
          <p:nvPr/>
        </p:nvSpPr>
        <p:spPr>
          <a:xfrm>
            <a:off x="4754880" y="4041648"/>
            <a:ext cx="3931920" cy="365760"/>
          </a:xfrm>
          <a:prstGeom prst="rect">
            <a:avLst/>
          </a:prstGeom>
          <a:noFill/>
          <a:ln/>
        </p:spPr>
        <p:txBody>
          <a:bodyPr wrap="square" lIns="0" tIns="0" rIns="0" bIns="0" rtlCol="0" anchor="ctr"/>
          <a:lstStyle/>
          <a:p>
            <a:r>
              <a:rPr lang="en-US" sz="1100" dirty="0">
                <a:solidFill>
                  <a:srgbClr val="2C3E50"/>
                </a:solidFill>
              </a:rPr>
              <a:t>FCA SYSC: operational resilience for regulated firms</a:t>
            </a:r>
            <a:endParaRPr lang="en-US" sz="1100" dirty="0"/>
          </a:p>
        </p:txBody>
      </p:sp>
      <p:sp>
        <p:nvSpPr>
          <p:cNvPr id="36" name="Text 34"/>
          <p:cNvSpPr txBox="1"/>
          <p:nvPr/>
        </p:nvSpPr>
        <p:spPr>
          <a:xfrm>
            <a:off x="0" y="4892040"/>
            <a:ext cx="9144000" cy="256032"/>
          </a:xfrm>
          <a:prstGeom prst="rect">
            <a:avLst/>
          </a:prstGeom>
          <a:noFill/>
          <a:ln/>
        </p:spPr>
        <p:txBody>
          <a:bodyPr wrap="square" lIns="0" tIns="0" rIns="0" bIns="0" rtlCol="0" anchor="ctr"/>
          <a:lstStyle/>
          <a:p>
            <a:pPr algn="ctr" indent="0" marL="0">
              <a:buNone/>
            </a:pPr>
            <a:r>
              <a:rPr lang="en-US" sz="900" dirty="0">
                <a:solidFill>
                  <a:srgbClr val="7F8C8D"/>
                </a:solidFill>
              </a:rPr>
              <a:t>My Cyber Academy | MCA CREST CPSA - Module A: Soft Skills</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w="12700">
            <a:solidFill>
              <a:srgbClr val="FFFFFF"/>
            </a:solidFill>
            <a:prstDash val="solid"/>
          </a:ln>
        </p:spPr>
      </p:sp>
      <p:sp>
        <p:nvSpPr>
          <p:cNvPr id="3" name="Shape 1"/>
          <p:cNvSpPr/>
          <p:nvPr/>
        </p:nvSpPr>
        <p:spPr>
          <a:xfrm>
            <a:off x="0" y="0"/>
            <a:ext cx="9144000" cy="73152"/>
          </a:xfrm>
          <a:prstGeom prst="rect">
            <a:avLst/>
          </a:prstGeom>
          <a:solidFill>
            <a:srgbClr val="00B4C8"/>
          </a:solidFill>
          <a:ln w="12700">
            <a:solidFill>
              <a:srgbClr val="00B4C8"/>
            </a:solidFill>
            <a:prstDash val="solid"/>
          </a:ln>
        </p:spPr>
      </p:sp>
      <p:sp>
        <p:nvSpPr>
          <p:cNvPr id="4" name="Text 2"/>
          <p:cNvSpPr txBox="1"/>
          <p:nvPr/>
        </p:nvSpPr>
        <p:spPr>
          <a:xfrm>
            <a:off x="365760" y="137160"/>
            <a:ext cx="8412480" cy="548640"/>
          </a:xfrm>
          <a:prstGeom prst="rect">
            <a:avLst/>
          </a:prstGeom>
          <a:noFill/>
          <a:ln/>
        </p:spPr>
        <p:txBody>
          <a:bodyPr wrap="square" lIns="0" tIns="0" rIns="0" bIns="0" rtlCol="0" anchor="ctr"/>
          <a:lstStyle/>
          <a:p>
            <a:pPr algn="l" indent="0" marL="0">
              <a:buNone/>
            </a:pPr>
            <a:r>
              <a:rPr lang="en-US" sz="2800" b="1" dirty="0">
                <a:solidFill>
                  <a:srgbClr val="1A2744"/>
                </a:solidFill>
              </a:rPr>
              <a:t>Module A - Lab Exercises</a:t>
            </a:r>
            <a:endParaRPr lang="en-US" sz="2800" dirty="0"/>
          </a:p>
        </p:txBody>
      </p:sp>
      <p:sp>
        <p:nvSpPr>
          <p:cNvPr id="5" name="Shape 3"/>
          <p:cNvSpPr/>
          <p:nvPr/>
        </p:nvSpPr>
        <p:spPr>
          <a:xfrm>
            <a:off x="365760" y="713232"/>
            <a:ext cx="8412480" cy="0"/>
          </a:xfrm>
          <a:prstGeom prst="line">
            <a:avLst/>
          </a:prstGeom>
          <a:noFill/>
          <a:ln w="19050">
            <a:solidFill>
              <a:srgbClr val="00B4C8"/>
            </a:solidFill>
            <a:prstDash val="solid"/>
          </a:ln>
        </p:spPr>
      </p:sp>
      <p:sp>
        <p:nvSpPr>
          <p:cNvPr id="6" name="Shape 4"/>
          <p:cNvSpPr/>
          <p:nvPr/>
        </p:nvSpPr>
        <p:spPr>
          <a:xfrm>
            <a:off x="274320" y="914400"/>
            <a:ext cx="8503920" cy="896112"/>
          </a:xfrm>
          <a:prstGeom prst="rect">
            <a:avLst/>
          </a:prstGeom>
          <a:solidFill>
            <a:srgbClr val="EEF4FB"/>
          </a:solidFill>
          <a:ln w="6350">
            <a:solidFill>
              <a:srgbClr val="00B4C8"/>
            </a:solidFill>
            <a:prstDash val="solid"/>
          </a:ln>
        </p:spPr>
      </p:sp>
      <p:sp>
        <p:nvSpPr>
          <p:cNvPr id="7" name="Shape 5"/>
          <p:cNvSpPr/>
          <p:nvPr/>
        </p:nvSpPr>
        <p:spPr>
          <a:xfrm>
            <a:off x="274320" y="914400"/>
            <a:ext cx="822960" cy="896112"/>
          </a:xfrm>
          <a:prstGeom prst="rect">
            <a:avLst/>
          </a:prstGeom>
          <a:solidFill>
            <a:srgbClr val="00B4C8"/>
          </a:solidFill>
          <a:ln w="12700">
            <a:solidFill>
              <a:srgbClr val="00B4C8"/>
            </a:solidFill>
            <a:prstDash val="solid"/>
          </a:ln>
        </p:spPr>
      </p:sp>
      <p:sp>
        <p:nvSpPr>
          <p:cNvPr id="8" name="Text 6"/>
          <p:cNvSpPr txBox="1"/>
          <p:nvPr/>
        </p:nvSpPr>
        <p:spPr>
          <a:xfrm>
            <a:off x="274320" y="914400"/>
            <a:ext cx="822960" cy="896112"/>
          </a:xfrm>
          <a:prstGeom prst="rect">
            <a:avLst/>
          </a:prstGeom>
          <a:noFill/>
          <a:ln/>
        </p:spPr>
        <p:txBody>
          <a:bodyPr wrap="square" lIns="25400" tIns="25400" rIns="25400" bIns="25400" rtlCol="0" anchor="ctr"/>
          <a:lstStyle/>
          <a:p>
            <a:pPr algn="ctr" indent="0" marL="0">
              <a:buNone/>
            </a:pPr>
            <a:r>
              <a:rPr lang="en-US" sz="1000" b="1" dirty="0">
                <a:solidFill>
                  <a:srgbClr val="FFFFFF"/>
                </a:solidFill>
              </a:rPr>
              <a:t>Lab A1</a:t>
            </a:r>
            <a:endParaRPr lang="en-US" sz="1000" dirty="0"/>
          </a:p>
        </p:txBody>
      </p:sp>
      <p:sp>
        <p:nvSpPr>
          <p:cNvPr id="9" name="Text 7"/>
          <p:cNvSpPr txBox="1"/>
          <p:nvPr/>
        </p:nvSpPr>
        <p:spPr>
          <a:xfrm>
            <a:off x="1188720" y="969264"/>
            <a:ext cx="2560320" cy="347472"/>
          </a:xfrm>
          <a:prstGeom prst="rect">
            <a:avLst/>
          </a:prstGeom>
          <a:noFill/>
          <a:ln/>
        </p:spPr>
        <p:txBody>
          <a:bodyPr wrap="square" lIns="0" tIns="0" rIns="0" bIns="0" rtlCol="0" anchor="ctr"/>
          <a:lstStyle/>
          <a:p>
            <a:pPr indent="0" marL="0">
              <a:buNone/>
            </a:pPr>
            <a:r>
              <a:rPr lang="en-US" sz="1200" b="1" dirty="0">
                <a:solidFill>
                  <a:srgbClr val="1A2744"/>
                </a:solidFill>
              </a:rPr>
              <a:t>Engagement Pack Review</a:t>
            </a:r>
            <a:endParaRPr lang="en-US" sz="1200" dirty="0"/>
          </a:p>
        </p:txBody>
      </p:sp>
      <p:sp>
        <p:nvSpPr>
          <p:cNvPr id="10" name="Text 8"/>
          <p:cNvSpPr txBox="1"/>
          <p:nvPr/>
        </p:nvSpPr>
        <p:spPr>
          <a:xfrm>
            <a:off x="1188720" y="1371600"/>
            <a:ext cx="5029200" cy="347472"/>
          </a:xfrm>
          <a:prstGeom prst="rect">
            <a:avLst/>
          </a:prstGeom>
          <a:noFill/>
          <a:ln/>
        </p:spPr>
        <p:txBody>
          <a:bodyPr wrap="square" lIns="0" tIns="0" rIns="0" bIns="0" rtlCol="0" anchor="ctr"/>
          <a:lstStyle/>
          <a:p>
            <a:pPr indent="0" marL="0">
              <a:buNone/>
            </a:pPr>
            <a:r>
              <a:rPr lang="en-US" sz="1000" dirty="0">
                <a:solidFill>
                  <a:srgbClr val="2C3E50"/>
                </a:solidFill>
              </a:rPr>
              <a:t>Read the Syntex engagement pack and answer 10 questions on scope, RoE and legal authorisation</a:t>
            </a:r>
            <a:endParaRPr lang="en-US" sz="1000" dirty="0"/>
          </a:p>
        </p:txBody>
      </p:sp>
      <p:sp>
        <p:nvSpPr>
          <p:cNvPr id="11" name="Shape 9"/>
          <p:cNvSpPr/>
          <p:nvPr/>
        </p:nvSpPr>
        <p:spPr>
          <a:xfrm>
            <a:off x="6858000" y="1143000"/>
            <a:ext cx="1691640" cy="347472"/>
          </a:xfrm>
          <a:prstGeom prst="rect">
            <a:avLst/>
          </a:prstGeom>
          <a:solidFill>
            <a:srgbClr val="27AE60"/>
          </a:solidFill>
          <a:ln w="12700">
            <a:solidFill>
              <a:srgbClr val="27AE60"/>
            </a:solidFill>
            <a:prstDash val="solid"/>
          </a:ln>
        </p:spPr>
      </p:sp>
      <p:sp>
        <p:nvSpPr>
          <p:cNvPr id="12" name="Text 10"/>
          <p:cNvSpPr txBox="1"/>
          <p:nvPr/>
        </p:nvSpPr>
        <p:spPr>
          <a:xfrm>
            <a:off x="6858000" y="1143000"/>
            <a:ext cx="1691640" cy="347472"/>
          </a:xfrm>
          <a:prstGeom prst="rect">
            <a:avLst/>
          </a:prstGeom>
          <a:noFill/>
          <a:ln/>
        </p:spPr>
        <p:txBody>
          <a:bodyPr wrap="square" lIns="0" tIns="0" rIns="0" bIns="0" rtlCol="0" anchor="ctr"/>
          <a:lstStyle/>
          <a:p>
            <a:pPr algn="ctr" indent="0" marL="0">
              <a:buNone/>
            </a:pPr>
            <a:r>
              <a:rPr lang="en-US" sz="1000" b="1" dirty="0">
                <a:solidFill>
                  <a:srgbClr val="FFFFFF"/>
                </a:solidFill>
              </a:rPr>
              <a:t>Available</a:t>
            </a:r>
            <a:endParaRPr lang="en-US" sz="1000" dirty="0"/>
          </a:p>
        </p:txBody>
      </p:sp>
      <p:sp>
        <p:nvSpPr>
          <p:cNvPr id="13" name="Shape 11"/>
          <p:cNvSpPr/>
          <p:nvPr/>
        </p:nvSpPr>
        <p:spPr>
          <a:xfrm>
            <a:off x="274320" y="1920240"/>
            <a:ext cx="8503920" cy="896112"/>
          </a:xfrm>
          <a:prstGeom prst="rect">
            <a:avLst/>
          </a:prstGeom>
          <a:solidFill>
            <a:srgbClr val="FFFFFF"/>
          </a:solidFill>
          <a:ln w="6350">
            <a:solidFill>
              <a:srgbClr val="00B4C8"/>
            </a:solidFill>
            <a:prstDash val="solid"/>
          </a:ln>
        </p:spPr>
      </p:sp>
      <p:sp>
        <p:nvSpPr>
          <p:cNvPr id="14" name="Shape 12"/>
          <p:cNvSpPr/>
          <p:nvPr/>
        </p:nvSpPr>
        <p:spPr>
          <a:xfrm>
            <a:off x="274320" y="1920240"/>
            <a:ext cx="822960" cy="896112"/>
          </a:xfrm>
          <a:prstGeom prst="rect">
            <a:avLst/>
          </a:prstGeom>
          <a:solidFill>
            <a:srgbClr val="00B4C8"/>
          </a:solidFill>
          <a:ln w="12700">
            <a:solidFill>
              <a:srgbClr val="00B4C8"/>
            </a:solidFill>
            <a:prstDash val="solid"/>
          </a:ln>
        </p:spPr>
      </p:sp>
      <p:sp>
        <p:nvSpPr>
          <p:cNvPr id="15" name="Text 13"/>
          <p:cNvSpPr txBox="1"/>
          <p:nvPr/>
        </p:nvSpPr>
        <p:spPr>
          <a:xfrm>
            <a:off x="274320" y="1920240"/>
            <a:ext cx="822960" cy="896112"/>
          </a:xfrm>
          <a:prstGeom prst="rect">
            <a:avLst/>
          </a:prstGeom>
          <a:noFill/>
          <a:ln/>
        </p:spPr>
        <p:txBody>
          <a:bodyPr wrap="square" lIns="25400" tIns="25400" rIns="25400" bIns="25400" rtlCol="0" anchor="ctr"/>
          <a:lstStyle/>
          <a:p>
            <a:pPr algn="ctr" indent="0" marL="0">
              <a:buNone/>
            </a:pPr>
            <a:r>
              <a:rPr lang="en-US" sz="1000" b="1" dirty="0">
                <a:solidFill>
                  <a:srgbClr val="FFFFFF"/>
                </a:solidFill>
              </a:rPr>
              <a:t>Lab A2</a:t>
            </a:r>
            <a:endParaRPr lang="en-US" sz="1000" dirty="0"/>
          </a:p>
        </p:txBody>
      </p:sp>
      <p:sp>
        <p:nvSpPr>
          <p:cNvPr id="16" name="Text 14"/>
          <p:cNvSpPr txBox="1"/>
          <p:nvPr/>
        </p:nvSpPr>
        <p:spPr>
          <a:xfrm>
            <a:off x="1188720" y="1975104"/>
            <a:ext cx="2560320" cy="347472"/>
          </a:xfrm>
          <a:prstGeom prst="rect">
            <a:avLst/>
          </a:prstGeom>
          <a:noFill/>
          <a:ln/>
        </p:spPr>
        <p:txBody>
          <a:bodyPr wrap="square" lIns="0" tIns="0" rIns="0" bIns="0" rtlCol="0" anchor="ctr"/>
          <a:lstStyle/>
          <a:p>
            <a:pPr indent="0" marL="0">
              <a:buNone/>
            </a:pPr>
            <a:r>
              <a:rPr lang="en-US" sz="1200" b="1" dirty="0">
                <a:solidFill>
                  <a:srgbClr val="1A2744"/>
                </a:solidFill>
              </a:rPr>
              <a:t>Report Analysis</a:t>
            </a:r>
            <a:endParaRPr lang="en-US" sz="1200" dirty="0"/>
          </a:p>
        </p:txBody>
      </p:sp>
      <p:sp>
        <p:nvSpPr>
          <p:cNvPr id="17" name="Text 15"/>
          <p:cNvSpPr txBox="1"/>
          <p:nvPr/>
        </p:nvSpPr>
        <p:spPr>
          <a:xfrm>
            <a:off x="1188720" y="2377440"/>
            <a:ext cx="5029200" cy="347472"/>
          </a:xfrm>
          <a:prstGeom prst="rect">
            <a:avLst/>
          </a:prstGeom>
          <a:noFill/>
          <a:ln/>
        </p:spPr>
        <p:txBody>
          <a:bodyPr wrap="square" lIns="0" tIns="0" rIns="0" bIns="0" rtlCol="0" anchor="ctr"/>
          <a:lstStyle/>
          <a:p>
            <a:pPr indent="0" marL="0">
              <a:buNone/>
            </a:pPr>
            <a:r>
              <a:rPr lang="en-US" sz="1000" dirty="0">
                <a:solidFill>
                  <a:srgbClr val="2C3E50"/>
                </a:solidFill>
              </a:rPr>
              <a:t>Review the model answer report; identify all 18 findings and explain why each is classified at its severity level</a:t>
            </a:r>
            <a:endParaRPr lang="en-US" sz="1000" dirty="0"/>
          </a:p>
        </p:txBody>
      </p:sp>
      <p:sp>
        <p:nvSpPr>
          <p:cNvPr id="18" name="Shape 16"/>
          <p:cNvSpPr/>
          <p:nvPr/>
        </p:nvSpPr>
        <p:spPr>
          <a:xfrm>
            <a:off x="6858000" y="2148840"/>
            <a:ext cx="1691640" cy="347472"/>
          </a:xfrm>
          <a:prstGeom prst="rect">
            <a:avLst/>
          </a:prstGeom>
          <a:solidFill>
            <a:srgbClr val="27AE60"/>
          </a:solidFill>
          <a:ln w="12700">
            <a:solidFill>
              <a:srgbClr val="27AE60"/>
            </a:solidFill>
            <a:prstDash val="solid"/>
          </a:ln>
        </p:spPr>
      </p:sp>
      <p:sp>
        <p:nvSpPr>
          <p:cNvPr id="19" name="Text 17"/>
          <p:cNvSpPr txBox="1"/>
          <p:nvPr/>
        </p:nvSpPr>
        <p:spPr>
          <a:xfrm>
            <a:off x="6858000" y="2148840"/>
            <a:ext cx="1691640" cy="347472"/>
          </a:xfrm>
          <a:prstGeom prst="rect">
            <a:avLst/>
          </a:prstGeom>
          <a:noFill/>
          <a:ln/>
        </p:spPr>
        <p:txBody>
          <a:bodyPr wrap="square" lIns="0" tIns="0" rIns="0" bIns="0" rtlCol="0" anchor="ctr"/>
          <a:lstStyle/>
          <a:p>
            <a:pPr algn="ctr" indent="0" marL="0">
              <a:buNone/>
            </a:pPr>
            <a:r>
              <a:rPr lang="en-US" sz="1000" b="1" dirty="0">
                <a:solidFill>
                  <a:srgbClr val="FFFFFF"/>
                </a:solidFill>
              </a:rPr>
              <a:t>Available</a:t>
            </a:r>
            <a:endParaRPr lang="en-US" sz="1000" dirty="0"/>
          </a:p>
        </p:txBody>
      </p:sp>
      <p:sp>
        <p:nvSpPr>
          <p:cNvPr id="20" name="Shape 18"/>
          <p:cNvSpPr/>
          <p:nvPr/>
        </p:nvSpPr>
        <p:spPr>
          <a:xfrm>
            <a:off x="274320" y="2926080"/>
            <a:ext cx="8503920" cy="896112"/>
          </a:xfrm>
          <a:prstGeom prst="rect">
            <a:avLst/>
          </a:prstGeom>
          <a:solidFill>
            <a:srgbClr val="EEF4FB"/>
          </a:solidFill>
          <a:ln w="6350">
            <a:solidFill>
              <a:srgbClr val="00B4C8"/>
            </a:solidFill>
            <a:prstDash val="solid"/>
          </a:ln>
        </p:spPr>
      </p:sp>
      <p:sp>
        <p:nvSpPr>
          <p:cNvPr id="21" name="Shape 19"/>
          <p:cNvSpPr/>
          <p:nvPr/>
        </p:nvSpPr>
        <p:spPr>
          <a:xfrm>
            <a:off x="274320" y="2926080"/>
            <a:ext cx="822960" cy="896112"/>
          </a:xfrm>
          <a:prstGeom prst="rect">
            <a:avLst/>
          </a:prstGeom>
          <a:solidFill>
            <a:srgbClr val="00B4C8"/>
          </a:solidFill>
          <a:ln w="12700">
            <a:solidFill>
              <a:srgbClr val="00B4C8"/>
            </a:solidFill>
            <a:prstDash val="solid"/>
          </a:ln>
        </p:spPr>
      </p:sp>
      <p:sp>
        <p:nvSpPr>
          <p:cNvPr id="22" name="Text 20"/>
          <p:cNvSpPr txBox="1"/>
          <p:nvPr/>
        </p:nvSpPr>
        <p:spPr>
          <a:xfrm>
            <a:off x="274320" y="2926080"/>
            <a:ext cx="822960" cy="896112"/>
          </a:xfrm>
          <a:prstGeom prst="rect">
            <a:avLst/>
          </a:prstGeom>
          <a:noFill/>
          <a:ln/>
        </p:spPr>
        <p:txBody>
          <a:bodyPr wrap="square" lIns="25400" tIns="25400" rIns="25400" bIns="25400" rtlCol="0" anchor="ctr"/>
          <a:lstStyle/>
          <a:p>
            <a:pPr algn="ctr" indent="0" marL="0">
              <a:buNone/>
            </a:pPr>
            <a:r>
              <a:rPr lang="en-US" sz="1000" b="1" dirty="0">
                <a:solidFill>
                  <a:srgbClr val="FFFFFF"/>
                </a:solidFill>
              </a:rPr>
              <a:t>Lab A3</a:t>
            </a:r>
            <a:endParaRPr lang="en-US" sz="1000" dirty="0"/>
          </a:p>
        </p:txBody>
      </p:sp>
      <p:sp>
        <p:nvSpPr>
          <p:cNvPr id="23" name="Text 21"/>
          <p:cNvSpPr txBox="1"/>
          <p:nvPr/>
        </p:nvSpPr>
        <p:spPr>
          <a:xfrm>
            <a:off x="1188720" y="2980944"/>
            <a:ext cx="2560320" cy="347472"/>
          </a:xfrm>
          <a:prstGeom prst="rect">
            <a:avLst/>
          </a:prstGeom>
          <a:noFill/>
          <a:ln/>
        </p:spPr>
        <p:txBody>
          <a:bodyPr wrap="square" lIns="0" tIns="0" rIns="0" bIns="0" rtlCol="0" anchor="ctr"/>
          <a:lstStyle/>
          <a:p>
            <a:pPr indent="0" marL="0">
              <a:buNone/>
            </a:pPr>
            <a:r>
              <a:rPr lang="en-US" sz="1200" b="1" dirty="0">
                <a:solidFill>
                  <a:srgbClr val="1A2744"/>
                </a:solidFill>
              </a:rPr>
              <a:t>Student Report Template</a:t>
            </a:r>
            <a:endParaRPr lang="en-US" sz="1200" dirty="0"/>
          </a:p>
        </p:txBody>
      </p:sp>
      <p:sp>
        <p:nvSpPr>
          <p:cNvPr id="24" name="Text 22"/>
          <p:cNvSpPr txBox="1"/>
          <p:nvPr/>
        </p:nvSpPr>
        <p:spPr>
          <a:xfrm>
            <a:off x="1188720" y="3383280"/>
            <a:ext cx="5029200" cy="347472"/>
          </a:xfrm>
          <a:prstGeom prst="rect">
            <a:avLst/>
          </a:prstGeom>
          <a:noFill/>
          <a:ln/>
        </p:spPr>
        <p:txBody>
          <a:bodyPr wrap="square" lIns="0" tIns="0" rIns="0" bIns="0" rtlCol="0" anchor="ctr"/>
          <a:lstStyle/>
          <a:p>
            <a:pPr indent="0" marL="0">
              <a:buNone/>
            </a:pPr>
            <a:r>
              <a:rPr lang="en-US" sz="1000" dirty="0">
                <a:solidFill>
                  <a:srgbClr val="2C3E50"/>
                </a:solidFill>
              </a:rPr>
              <a:t>Complete the fillable pentest report template for the Syntex engagement using the evidence provided</a:t>
            </a:r>
            <a:endParaRPr lang="en-US" sz="1000" dirty="0"/>
          </a:p>
        </p:txBody>
      </p:sp>
      <p:sp>
        <p:nvSpPr>
          <p:cNvPr id="25" name="Shape 23"/>
          <p:cNvSpPr/>
          <p:nvPr/>
        </p:nvSpPr>
        <p:spPr>
          <a:xfrm>
            <a:off x="6858000" y="3154680"/>
            <a:ext cx="1691640" cy="347472"/>
          </a:xfrm>
          <a:prstGeom prst="rect">
            <a:avLst/>
          </a:prstGeom>
          <a:solidFill>
            <a:srgbClr val="27AE60"/>
          </a:solidFill>
          <a:ln w="12700">
            <a:solidFill>
              <a:srgbClr val="27AE60"/>
            </a:solidFill>
            <a:prstDash val="solid"/>
          </a:ln>
        </p:spPr>
      </p:sp>
      <p:sp>
        <p:nvSpPr>
          <p:cNvPr id="26" name="Text 24"/>
          <p:cNvSpPr txBox="1"/>
          <p:nvPr/>
        </p:nvSpPr>
        <p:spPr>
          <a:xfrm>
            <a:off x="6858000" y="3154680"/>
            <a:ext cx="1691640" cy="347472"/>
          </a:xfrm>
          <a:prstGeom prst="rect">
            <a:avLst/>
          </a:prstGeom>
          <a:noFill/>
          <a:ln/>
        </p:spPr>
        <p:txBody>
          <a:bodyPr wrap="square" lIns="0" tIns="0" rIns="0" bIns="0" rtlCol="0" anchor="ctr"/>
          <a:lstStyle/>
          <a:p>
            <a:pPr algn="ctr" indent="0" marL="0">
              <a:buNone/>
            </a:pPr>
            <a:r>
              <a:rPr lang="en-US" sz="1000" b="1" dirty="0">
                <a:solidFill>
                  <a:srgbClr val="FFFFFF"/>
                </a:solidFill>
              </a:rPr>
              <a:t>Available</a:t>
            </a:r>
            <a:endParaRPr lang="en-US" sz="1000" dirty="0"/>
          </a:p>
        </p:txBody>
      </p:sp>
      <p:sp>
        <p:nvSpPr>
          <p:cNvPr id="27" name="Shape 25"/>
          <p:cNvSpPr/>
          <p:nvPr/>
        </p:nvSpPr>
        <p:spPr>
          <a:xfrm>
            <a:off x="274320" y="3931920"/>
            <a:ext cx="8503920" cy="896112"/>
          </a:xfrm>
          <a:prstGeom prst="rect">
            <a:avLst/>
          </a:prstGeom>
          <a:solidFill>
            <a:srgbClr val="FFFFFF"/>
          </a:solidFill>
          <a:ln w="6350">
            <a:solidFill>
              <a:srgbClr val="00B4C8"/>
            </a:solidFill>
            <a:prstDash val="solid"/>
          </a:ln>
        </p:spPr>
      </p:sp>
      <p:sp>
        <p:nvSpPr>
          <p:cNvPr id="28" name="Shape 26"/>
          <p:cNvSpPr/>
          <p:nvPr/>
        </p:nvSpPr>
        <p:spPr>
          <a:xfrm>
            <a:off x="274320" y="3931920"/>
            <a:ext cx="822960" cy="896112"/>
          </a:xfrm>
          <a:prstGeom prst="rect">
            <a:avLst/>
          </a:prstGeom>
          <a:solidFill>
            <a:srgbClr val="00B4C8"/>
          </a:solidFill>
          <a:ln w="12700">
            <a:solidFill>
              <a:srgbClr val="00B4C8"/>
            </a:solidFill>
            <a:prstDash val="solid"/>
          </a:ln>
        </p:spPr>
      </p:sp>
      <p:sp>
        <p:nvSpPr>
          <p:cNvPr id="29" name="Text 27"/>
          <p:cNvSpPr txBox="1"/>
          <p:nvPr/>
        </p:nvSpPr>
        <p:spPr>
          <a:xfrm>
            <a:off x="274320" y="3931920"/>
            <a:ext cx="822960" cy="896112"/>
          </a:xfrm>
          <a:prstGeom prst="rect">
            <a:avLst/>
          </a:prstGeom>
          <a:noFill/>
          <a:ln/>
        </p:spPr>
        <p:txBody>
          <a:bodyPr wrap="square" lIns="25400" tIns="25400" rIns="25400" bIns="25400" rtlCol="0" anchor="ctr"/>
          <a:lstStyle/>
          <a:p>
            <a:pPr algn="ctr" indent="0" marL="0">
              <a:buNone/>
            </a:pPr>
            <a:r>
              <a:rPr lang="en-US" sz="1000" b="1" dirty="0">
                <a:solidFill>
                  <a:srgbClr val="FFFFFF"/>
                </a:solidFill>
              </a:rPr>
              <a:t>Lab A4</a:t>
            </a:r>
            <a:endParaRPr lang="en-US" sz="1000" dirty="0"/>
          </a:p>
        </p:txBody>
      </p:sp>
      <p:sp>
        <p:nvSpPr>
          <p:cNvPr id="30" name="Text 28"/>
          <p:cNvSpPr txBox="1"/>
          <p:nvPr/>
        </p:nvSpPr>
        <p:spPr>
          <a:xfrm>
            <a:off x="1188720" y="3986784"/>
            <a:ext cx="2560320" cy="347472"/>
          </a:xfrm>
          <a:prstGeom prst="rect">
            <a:avLst/>
          </a:prstGeom>
          <a:noFill/>
          <a:ln/>
        </p:spPr>
        <p:txBody>
          <a:bodyPr wrap="square" lIns="0" tIns="0" rIns="0" bIns="0" rtlCol="0" anchor="ctr"/>
          <a:lstStyle/>
          <a:p>
            <a:pPr indent="0" marL="0">
              <a:buNone/>
            </a:pPr>
            <a:r>
              <a:rPr lang="en-US" sz="1200" b="1" dirty="0">
                <a:solidFill>
                  <a:srgbClr val="1A2744"/>
                </a:solidFill>
              </a:rPr>
              <a:t>CVSS Scoring Worksheet</a:t>
            </a:r>
            <a:endParaRPr lang="en-US" sz="1200" dirty="0"/>
          </a:p>
        </p:txBody>
      </p:sp>
      <p:sp>
        <p:nvSpPr>
          <p:cNvPr id="31" name="Text 29"/>
          <p:cNvSpPr txBox="1"/>
          <p:nvPr/>
        </p:nvSpPr>
        <p:spPr>
          <a:xfrm>
            <a:off x="1188720" y="4389120"/>
            <a:ext cx="5029200" cy="347472"/>
          </a:xfrm>
          <a:prstGeom prst="rect">
            <a:avLst/>
          </a:prstGeom>
          <a:noFill/>
          <a:ln/>
        </p:spPr>
        <p:txBody>
          <a:bodyPr wrap="square" lIns="0" tIns="0" rIns="0" bIns="0" rtlCol="0" anchor="ctr"/>
          <a:lstStyle/>
          <a:p>
            <a:pPr indent="0" marL="0">
              <a:buNone/>
            </a:pPr>
            <a:r>
              <a:rPr lang="en-US" sz="1000" dirty="0">
                <a:solidFill>
                  <a:srgbClr val="2C3E50"/>
                </a:solidFill>
              </a:rPr>
              <a:t>Score all six Syntex finding scenarios using the CVSS v3.1 calculator and compare to model answers</a:t>
            </a:r>
            <a:endParaRPr lang="en-US" sz="1000" dirty="0"/>
          </a:p>
        </p:txBody>
      </p:sp>
      <p:sp>
        <p:nvSpPr>
          <p:cNvPr id="32" name="Shape 30"/>
          <p:cNvSpPr/>
          <p:nvPr/>
        </p:nvSpPr>
        <p:spPr>
          <a:xfrm>
            <a:off x="6858000" y="4160520"/>
            <a:ext cx="1691640" cy="347472"/>
          </a:xfrm>
          <a:prstGeom prst="rect">
            <a:avLst/>
          </a:prstGeom>
          <a:solidFill>
            <a:srgbClr val="27AE60"/>
          </a:solidFill>
          <a:ln w="12700">
            <a:solidFill>
              <a:srgbClr val="27AE60"/>
            </a:solidFill>
            <a:prstDash val="solid"/>
          </a:ln>
        </p:spPr>
      </p:sp>
      <p:sp>
        <p:nvSpPr>
          <p:cNvPr id="33" name="Text 31"/>
          <p:cNvSpPr txBox="1"/>
          <p:nvPr/>
        </p:nvSpPr>
        <p:spPr>
          <a:xfrm>
            <a:off x="6858000" y="4160520"/>
            <a:ext cx="1691640" cy="347472"/>
          </a:xfrm>
          <a:prstGeom prst="rect">
            <a:avLst/>
          </a:prstGeom>
          <a:noFill/>
          <a:ln/>
        </p:spPr>
        <p:txBody>
          <a:bodyPr wrap="square" lIns="0" tIns="0" rIns="0" bIns="0" rtlCol="0" anchor="ctr"/>
          <a:lstStyle/>
          <a:p>
            <a:pPr algn="ctr" indent="0" marL="0">
              <a:buNone/>
            </a:pPr>
            <a:r>
              <a:rPr lang="en-US" sz="1000" b="1" dirty="0">
                <a:solidFill>
                  <a:srgbClr val="FFFFFF"/>
                </a:solidFill>
              </a:rPr>
              <a:t>Available</a:t>
            </a:r>
            <a:endParaRPr lang="en-US" sz="1000" dirty="0"/>
          </a:p>
        </p:txBody>
      </p:sp>
      <p:sp>
        <p:nvSpPr>
          <p:cNvPr id="34" name="Text 32"/>
          <p:cNvSpPr txBox="1"/>
          <p:nvPr/>
        </p:nvSpPr>
        <p:spPr>
          <a:xfrm>
            <a:off x="0" y="4892040"/>
            <a:ext cx="9144000" cy="256032"/>
          </a:xfrm>
          <a:prstGeom prst="rect">
            <a:avLst/>
          </a:prstGeom>
          <a:noFill/>
          <a:ln/>
        </p:spPr>
        <p:txBody>
          <a:bodyPr wrap="square" lIns="0" tIns="0" rIns="0" bIns="0" rtlCol="0" anchor="ctr"/>
          <a:lstStyle/>
          <a:p>
            <a:pPr algn="ctr" indent="0" marL="0">
              <a:buNone/>
            </a:pPr>
            <a:r>
              <a:rPr lang="en-US" sz="900" dirty="0">
                <a:solidFill>
                  <a:srgbClr val="7F8C8D"/>
                </a:solidFill>
              </a:rPr>
              <a:t>My Cyber Academy | MCA CREST CPSA - Module A: Soft Skills</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A2744"/>
          </a:solidFill>
          <a:ln w="12700">
            <a:solidFill>
              <a:srgbClr val="1A2744"/>
            </a:solidFill>
            <a:prstDash val="solid"/>
          </a:ln>
        </p:spPr>
      </p:sp>
      <p:sp>
        <p:nvSpPr>
          <p:cNvPr id="3" name="Shape 1"/>
          <p:cNvSpPr/>
          <p:nvPr/>
        </p:nvSpPr>
        <p:spPr>
          <a:xfrm>
            <a:off x="0" y="0"/>
            <a:ext cx="228600" cy="5143500"/>
          </a:xfrm>
          <a:prstGeom prst="rect">
            <a:avLst/>
          </a:prstGeom>
          <a:solidFill>
            <a:srgbClr val="00B4C8"/>
          </a:solidFill>
          <a:ln w="12700">
            <a:solidFill>
              <a:srgbClr val="00B4C8"/>
            </a:solidFill>
            <a:prstDash val="solid"/>
          </a:ln>
        </p:spPr>
      </p:sp>
      <p:sp>
        <p:nvSpPr>
          <p:cNvPr id="4" name="Text 2"/>
          <p:cNvSpPr txBox="1"/>
          <p:nvPr/>
        </p:nvSpPr>
        <p:spPr>
          <a:xfrm>
            <a:off x="548640" y="1371600"/>
            <a:ext cx="8229600" cy="731520"/>
          </a:xfrm>
          <a:prstGeom prst="rect">
            <a:avLst/>
          </a:prstGeom>
          <a:noFill/>
          <a:ln/>
        </p:spPr>
        <p:txBody>
          <a:bodyPr wrap="square" lIns="0" tIns="0" rIns="0" bIns="0" rtlCol="0" anchor="ctr"/>
          <a:lstStyle/>
          <a:p>
            <a:pPr algn="l" indent="0" marL="0">
              <a:buNone/>
            </a:pPr>
            <a:r>
              <a:rPr lang="en-US" sz="4200" b="1" dirty="0">
                <a:solidFill>
                  <a:srgbClr val="FFFFFF"/>
                </a:solidFill>
              </a:rPr>
              <a:t>Module A Complete</a:t>
            </a:r>
            <a:endParaRPr lang="en-US" sz="4200" dirty="0"/>
          </a:p>
        </p:txBody>
      </p:sp>
      <p:sp>
        <p:nvSpPr>
          <p:cNvPr id="5" name="Text 3"/>
          <p:cNvSpPr txBox="1"/>
          <p:nvPr/>
        </p:nvSpPr>
        <p:spPr>
          <a:xfrm>
            <a:off x="548640" y="2194560"/>
            <a:ext cx="8229600" cy="457200"/>
          </a:xfrm>
          <a:prstGeom prst="rect">
            <a:avLst/>
          </a:prstGeom>
          <a:noFill/>
          <a:ln/>
        </p:spPr>
        <p:txBody>
          <a:bodyPr wrap="square" lIns="0" tIns="0" rIns="0" bIns="0" rtlCol="0" anchor="ctr"/>
          <a:lstStyle/>
          <a:p>
            <a:pPr algn="l" indent="0" marL="0">
              <a:buNone/>
            </a:pPr>
            <a:r>
              <a:rPr lang="en-US" sz="2200" dirty="0">
                <a:solidFill>
                  <a:srgbClr val="00B4C8"/>
                </a:solidFill>
              </a:rPr>
              <a:t>Next: Module B - Core Technical Skills</a:t>
            </a:r>
            <a:endParaRPr lang="en-US" sz="2200" dirty="0"/>
          </a:p>
        </p:txBody>
      </p:sp>
      <p:sp>
        <p:nvSpPr>
          <p:cNvPr id="6" name="Text 4"/>
          <p:cNvSpPr txBox="1"/>
          <p:nvPr/>
        </p:nvSpPr>
        <p:spPr>
          <a:xfrm>
            <a:off x="548640" y="2788920"/>
            <a:ext cx="8229600" cy="1645920"/>
          </a:xfrm>
          <a:prstGeom prst="rect">
            <a:avLst/>
          </a:prstGeom>
          <a:noFill/>
          <a:ln/>
        </p:spPr>
        <p:txBody>
          <a:bodyPr wrap="square" lIns="0" tIns="50800" rIns="0" bIns="0" rtlCol="0" anchor="t"/>
          <a:lstStyle/>
          <a:p>
            <a:pPr algn="l">
              <a:spcAft>
                <a:spcPts val="600"/>
              </a:spcAft>
            </a:pPr>
            <a:r>
              <a:rPr lang="en-US" sz="1400" dirty="0">
                <a:solidFill>
                  <a:srgbClr val="A0BAD4"/>
                </a:solidFill>
              </a:rPr>
              <a:t>Complete all four Module A labs on the course platform</a:t>
            </a:r>
            <a:endParaRPr lang="en-US" sz="1400" dirty="0"/>
          </a:p>
          <a:p>
            <a:pPr algn="l">
              <a:spcAft>
                <a:spcPts val="600"/>
              </a:spcAft>
            </a:pPr>
            <a:r>
              <a:rPr lang="en-US" sz="1400" dirty="0">
                <a:solidFill>
                  <a:srgbClr val="A0BAD4"/>
                </a:solidFill>
              </a:rPr>
              <a:t>Submit your student report template for review</a:t>
            </a:r>
            <a:endParaRPr lang="en-US" sz="1400" dirty="0"/>
          </a:p>
          <a:p>
            <a:pPr algn="l">
              <a:spcAft>
                <a:spcPts val="600"/>
              </a:spcAft>
            </a:pPr>
            <a:r>
              <a:rPr lang="en-US" sz="1400" dirty="0">
                <a:solidFill>
                  <a:srgbClr val="A0BAD4"/>
                </a:solidFill>
              </a:rPr>
              <a:t>Pass the Module A knowledge check quiz (70% required)</a:t>
            </a:r>
            <a:endParaRPr lang="en-US" sz="1400" dirty="0"/>
          </a:p>
          <a:p>
            <a:pPr algn="l">
              <a:spcAft>
                <a:spcPts val="600"/>
              </a:spcAft>
            </a:pPr>
            <a:r>
              <a:rPr lang="en-US" sz="1400" dirty="0">
                <a:solidFill>
                  <a:srgbClr val="A0BAD4"/>
                </a:solidFill>
              </a:rPr>
              <a:t>Module B covers: TCP/IP, OSI model, network protocols, Wireshark</a:t>
            </a:r>
            <a:endParaRPr lang="en-US" sz="1400" dirty="0"/>
          </a:p>
        </p:txBody>
      </p:sp>
      <p:sp>
        <p:nvSpPr>
          <p:cNvPr id="7" name="Text 5"/>
          <p:cNvSpPr txBox="1"/>
          <p:nvPr/>
        </p:nvSpPr>
        <p:spPr>
          <a:xfrm>
            <a:off x="0" y="4892040"/>
            <a:ext cx="9144000" cy="256032"/>
          </a:xfrm>
          <a:prstGeom prst="rect">
            <a:avLst/>
          </a:prstGeom>
          <a:noFill/>
          <a:ln/>
        </p:spPr>
        <p:txBody>
          <a:bodyPr wrap="square" lIns="0" tIns="0" rIns="0" bIns="0" rtlCol="0" anchor="ctr"/>
          <a:lstStyle/>
          <a:p>
            <a:pPr algn="ctr" indent="0" marL="0">
              <a:buNone/>
            </a:pPr>
            <a:r>
              <a:rPr lang="en-US" sz="900" dirty="0">
                <a:solidFill>
                  <a:srgbClr val="5A7FAA"/>
                </a:solidFill>
              </a:rPr>
              <a:t>My Cyber Academy | MCA CREST CPSA - Module A: Soft Skills</a:t>
            </a:r>
            <a:endParaRPr lang="en-US" sz="900" dirty="0"/>
          </a:p>
        </p:txBody>
      </p:sp>
    </p:spTree>
  </p:cSld>
  <p:clrMapOvr>
    <a:masterClrMapping/>
  </p:clrMapOvr>
</p:sld>
</file>

<file path=ppt/theme/theme1.xml><?xml version="1.0" encoding="utf-8"?>
<a:theme xmlns:a="http://schemas.openxmlformats.org/drawingml/2006/main" name="MCA CPSA">
  <a:themeElements>
    <a:clrScheme name="MCA CPSA">
      <a:dk1>
        <a:srgbClr val="1A2744"/>
      </a:dk1>
      <a:lt1>
        <a:srgbClr val="FFFFFF"/>
      </a:lt1>
      <a:dk2>
        <a:srgbClr val="0D3B5E"/>
      </a:dk2>
      <a:lt2>
        <a:srgbClr val="EEF4FB"/>
      </a:lt2>
      <a:accent1>
        <a:srgbClr val="00B4C8"/>
      </a:accent1>
      <a:accent2>
        <a:srgbClr val="E8A020"/>
      </a:accent2>
      <a:accent3>
        <a:srgbClr val="C0392B"/>
      </a:accent3>
      <a:accent4>
        <a:srgbClr val="27AE60"/>
      </a:accent4>
      <a:accent5>
        <a:srgbClr val="7F8C8D"/>
      </a:accent5>
      <a:accent6>
        <a:srgbClr val="2C3E50"/>
      </a:accent6>
      <a:hlink>
        <a:srgbClr val="0066CC"/>
      </a:hlink>
      <a:folHlink>
        <a:srgbClr val="5B2C6F"/>
      </a:folHlink>
    </a:clrScheme>
    <a:fontScheme name="MCA CPS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My Cyber Academy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CPSA Resolution - Module A: Soft Skills</dc:title>
  <dc:subject>CPSA Module A - Soft Skills</dc:subject>
  <dc:creator>My Cyber Academy</dc:creator>
  <cp:lastModifiedBy>My Cyber Academy</cp:lastModifiedBy>
  <cp:revision>1</cp:revision>
  <dcterms:created xsi:type="dcterms:W3CDTF">2026-10-17T22:28:28Z</dcterms:created>
  <dcterms:modified xsi:type="dcterms:W3CDTF">2026-10-17T22:28:28Z</dcterms:modified>
</cp:coreProperties>
</file>